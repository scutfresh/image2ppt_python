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61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8"/>
        <p:guide pos="28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Picture 28" descr="background_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pic>
        <p:nvPicPr>
          <p:cNvPr id="30" name="Picture 29" descr="central_glow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443" y="3208585"/>
            <a:ext cx="6358348" cy="2916673"/>
          </a:xfrm>
          <a:prstGeom prst="rect">
            <a:avLst/>
          </a:prstGeom>
        </p:spPr>
      </p:pic>
      <p:cxnSp>
        <p:nvCxnSpPr>
          <p:cNvPr id="3" name="Timeline Line"/>
          <p:cNvCxnSpPr/>
          <p:nvPr/>
        </p:nvCxnSpPr>
        <p:spPr>
          <a:xfrm>
            <a:off x="1020835" y="1239586"/>
            <a:ext cx="10150024" cy="14583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Bottom Path Line"/>
          <p:cNvCxnSpPr/>
          <p:nvPr/>
        </p:nvCxnSpPr>
        <p:spPr>
          <a:xfrm>
            <a:off x="1093752" y="6125014"/>
            <a:ext cx="8385436" cy="14583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meline Node 1"/>
          <p:cNvSpPr/>
          <p:nvPr/>
        </p:nvSpPr>
        <p:spPr>
          <a:xfrm>
            <a:off x="80177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Node 2"/>
          <p:cNvSpPr/>
          <p:nvPr/>
        </p:nvSpPr>
        <p:spPr>
          <a:xfrm>
            <a:off x="211480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Node 3"/>
          <p:cNvSpPr/>
          <p:nvPr/>
        </p:nvSpPr>
        <p:spPr>
          <a:xfrm>
            <a:off x="350022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Node 4"/>
          <p:cNvSpPr/>
          <p:nvPr/>
        </p:nvSpPr>
        <p:spPr>
          <a:xfrm>
            <a:off x="473959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Node 5"/>
          <p:cNvSpPr/>
          <p:nvPr/>
        </p:nvSpPr>
        <p:spPr>
          <a:xfrm>
            <a:off x="6270429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Node 6"/>
          <p:cNvSpPr/>
          <p:nvPr/>
        </p:nvSpPr>
        <p:spPr>
          <a:xfrm>
            <a:off x="7656484" y="1094387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Node 7"/>
          <p:cNvSpPr/>
          <p:nvPr/>
        </p:nvSpPr>
        <p:spPr>
          <a:xfrm>
            <a:off x="904190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Node 8"/>
          <p:cNvSpPr/>
          <p:nvPr/>
        </p:nvSpPr>
        <p:spPr>
          <a:xfrm>
            <a:off x="10427324" y="1093752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Box 1"/>
          <p:cNvSpPr/>
          <p:nvPr/>
        </p:nvSpPr>
        <p:spPr>
          <a:xfrm>
            <a:off x="21875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meline Box 2"/>
          <p:cNvSpPr/>
          <p:nvPr/>
        </p:nvSpPr>
        <p:spPr>
          <a:xfrm>
            <a:off x="160417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line Box 3"/>
          <p:cNvSpPr/>
          <p:nvPr/>
        </p:nvSpPr>
        <p:spPr>
          <a:xfrm>
            <a:off x="298959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line Box 4"/>
          <p:cNvSpPr/>
          <p:nvPr/>
        </p:nvSpPr>
        <p:spPr>
          <a:xfrm>
            <a:off x="437501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meline Box 5"/>
          <p:cNvSpPr/>
          <p:nvPr/>
        </p:nvSpPr>
        <p:spPr>
          <a:xfrm>
            <a:off x="576043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meline Box 6"/>
          <p:cNvSpPr/>
          <p:nvPr/>
        </p:nvSpPr>
        <p:spPr>
          <a:xfrm>
            <a:off x="7145850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meline Box 7"/>
          <p:cNvSpPr/>
          <p:nvPr/>
        </p:nvSpPr>
        <p:spPr>
          <a:xfrm>
            <a:off x="8531269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meline Box 8"/>
          <p:cNvSpPr/>
          <p:nvPr/>
        </p:nvSpPr>
        <p:spPr>
          <a:xfrm>
            <a:off x="9916689" y="1385419"/>
            <a:ext cx="1312503" cy="204167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entral Ring 1"/>
          <p:cNvSpPr/>
          <p:nvPr/>
        </p:nvSpPr>
        <p:spPr>
          <a:xfrm>
            <a:off x="2989309" y="3500144"/>
            <a:ext cx="5833346" cy="2187505"/>
          </a:xfrm>
          <a:prstGeom prst="ellipse">
            <a:avLst/>
          </a:prstGeom>
          <a:noFill/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entral Ring 2"/>
          <p:cNvSpPr/>
          <p:nvPr/>
        </p:nvSpPr>
        <p:spPr>
          <a:xfrm>
            <a:off x="3718477" y="3937753"/>
            <a:ext cx="4375010" cy="1458336"/>
          </a:xfrm>
          <a:prstGeom prst="ellipse">
            <a:avLst/>
          </a:prstGeom>
          <a:noFill/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entral Ring 3"/>
          <p:cNvSpPr/>
          <p:nvPr/>
        </p:nvSpPr>
        <p:spPr>
          <a:xfrm>
            <a:off x="4521305" y="4375362"/>
            <a:ext cx="2916673" cy="729168"/>
          </a:xfrm>
          <a:prstGeom prst="ellipse">
            <a:avLst/>
          </a:prstGeom>
          <a:noFill/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ide Module Box 1"/>
          <p:cNvSpPr/>
          <p:nvPr/>
        </p:nvSpPr>
        <p:spPr>
          <a:xfrm>
            <a:off x="218750" y="3791675"/>
            <a:ext cx="1312503" cy="43750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ide Module Box 2"/>
          <p:cNvSpPr/>
          <p:nvPr/>
        </p:nvSpPr>
        <p:spPr>
          <a:xfrm>
            <a:off x="218750" y="4375010"/>
            <a:ext cx="1312503" cy="43750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ide Module Box 3"/>
          <p:cNvSpPr/>
          <p:nvPr/>
        </p:nvSpPr>
        <p:spPr>
          <a:xfrm>
            <a:off x="10645858" y="3791675"/>
            <a:ext cx="1312503" cy="43750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ide Module Box 4"/>
          <p:cNvSpPr/>
          <p:nvPr/>
        </p:nvSpPr>
        <p:spPr>
          <a:xfrm>
            <a:off x="10645858" y="4375010"/>
            <a:ext cx="1312503" cy="437501"/>
          </a:xfrm>
          <a:prstGeom prst="roundRect">
            <a:avLst/>
          </a:prstGeom>
          <a:solidFill>
            <a:srgbClr val="0A1930"/>
          </a:solidFill>
          <a:ln w="7291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Bottom Path Arrow"/>
          <p:cNvCxnSpPr/>
          <p:nvPr/>
        </p:nvCxnSpPr>
        <p:spPr>
          <a:xfrm>
            <a:off x="9479188" y="6125014"/>
            <a:ext cx="2187505" cy="14583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plug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34" y="2041671"/>
            <a:ext cx="583334" cy="583334"/>
          </a:xfrm>
          <a:prstGeom prst="rect">
            <a:avLst/>
          </a:prstGeom>
        </p:spPr>
      </p:pic>
      <p:pic>
        <p:nvPicPr>
          <p:cNvPr id="32" name="Picture 31" descr="server_stack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754" y="2041671"/>
            <a:ext cx="583334" cy="583334"/>
          </a:xfrm>
          <a:prstGeom prst="rect">
            <a:avLst/>
          </a:prstGeom>
        </p:spPr>
      </p:pic>
      <p:pic>
        <p:nvPicPr>
          <p:cNvPr id="33" name="Picture 32" descr="transformer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174" y="2041671"/>
            <a:ext cx="583334" cy="583334"/>
          </a:xfrm>
          <a:prstGeom prst="rect">
            <a:avLst/>
          </a:prstGeom>
        </p:spPr>
      </p:pic>
      <p:pic>
        <p:nvPicPr>
          <p:cNvPr id="34" name="Picture 33" descr="network_graph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9594" y="2041671"/>
            <a:ext cx="583334" cy="583334"/>
          </a:xfrm>
          <a:prstGeom prst="rect">
            <a:avLst/>
          </a:prstGeom>
        </p:spPr>
      </p:pic>
      <p:pic>
        <p:nvPicPr>
          <p:cNvPr id="35" name="Picture 34" descr="brain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5014" y="2041671"/>
            <a:ext cx="583334" cy="583334"/>
          </a:xfrm>
          <a:prstGeom prst="rect">
            <a:avLst/>
          </a:prstGeom>
        </p:spPr>
      </p:pic>
      <p:pic>
        <p:nvPicPr>
          <p:cNvPr id="36" name="Picture 35" descr="blueprint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0434" y="2041671"/>
            <a:ext cx="583334" cy="583334"/>
          </a:xfrm>
          <a:prstGeom prst="rect">
            <a:avLst/>
          </a:prstGeom>
        </p:spPr>
      </p:pic>
      <p:pic>
        <p:nvPicPr>
          <p:cNvPr id="37" name="Picture 36" descr="molecule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5854" y="2041671"/>
            <a:ext cx="583334" cy="583334"/>
          </a:xfrm>
          <a:prstGeom prst="rect">
            <a:avLst/>
          </a:prstGeom>
        </p:spPr>
      </p:pic>
      <p:pic>
        <p:nvPicPr>
          <p:cNvPr id="38" name="Picture 37" descr="globe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1274" y="2041671"/>
            <a:ext cx="583334" cy="583334"/>
          </a:xfrm>
          <a:prstGeom prst="rect">
            <a:avLst/>
          </a:prstGeom>
        </p:spPr>
      </p:pic>
      <p:pic>
        <p:nvPicPr>
          <p:cNvPr id="39" name="Picture 38" descr="people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667" y="3864592"/>
            <a:ext cx="291667" cy="291667"/>
          </a:xfrm>
          <a:prstGeom prst="rect">
            <a:avLst/>
          </a:prstGeom>
        </p:spPr>
      </p:pic>
      <p:pic>
        <p:nvPicPr>
          <p:cNvPr id="40" name="Picture 39" descr="cube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667" y="4447927"/>
            <a:ext cx="291667" cy="291667"/>
          </a:xfrm>
          <a:prstGeom prst="rect">
            <a:avLst/>
          </a:prstGeom>
        </p:spPr>
      </p:pic>
      <p:pic>
        <p:nvPicPr>
          <p:cNvPr id="41" name="Picture 40" descr="book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91691" y="3864592"/>
            <a:ext cx="291667" cy="291667"/>
          </a:xfrm>
          <a:prstGeom prst="rect">
            <a:avLst/>
          </a:prstGeom>
        </p:spPr>
      </p:pic>
      <p:pic>
        <p:nvPicPr>
          <p:cNvPr id="42" name="Picture 41" descr="wrench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1691" y="4447927"/>
            <a:ext cx="291667" cy="291667"/>
          </a:xfrm>
          <a:prstGeom prst="rect">
            <a:avLst/>
          </a:prstGeom>
        </p:spPr>
      </p:pic>
      <p:pic>
        <p:nvPicPr>
          <p:cNvPr id="43" name="Picture 42" descr="arrow_ic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2503" y="5833346"/>
            <a:ext cx="291667" cy="291667"/>
          </a:xfrm>
          <a:prstGeom prst="rect">
            <a:avLst/>
          </a:prstGeom>
        </p:spPr>
      </p:pic>
      <p:pic>
        <p:nvPicPr>
          <p:cNvPr id="44" name="Picture 43" descr="chart_ic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06255" y="5833346"/>
            <a:ext cx="291667" cy="291667"/>
          </a:xfrm>
          <a:prstGeom prst="rect">
            <a:avLst/>
          </a:prstGeom>
        </p:spPr>
      </p:pic>
      <p:pic>
        <p:nvPicPr>
          <p:cNvPr id="45" name="Picture 44" descr="transformer_bottom_ic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0008" y="5833346"/>
            <a:ext cx="291667" cy="291667"/>
          </a:xfrm>
          <a:prstGeom prst="rect">
            <a:avLst/>
          </a:prstGeom>
        </p:spPr>
      </p:pic>
      <p:pic>
        <p:nvPicPr>
          <p:cNvPr id="46" name="Picture 45" descr="network_bottom_ic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3760" y="5833346"/>
            <a:ext cx="291667" cy="291667"/>
          </a:xfrm>
          <a:prstGeom prst="rect">
            <a:avLst/>
          </a:prstGeom>
        </p:spPr>
      </p:pic>
      <p:pic>
        <p:nvPicPr>
          <p:cNvPr id="47" name="Picture 46" descr="brain_bottom_ic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7513" y="5833346"/>
            <a:ext cx="291667" cy="291667"/>
          </a:xfrm>
          <a:prstGeom prst="rect">
            <a:avLst/>
          </a:prstGeom>
        </p:spPr>
      </p:pic>
      <p:pic>
        <p:nvPicPr>
          <p:cNvPr id="48" name="Picture 47" descr="blueprint_bottom_ic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81265" y="5833346"/>
            <a:ext cx="291667" cy="291667"/>
          </a:xfrm>
          <a:prstGeom prst="rect">
            <a:avLst/>
          </a:prstGeom>
        </p:spPr>
      </p:pic>
      <p:pic>
        <p:nvPicPr>
          <p:cNvPr id="49" name="Picture 48" descr="molecule_bottom_ic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75018" y="5833346"/>
            <a:ext cx="291667" cy="291667"/>
          </a:xfrm>
          <a:prstGeom prst="rect">
            <a:avLst/>
          </a:prstGeom>
        </p:spPr>
      </p:pic>
      <p:pic>
        <p:nvPicPr>
          <p:cNvPr id="50" name="Picture 49" descr="globe_bottom_ic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8770" y="5833346"/>
            <a:ext cx="291667" cy="291667"/>
          </a:xfrm>
          <a:prstGeom prst="rect">
            <a:avLst/>
          </a:prstGeom>
        </p:spPr>
      </p:pic>
      <p:sp>
        <p:nvSpPr>
          <p:cNvPr id="51" name="titles"/>
          <p:cNvSpPr txBox="1"/>
          <p:nvPr/>
        </p:nvSpPr>
        <p:spPr>
          <a:xfrm>
            <a:off x="3645841" y="218750"/>
            <a:ext cx="4900011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"大瓦特"演进路线图</a:t>
            </a:r>
            <a:endParaRPr sz="275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itles"/>
          <p:cNvSpPr txBox="1"/>
          <p:nvPr/>
        </p:nvSpPr>
        <p:spPr>
          <a:xfrm>
            <a:off x="4739594" y="729168"/>
            <a:ext cx="2712506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5" b="1" i="0">
                <a:solidFill>
                  <a:srgbClr val="FFA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路标与核心亮点</a:t>
            </a:r>
            <a:endParaRPr sz="1835" b="1" i="0">
              <a:solidFill>
                <a:srgbClr val="FFA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itles"/>
          <p:cNvSpPr txBox="1"/>
          <p:nvPr/>
        </p:nvSpPr>
        <p:spPr>
          <a:xfrm>
            <a:off x="4375010" y="1057294"/>
            <a:ext cx="3441674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从多模态服务化迈向电力世界模型</a:t>
            </a:r>
            <a:endParaRPr sz="1035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body_text"/>
          <p:cNvSpPr txBox="1"/>
          <p:nvPr/>
        </p:nvSpPr>
        <p:spPr>
          <a:xfrm>
            <a:off x="802193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body_text"/>
          <p:cNvSpPr txBox="1"/>
          <p:nvPr/>
        </p:nvSpPr>
        <p:spPr>
          <a:xfrm>
            <a:off x="2114588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body_text"/>
          <p:cNvSpPr txBox="1"/>
          <p:nvPr/>
        </p:nvSpPr>
        <p:spPr>
          <a:xfrm>
            <a:off x="3500008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body_text"/>
          <p:cNvSpPr txBox="1"/>
          <p:nvPr/>
        </p:nvSpPr>
        <p:spPr>
          <a:xfrm>
            <a:off x="4885428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body_text"/>
          <p:cNvSpPr txBox="1"/>
          <p:nvPr/>
        </p:nvSpPr>
        <p:spPr>
          <a:xfrm>
            <a:off x="6270848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body_text"/>
          <p:cNvSpPr txBox="1"/>
          <p:nvPr/>
        </p:nvSpPr>
        <p:spPr>
          <a:xfrm>
            <a:off x="7656267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body_text"/>
          <p:cNvSpPr txBox="1"/>
          <p:nvPr/>
        </p:nvSpPr>
        <p:spPr>
          <a:xfrm>
            <a:off x="9041687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body_text"/>
          <p:cNvSpPr txBox="1"/>
          <p:nvPr/>
        </p:nvSpPr>
        <p:spPr>
          <a:xfrm>
            <a:off x="10427107" y="1093752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body_text"/>
          <p:cNvSpPr txBox="1"/>
          <p:nvPr/>
        </p:nvSpPr>
        <p:spPr>
          <a:xfrm>
            <a:off x="21875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2025.05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body_text"/>
          <p:cNvSpPr txBox="1"/>
          <p:nvPr/>
        </p:nvSpPr>
        <p:spPr>
          <a:xfrm>
            <a:off x="21875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多模态服务化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body_text"/>
          <p:cNvSpPr txBox="1"/>
          <p:nvPr/>
        </p:nvSpPr>
        <p:spPr>
          <a:xfrm>
            <a:off x="21875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建成南网首个,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电力多模态能力入口,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成功适配国产算力,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实现全自主安全可控。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body_text"/>
          <p:cNvSpPr txBox="1"/>
          <p:nvPr/>
        </p:nvSpPr>
        <p:spPr>
          <a:xfrm>
            <a:off x="160417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2025.12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body_text"/>
          <p:cNvSpPr txBox="1"/>
          <p:nvPr/>
        </p:nvSpPr>
        <p:spPr>
          <a:xfrm>
            <a:off x="160417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能力规模化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body_text"/>
          <p:cNvSpPr txBox="1"/>
          <p:nvPr/>
        </p:nvSpPr>
        <p:spPr>
          <a:xfrm>
            <a:off x="160417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底座全面迭代升级,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正式备千亿级参数量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规模模型能力。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body_text"/>
          <p:cNvSpPr txBox="1"/>
          <p:nvPr/>
        </p:nvSpPr>
        <p:spPr>
          <a:xfrm>
            <a:off x="298959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2026.04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body_text"/>
          <p:cNvSpPr txBox="1"/>
          <p:nvPr/>
        </p:nvSpPr>
        <p:spPr>
          <a:xfrm>
            <a:off x="298959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行业专业化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body_text"/>
          <p:cNvSpPr txBox="1"/>
          <p:nvPr/>
        </p:nvSpPr>
        <p:spPr>
          <a:xfrm>
            <a:off x="298959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完成72B行业微调模型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全面升级, 强化电力专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业能力, 高效流转典型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body_text"/>
          <p:cNvSpPr txBox="1"/>
          <p:nvPr/>
        </p:nvSpPr>
        <p:spPr>
          <a:xfrm>
            <a:off x="437501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body_text"/>
          <p:cNvSpPr txBox="1"/>
          <p:nvPr/>
        </p:nvSpPr>
        <p:spPr>
          <a:xfrm>
            <a:off x="437501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架构协同化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body_text"/>
          <p:cNvSpPr txBox="1"/>
          <p:nvPr/>
        </p:nvSpPr>
        <p:spPr>
          <a:xfrm>
            <a:off x="437501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 MoE 架构微调模型,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实现专家协同、任务分流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和多业务域协同, 按需调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用用专业能力。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body_text"/>
          <p:cNvSpPr txBox="1"/>
          <p:nvPr/>
        </p:nvSpPr>
        <p:spPr>
          <a:xfrm>
            <a:off x="576043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2.2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2026.08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body_text"/>
          <p:cNvSpPr txBox="1"/>
          <p:nvPr/>
        </p:nvSpPr>
        <p:spPr>
          <a:xfrm>
            <a:off x="576043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推理原生化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body_text"/>
          <p:cNvSpPr txBox="1"/>
          <p:nvPr/>
        </p:nvSpPr>
        <p:spPr>
          <a:xfrm>
            <a:off x="576043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引入强化学习与慢思考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机制, 增强逻辑推理、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知识增强和工具调用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body_text"/>
          <p:cNvSpPr txBox="1"/>
          <p:nvPr/>
        </p:nvSpPr>
        <p:spPr>
          <a:xfrm>
            <a:off x="7145850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body_text"/>
          <p:cNvSpPr txBox="1"/>
          <p:nvPr/>
        </p:nvSpPr>
        <p:spPr>
          <a:xfrm>
            <a:off x="7145850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工业图纸化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body_text"/>
          <p:cNvSpPr txBox="1"/>
          <p:nvPr/>
        </p:nvSpPr>
        <p:spPr>
          <a:xfrm>
            <a:off x="7145850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行业首发电力多模态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工业图纸模型, 具备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图纸解析、规则校核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和辅助设计能力。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body_text"/>
          <p:cNvSpPr txBox="1"/>
          <p:nvPr/>
        </p:nvSpPr>
        <p:spPr>
          <a:xfrm>
            <a:off x="8531269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3.1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2027.04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body_text"/>
          <p:cNvSpPr txBox="1"/>
          <p:nvPr/>
        </p:nvSpPr>
        <p:spPr>
          <a:xfrm>
            <a:off x="8531269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拓扑认知化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body_text"/>
          <p:cNvSpPr txBox="1"/>
          <p:nvPr/>
        </p:nvSpPr>
        <p:spPr>
          <a:xfrm>
            <a:off x="8531269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融合多源数据, 构建 "图像—设备—空间—拓扑" 联合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推理能力, 形成电力行业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结构化认知壁垒。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body_text"/>
          <p:cNvSpPr txBox="1"/>
          <p:nvPr/>
        </p:nvSpPr>
        <p:spPr>
          <a:xfrm>
            <a:off x="9916689" y="1385419"/>
            <a:ext cx="131250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4.0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2027.12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body_text"/>
          <p:cNvSpPr txBox="1"/>
          <p:nvPr/>
        </p:nvSpPr>
        <p:spPr>
          <a:xfrm>
            <a:off x="9916689" y="1750004"/>
            <a:ext cx="131250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定位: 世界模型化</a:t>
            </a:r>
            <a:endParaRPr sz="805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body_text"/>
          <p:cNvSpPr txBox="1"/>
          <p:nvPr/>
        </p:nvSpPr>
        <p:spPr>
          <a:xfrm>
            <a:off x="9916689" y="2770839"/>
            <a:ext cx="1312503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亮点: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发布电力多模态世界模型,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实现物理仿真与智能推演、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从理解现场迈向推演现场、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辅助决策。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body_text"/>
          <p:cNvSpPr txBox="1"/>
          <p:nvPr/>
        </p:nvSpPr>
        <p:spPr>
          <a:xfrm>
            <a:off x="5468762" y="3500008"/>
            <a:ext cx="1254169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统一服务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body_text"/>
          <p:cNvSpPr txBox="1"/>
          <p:nvPr/>
        </p:nvSpPr>
        <p:spPr>
          <a:xfrm>
            <a:off x="4739594" y="3791675"/>
            <a:ext cx="2712506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电力专业多模态能力引擎</a:t>
            </a:r>
            <a:endParaRPr sz="13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body_text"/>
          <p:cNvSpPr txBox="1"/>
          <p:nvPr/>
        </p:nvSpPr>
        <p:spPr>
          <a:xfrm>
            <a:off x="4010426" y="4229176"/>
            <a:ext cx="109375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统一业务底座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业务驱动 · 场景普惠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body_text"/>
          <p:cNvSpPr txBox="1"/>
          <p:nvPr/>
        </p:nvSpPr>
        <p:spPr>
          <a:xfrm>
            <a:off x="5468762" y="4229176"/>
            <a:ext cx="109375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数据融合 · 知识增强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body_text"/>
          <p:cNvSpPr txBox="1"/>
          <p:nvPr/>
        </p:nvSpPr>
        <p:spPr>
          <a:xfrm>
            <a:off x="6927099" y="4229176"/>
            <a:ext cx="109375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统一技术底座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算法领先 · 工程可靠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body_text"/>
          <p:cNvSpPr txBox="1"/>
          <p:nvPr/>
        </p:nvSpPr>
        <p:spPr>
          <a:xfrm>
            <a:off x="4739594" y="4739594"/>
            <a:ext cx="2712506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全域数据融合与知识沉淀</a:t>
            </a:r>
            <a:endParaRPr sz="92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body_text"/>
          <p:cNvSpPr txBox="1"/>
          <p:nvPr/>
        </p:nvSpPr>
        <p:spPr>
          <a:xfrm>
            <a:off x="3281257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电网生产域</a:t>
            </a:r>
            <a:endParaRPr sz="69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body_text"/>
          <p:cNvSpPr txBox="1"/>
          <p:nvPr/>
        </p:nvSpPr>
        <p:spPr>
          <a:xfrm>
            <a:off x="4375010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设备资产域</a:t>
            </a:r>
            <a:endParaRPr sz="69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body_text"/>
          <p:cNvSpPr txBox="1"/>
          <p:nvPr/>
        </p:nvSpPr>
        <p:spPr>
          <a:xfrm>
            <a:off x="5468762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营销服务域</a:t>
            </a:r>
            <a:endParaRPr sz="69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body_text"/>
          <p:cNvSpPr txBox="1"/>
          <p:nvPr/>
        </p:nvSpPr>
        <p:spPr>
          <a:xfrm>
            <a:off x="6562515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安全管理域</a:t>
            </a:r>
            <a:endParaRPr sz="69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body_text"/>
          <p:cNvSpPr txBox="1"/>
          <p:nvPr/>
        </p:nvSpPr>
        <p:spPr>
          <a:xfrm>
            <a:off x="7656267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0C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外部环境域</a:t>
            </a:r>
            <a:endParaRPr sz="690" b="0" i="0">
              <a:solidFill>
                <a:srgbClr val="A0C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body_text"/>
          <p:cNvSpPr txBox="1"/>
          <p:nvPr/>
        </p:nvSpPr>
        <p:spPr>
          <a:xfrm>
            <a:off x="218750" y="3791675"/>
            <a:ext cx="1312503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多业务域协同赋能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body_text"/>
          <p:cNvSpPr txBox="1"/>
          <p:nvPr/>
        </p:nvSpPr>
        <p:spPr>
          <a:xfrm>
            <a:off x="218750" y="4375010"/>
            <a:ext cx="1312503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多模态模型协同演进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body_text"/>
          <p:cNvSpPr txBox="1"/>
          <p:nvPr/>
        </p:nvSpPr>
        <p:spPr>
          <a:xfrm>
            <a:off x="10645858" y="3791675"/>
            <a:ext cx="1312503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电力专业知识体系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body_text"/>
          <p:cNvSpPr txBox="1"/>
          <p:nvPr/>
        </p:nvSpPr>
        <p:spPr>
          <a:xfrm>
            <a:off x="10645858" y="4375010"/>
            <a:ext cx="1312503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工具生态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工具链与应用集成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body_text"/>
          <p:cNvSpPr txBox="1"/>
          <p:nvPr/>
        </p:nvSpPr>
        <p:spPr>
          <a:xfrm>
            <a:off x="218750" y="5687513"/>
            <a:ext cx="729168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A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演进路径</a:t>
            </a:r>
            <a:endParaRPr sz="1375" b="1" i="0">
              <a:solidFill>
                <a:srgbClr val="FFA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body_text"/>
          <p:cNvSpPr txBox="1"/>
          <p:nvPr/>
        </p:nvSpPr>
        <p:spPr>
          <a:xfrm>
            <a:off x="1093752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服务化入口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打通能力入口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body_text"/>
          <p:cNvSpPr txBox="1"/>
          <p:nvPr/>
        </p:nvSpPr>
        <p:spPr>
          <a:xfrm>
            <a:off x="2187505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规模化跃升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提升模型规模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body_text"/>
          <p:cNvSpPr txBox="1"/>
          <p:nvPr/>
        </p:nvSpPr>
        <p:spPr>
          <a:xfrm>
            <a:off x="3281257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行业专业化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深耕电力场景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body_text"/>
          <p:cNvSpPr txBox="1"/>
          <p:nvPr/>
        </p:nvSpPr>
        <p:spPr>
          <a:xfrm>
            <a:off x="4375010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架构协同化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专家协同智能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body_text"/>
          <p:cNvSpPr txBox="1"/>
          <p:nvPr/>
        </p:nvSpPr>
        <p:spPr>
          <a:xfrm>
            <a:off x="5468762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推理原生化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强化推理能力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body_text"/>
          <p:cNvSpPr txBox="1"/>
          <p:nvPr/>
        </p:nvSpPr>
        <p:spPr>
          <a:xfrm>
            <a:off x="6562515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工业图纸化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理解工程图纸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body_text"/>
          <p:cNvSpPr txBox="1"/>
          <p:nvPr/>
        </p:nvSpPr>
        <p:spPr>
          <a:xfrm>
            <a:off x="7656267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拓扑认知化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推理电网结构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body_text"/>
          <p:cNvSpPr txBox="1"/>
          <p:nvPr/>
        </p:nvSpPr>
        <p:spPr>
          <a:xfrm>
            <a:off x="8750020" y="6197931"/>
            <a:ext cx="875002" cy="364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世界模型化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仿真推演决策</a:t>
            </a:r>
            <a:endParaRPr sz="805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演示</Application>
  <PresentationFormat>On-screen Show (4:3)</PresentationFormat>
  <Paragraphs>171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creator/>
  <dc:description>generated using python-pptx</dc:description>
  <dc:subject>Generated by bggg-creator-image2ppt</dc:subject>
  <cp:lastModifiedBy>Brown</cp:lastModifiedBy>
  <cp:revision>3</cp:revision>
  <dcterms:created xsi:type="dcterms:W3CDTF">2013-01-27T09:14:00Z</dcterms:created>
  <dcterms:modified xsi:type="dcterms:W3CDTF">2026-06-02T03:15:49Z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244F5C82D0CA4BE1ACE73EFBEE795729_12</vt:lpwstr>
  </property>
</Properties>
</file>