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61474"/>
          </a:xfrm>
          <a:prstGeom prst="rect">
            <a:avLst/>
          </a:prstGeom>
          <a:solidFill>
            <a:srgbClr val="05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meline Box 1"/>
          <p:cNvSpPr/>
          <p:nvPr/>
        </p:nvSpPr>
        <p:spPr>
          <a:xfrm>
            <a:off x="218750" y="1166669"/>
            <a:ext cx="1312503" cy="1895837"/>
          </a:xfrm>
          <a:prstGeom prst="roundRect">
            <a:avLst/>
          </a:prstGeom>
          <a:solidFill>
            <a:srgbClr val="0A1A3A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meline Box 2"/>
          <p:cNvSpPr/>
          <p:nvPr/>
        </p:nvSpPr>
        <p:spPr>
          <a:xfrm>
            <a:off x="1677087" y="1166669"/>
            <a:ext cx="1312503" cy="1895837"/>
          </a:xfrm>
          <a:prstGeom prst="roundRect">
            <a:avLst/>
          </a:prstGeom>
          <a:solidFill>
            <a:srgbClr val="0A1A3A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meline Box 3"/>
          <p:cNvSpPr/>
          <p:nvPr/>
        </p:nvSpPr>
        <p:spPr>
          <a:xfrm>
            <a:off x="3135424" y="1166669"/>
            <a:ext cx="1312503" cy="1895837"/>
          </a:xfrm>
          <a:prstGeom prst="roundRect">
            <a:avLst/>
          </a:prstGeom>
          <a:solidFill>
            <a:srgbClr val="0A1A3A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meline Box 4"/>
          <p:cNvSpPr/>
          <p:nvPr/>
        </p:nvSpPr>
        <p:spPr>
          <a:xfrm>
            <a:off x="4593760" y="1166669"/>
            <a:ext cx="1312503" cy="1895837"/>
          </a:xfrm>
          <a:prstGeom prst="roundRect">
            <a:avLst/>
          </a:prstGeom>
          <a:solidFill>
            <a:srgbClr val="0A1A3A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imeline Box 5"/>
          <p:cNvSpPr/>
          <p:nvPr/>
        </p:nvSpPr>
        <p:spPr>
          <a:xfrm>
            <a:off x="6052097" y="1166669"/>
            <a:ext cx="1312503" cy="1895837"/>
          </a:xfrm>
          <a:prstGeom prst="roundRect">
            <a:avLst/>
          </a:prstGeom>
          <a:solidFill>
            <a:srgbClr val="0A1A3A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meline Box 6"/>
          <p:cNvSpPr/>
          <p:nvPr/>
        </p:nvSpPr>
        <p:spPr>
          <a:xfrm>
            <a:off x="7510434" y="1166669"/>
            <a:ext cx="1312503" cy="1895837"/>
          </a:xfrm>
          <a:prstGeom prst="roundRect">
            <a:avLst/>
          </a:prstGeom>
          <a:solidFill>
            <a:srgbClr val="0A1A3A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meline Box 7"/>
          <p:cNvSpPr/>
          <p:nvPr/>
        </p:nvSpPr>
        <p:spPr>
          <a:xfrm>
            <a:off x="8968770" y="1166669"/>
            <a:ext cx="1312503" cy="1895837"/>
          </a:xfrm>
          <a:prstGeom prst="roundRect">
            <a:avLst/>
          </a:prstGeom>
          <a:solidFill>
            <a:srgbClr val="0A1A3A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imeline Box 8"/>
          <p:cNvSpPr/>
          <p:nvPr/>
        </p:nvSpPr>
        <p:spPr>
          <a:xfrm>
            <a:off x="10427107" y="1166669"/>
            <a:ext cx="1312503" cy="1895837"/>
          </a:xfrm>
          <a:prstGeom prst="roundRect">
            <a:avLst/>
          </a:prstGeom>
          <a:solidFill>
            <a:srgbClr val="0A1A3A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ide Box 1"/>
          <p:cNvSpPr/>
          <p:nvPr/>
        </p:nvSpPr>
        <p:spPr>
          <a:xfrm>
            <a:off x="218750" y="3645841"/>
            <a:ext cx="1312503" cy="583334"/>
          </a:xfrm>
          <a:prstGeom prst="roundRect">
            <a:avLst/>
          </a:prstGeom>
          <a:solidFill>
            <a:srgbClr val="0A1A3A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ide Box 2"/>
          <p:cNvSpPr/>
          <p:nvPr/>
        </p:nvSpPr>
        <p:spPr>
          <a:xfrm>
            <a:off x="218750" y="4375010"/>
            <a:ext cx="1312503" cy="583334"/>
          </a:xfrm>
          <a:prstGeom prst="roundRect">
            <a:avLst/>
          </a:prstGeom>
          <a:solidFill>
            <a:srgbClr val="0A1A3A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ide Box 3"/>
          <p:cNvSpPr/>
          <p:nvPr/>
        </p:nvSpPr>
        <p:spPr>
          <a:xfrm>
            <a:off x="10660441" y="3645841"/>
            <a:ext cx="1312503" cy="583334"/>
          </a:xfrm>
          <a:prstGeom prst="roundRect">
            <a:avLst/>
          </a:prstGeom>
          <a:solidFill>
            <a:srgbClr val="0A1A3A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ide Box 4"/>
          <p:cNvSpPr/>
          <p:nvPr/>
        </p:nvSpPr>
        <p:spPr>
          <a:xfrm>
            <a:off x="10660441" y="4375010"/>
            <a:ext cx="1312503" cy="583334"/>
          </a:xfrm>
          <a:prstGeom prst="roundRect">
            <a:avLst/>
          </a:prstGeom>
          <a:solidFill>
            <a:srgbClr val="0A1A3A"/>
          </a:solidFill>
          <a:ln w="14583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Timeline Connector 1"/>
          <p:cNvCxnSpPr/>
          <p:nvPr/>
        </p:nvCxnSpPr>
        <p:spPr>
          <a:xfrm>
            <a:off x="1020835" y="1130210"/>
            <a:ext cx="1239586" cy="14584"/>
          </a:xfrm>
          <a:prstGeom prst="line">
            <a:avLst/>
          </a:prstGeom>
          <a:ln w="14583">
            <a:solidFill>
              <a:srgbClr val="0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Timeline Connector 2"/>
          <p:cNvCxnSpPr/>
          <p:nvPr/>
        </p:nvCxnSpPr>
        <p:spPr>
          <a:xfrm>
            <a:off x="2479172" y="1130210"/>
            <a:ext cx="1239586" cy="14584"/>
          </a:xfrm>
          <a:prstGeom prst="line">
            <a:avLst/>
          </a:prstGeom>
          <a:ln w="14583">
            <a:solidFill>
              <a:srgbClr val="0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Timeline Connector 3"/>
          <p:cNvCxnSpPr/>
          <p:nvPr/>
        </p:nvCxnSpPr>
        <p:spPr>
          <a:xfrm>
            <a:off x="3937509" y="1130210"/>
            <a:ext cx="1239586" cy="14584"/>
          </a:xfrm>
          <a:prstGeom prst="line">
            <a:avLst/>
          </a:prstGeom>
          <a:ln w="14583">
            <a:solidFill>
              <a:srgbClr val="0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Timeline Connector 4"/>
          <p:cNvCxnSpPr/>
          <p:nvPr/>
        </p:nvCxnSpPr>
        <p:spPr>
          <a:xfrm>
            <a:off x="5395845" y="1130210"/>
            <a:ext cx="1239587" cy="14584"/>
          </a:xfrm>
          <a:prstGeom prst="line">
            <a:avLst/>
          </a:prstGeom>
          <a:ln w="14583">
            <a:solidFill>
              <a:srgbClr val="0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Timeline Connector 5"/>
          <p:cNvCxnSpPr/>
          <p:nvPr/>
        </p:nvCxnSpPr>
        <p:spPr>
          <a:xfrm>
            <a:off x="6854182" y="1130210"/>
            <a:ext cx="1239586" cy="14584"/>
          </a:xfrm>
          <a:prstGeom prst="line">
            <a:avLst/>
          </a:prstGeom>
          <a:ln w="14583">
            <a:solidFill>
              <a:srgbClr val="0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Timeline Connector 6"/>
          <p:cNvCxnSpPr/>
          <p:nvPr/>
        </p:nvCxnSpPr>
        <p:spPr>
          <a:xfrm>
            <a:off x="8312519" y="1130210"/>
            <a:ext cx="1239586" cy="14584"/>
          </a:xfrm>
          <a:prstGeom prst="line">
            <a:avLst/>
          </a:prstGeom>
          <a:ln w="14583">
            <a:solidFill>
              <a:srgbClr val="0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line Connector 7"/>
          <p:cNvCxnSpPr/>
          <p:nvPr/>
        </p:nvCxnSpPr>
        <p:spPr>
          <a:xfrm>
            <a:off x="9770856" y="1130210"/>
            <a:ext cx="1239586" cy="14584"/>
          </a:xfrm>
          <a:prstGeom prst="line">
            <a:avLst/>
          </a:prstGeom>
          <a:ln w="14583">
            <a:solidFill>
              <a:srgbClr val="00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meline Circle 1"/>
          <p:cNvSpPr/>
          <p:nvPr/>
        </p:nvSpPr>
        <p:spPr>
          <a:xfrm>
            <a:off x="802085" y="1020835"/>
            <a:ext cx="218750" cy="218750"/>
          </a:xfrm>
          <a:prstGeom prst="ellipse">
            <a:avLst/>
          </a:prstGeom>
          <a:solidFill>
            <a:srgbClr val="00FFFF"/>
          </a:solidFill>
          <a:ln w="1458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meline Circle 2"/>
          <p:cNvSpPr/>
          <p:nvPr/>
        </p:nvSpPr>
        <p:spPr>
          <a:xfrm>
            <a:off x="2260421" y="1020835"/>
            <a:ext cx="218750" cy="218750"/>
          </a:xfrm>
          <a:prstGeom prst="ellipse">
            <a:avLst/>
          </a:prstGeom>
          <a:solidFill>
            <a:srgbClr val="00FFFF"/>
          </a:solidFill>
          <a:ln w="1458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meline Circle 3"/>
          <p:cNvSpPr/>
          <p:nvPr/>
        </p:nvSpPr>
        <p:spPr>
          <a:xfrm>
            <a:off x="3718758" y="1020835"/>
            <a:ext cx="218750" cy="218750"/>
          </a:xfrm>
          <a:prstGeom prst="ellipse">
            <a:avLst/>
          </a:prstGeom>
          <a:solidFill>
            <a:srgbClr val="00FFFF"/>
          </a:solidFill>
          <a:ln w="1458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meline Circle 4"/>
          <p:cNvSpPr/>
          <p:nvPr/>
        </p:nvSpPr>
        <p:spPr>
          <a:xfrm>
            <a:off x="5177095" y="1020835"/>
            <a:ext cx="218750" cy="218750"/>
          </a:xfrm>
          <a:prstGeom prst="ellipse">
            <a:avLst/>
          </a:prstGeom>
          <a:solidFill>
            <a:srgbClr val="00FFFF"/>
          </a:solidFill>
          <a:ln w="1458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meline Circle 5"/>
          <p:cNvSpPr/>
          <p:nvPr/>
        </p:nvSpPr>
        <p:spPr>
          <a:xfrm>
            <a:off x="6635432" y="1020835"/>
            <a:ext cx="218750" cy="218750"/>
          </a:xfrm>
          <a:prstGeom prst="ellipse">
            <a:avLst/>
          </a:prstGeom>
          <a:solidFill>
            <a:srgbClr val="00FFFF"/>
          </a:solidFill>
          <a:ln w="1458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imeline Circle 6"/>
          <p:cNvSpPr/>
          <p:nvPr/>
        </p:nvSpPr>
        <p:spPr>
          <a:xfrm>
            <a:off x="8093768" y="1020835"/>
            <a:ext cx="218750" cy="218750"/>
          </a:xfrm>
          <a:prstGeom prst="ellipse">
            <a:avLst/>
          </a:prstGeom>
          <a:solidFill>
            <a:srgbClr val="00FFFF"/>
          </a:solidFill>
          <a:ln w="1458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meline Circle 7"/>
          <p:cNvSpPr/>
          <p:nvPr/>
        </p:nvSpPr>
        <p:spPr>
          <a:xfrm>
            <a:off x="9552105" y="1020835"/>
            <a:ext cx="218750" cy="218750"/>
          </a:xfrm>
          <a:prstGeom prst="ellipse">
            <a:avLst/>
          </a:prstGeom>
          <a:solidFill>
            <a:srgbClr val="00FFFF"/>
          </a:solidFill>
          <a:ln w="1458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imeline Circle 8"/>
          <p:cNvSpPr/>
          <p:nvPr/>
        </p:nvSpPr>
        <p:spPr>
          <a:xfrm>
            <a:off x="11010442" y="1020835"/>
            <a:ext cx="218750" cy="218750"/>
          </a:xfrm>
          <a:prstGeom prst="ellipse">
            <a:avLst/>
          </a:prstGeom>
          <a:solidFill>
            <a:srgbClr val="00FFFF"/>
          </a:solidFill>
          <a:ln w="1458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entral_engine_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673" y="3135424"/>
            <a:ext cx="6358348" cy="2114588"/>
          </a:xfrm>
          <a:prstGeom prst="rect">
            <a:avLst/>
          </a:prstGeom>
        </p:spPr>
      </p:pic>
      <p:pic>
        <p:nvPicPr>
          <p:cNvPr id="31" name="Picture 30" descr="bottom_arrow_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68" y="5687513"/>
            <a:ext cx="10733358" cy="875002"/>
          </a:xfrm>
          <a:prstGeom prst="rect">
            <a:avLst/>
          </a:prstGeom>
        </p:spPr>
      </p:pic>
      <p:pic>
        <p:nvPicPr>
          <p:cNvPr id="32" name="Picture 31" descr="icon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168" y="1750004"/>
            <a:ext cx="437501" cy="437501"/>
          </a:xfrm>
          <a:prstGeom prst="rect">
            <a:avLst/>
          </a:prstGeom>
        </p:spPr>
      </p:pic>
      <p:pic>
        <p:nvPicPr>
          <p:cNvPr id="33" name="Picture 32" descr="icon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7505" y="1750004"/>
            <a:ext cx="437501" cy="437501"/>
          </a:xfrm>
          <a:prstGeom prst="rect">
            <a:avLst/>
          </a:prstGeom>
        </p:spPr>
      </p:pic>
      <p:pic>
        <p:nvPicPr>
          <p:cNvPr id="34" name="Picture 33" descr="icon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5841" y="1750004"/>
            <a:ext cx="437501" cy="437501"/>
          </a:xfrm>
          <a:prstGeom prst="rect">
            <a:avLst/>
          </a:prstGeom>
        </p:spPr>
      </p:pic>
      <p:pic>
        <p:nvPicPr>
          <p:cNvPr id="35" name="Picture 34" descr="icon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4178" y="1750004"/>
            <a:ext cx="437501" cy="437501"/>
          </a:xfrm>
          <a:prstGeom prst="rect">
            <a:avLst/>
          </a:prstGeom>
        </p:spPr>
      </p:pic>
      <p:pic>
        <p:nvPicPr>
          <p:cNvPr id="36" name="Picture 35" descr="icon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515" y="1750004"/>
            <a:ext cx="437501" cy="437501"/>
          </a:xfrm>
          <a:prstGeom prst="rect">
            <a:avLst/>
          </a:prstGeom>
        </p:spPr>
      </p:pic>
      <p:pic>
        <p:nvPicPr>
          <p:cNvPr id="37" name="Picture 36" descr="icon_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0852" y="1750004"/>
            <a:ext cx="437501" cy="437501"/>
          </a:xfrm>
          <a:prstGeom prst="rect">
            <a:avLst/>
          </a:prstGeom>
        </p:spPr>
      </p:pic>
      <p:pic>
        <p:nvPicPr>
          <p:cNvPr id="38" name="Picture 37" descr="icon_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79188" y="1750004"/>
            <a:ext cx="437501" cy="437501"/>
          </a:xfrm>
          <a:prstGeom prst="rect">
            <a:avLst/>
          </a:prstGeom>
        </p:spPr>
      </p:pic>
      <p:pic>
        <p:nvPicPr>
          <p:cNvPr id="39" name="Picture 38" descr="icon_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37525" y="1750004"/>
            <a:ext cx="437501" cy="437501"/>
          </a:xfrm>
          <a:prstGeom prst="rect">
            <a:avLst/>
          </a:prstGeom>
        </p:spPr>
      </p:pic>
      <p:pic>
        <p:nvPicPr>
          <p:cNvPr id="40" name="Picture 39" descr="side_icon_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1667" y="3718758"/>
            <a:ext cx="291667" cy="291667"/>
          </a:xfrm>
          <a:prstGeom prst="rect">
            <a:avLst/>
          </a:prstGeom>
        </p:spPr>
      </p:pic>
      <p:pic>
        <p:nvPicPr>
          <p:cNvPr id="41" name="Picture 40" descr="side_icon_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67" y="4447927"/>
            <a:ext cx="291667" cy="291667"/>
          </a:xfrm>
          <a:prstGeom prst="rect">
            <a:avLst/>
          </a:prstGeom>
        </p:spPr>
      </p:pic>
      <p:pic>
        <p:nvPicPr>
          <p:cNvPr id="42" name="Picture 41" descr="side_icon_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33358" y="3718758"/>
            <a:ext cx="291667" cy="291667"/>
          </a:xfrm>
          <a:prstGeom prst="rect">
            <a:avLst/>
          </a:prstGeom>
        </p:spPr>
      </p:pic>
      <p:pic>
        <p:nvPicPr>
          <p:cNvPr id="43" name="Picture 42" descr="side_icon_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33358" y="4447927"/>
            <a:ext cx="291667" cy="291667"/>
          </a:xfrm>
          <a:prstGeom prst="rect">
            <a:avLst/>
          </a:prstGeom>
        </p:spPr>
      </p:pic>
      <p:pic>
        <p:nvPicPr>
          <p:cNvPr id="44" name="Picture 43" descr="bottom_icon_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3752" y="5833346"/>
            <a:ext cx="291667" cy="291667"/>
          </a:xfrm>
          <a:prstGeom prst="rect">
            <a:avLst/>
          </a:prstGeom>
        </p:spPr>
      </p:pic>
      <p:pic>
        <p:nvPicPr>
          <p:cNvPr id="45" name="Picture 44" descr="bottom_icon_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87505" y="5833346"/>
            <a:ext cx="291667" cy="291667"/>
          </a:xfrm>
          <a:prstGeom prst="rect">
            <a:avLst/>
          </a:prstGeom>
        </p:spPr>
      </p:pic>
      <p:pic>
        <p:nvPicPr>
          <p:cNvPr id="46" name="Picture 45" descr="bottom_icon_3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81257" y="5833346"/>
            <a:ext cx="291667" cy="291667"/>
          </a:xfrm>
          <a:prstGeom prst="rect">
            <a:avLst/>
          </a:prstGeom>
        </p:spPr>
      </p:pic>
      <p:pic>
        <p:nvPicPr>
          <p:cNvPr id="47" name="Picture 46" descr="bottom_icon_4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75010" y="5833346"/>
            <a:ext cx="291667" cy="291667"/>
          </a:xfrm>
          <a:prstGeom prst="rect">
            <a:avLst/>
          </a:prstGeom>
        </p:spPr>
      </p:pic>
      <p:pic>
        <p:nvPicPr>
          <p:cNvPr id="48" name="Picture 47" descr="bottom_icon_5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68762" y="5833346"/>
            <a:ext cx="291667" cy="291667"/>
          </a:xfrm>
          <a:prstGeom prst="rect">
            <a:avLst/>
          </a:prstGeom>
        </p:spPr>
      </p:pic>
      <p:pic>
        <p:nvPicPr>
          <p:cNvPr id="49" name="Picture 48" descr="bottom_icon_6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62515" y="5833346"/>
            <a:ext cx="291667" cy="291667"/>
          </a:xfrm>
          <a:prstGeom prst="rect">
            <a:avLst/>
          </a:prstGeom>
        </p:spPr>
      </p:pic>
      <p:pic>
        <p:nvPicPr>
          <p:cNvPr id="50" name="Picture 49" descr="bottom_icon_7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56267" y="5833346"/>
            <a:ext cx="291667" cy="291667"/>
          </a:xfrm>
          <a:prstGeom prst="rect">
            <a:avLst/>
          </a:prstGeom>
        </p:spPr>
      </p:pic>
      <p:pic>
        <p:nvPicPr>
          <p:cNvPr id="51" name="Picture 50" descr="bottom_icon_8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750020" y="5833346"/>
            <a:ext cx="291667" cy="291667"/>
          </a:xfrm>
          <a:prstGeom prst="rect">
            <a:avLst/>
          </a:prstGeom>
        </p:spPr>
      </p:pic>
      <p:sp>
        <p:nvSpPr>
          <p:cNvPr id="52" name="titles"/>
          <p:cNvSpPr txBox="1"/>
          <p:nvPr/>
        </p:nvSpPr>
        <p:spPr>
          <a:xfrm>
            <a:off x="2770839" y="291667"/>
            <a:ext cx="6650015" cy="58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5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"大瓦特" 演进路线图</a:t>
            </a:r>
          </a:p>
        </p:txBody>
      </p:sp>
      <p:sp>
        <p:nvSpPr>
          <p:cNvPr id="53" name="titles"/>
          <p:cNvSpPr txBox="1"/>
          <p:nvPr/>
        </p:nvSpPr>
        <p:spPr>
          <a:xfrm>
            <a:off x="4812511" y="984377"/>
            <a:ext cx="2566672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FAA00"/>
                </a:solidFill>
                <a:latin typeface="Microsoft YaHei"/>
                <a:ea typeface="Microsoft YaHei"/>
                <a:cs typeface="Microsoft YaHei"/>
              </a:rPr>
              <a:t>路标与核心亮点</a:t>
            </a:r>
          </a:p>
        </p:txBody>
      </p:sp>
      <p:sp>
        <p:nvSpPr>
          <p:cNvPr id="54" name="titles"/>
          <p:cNvSpPr txBox="1"/>
          <p:nvPr/>
        </p:nvSpPr>
        <p:spPr>
          <a:xfrm>
            <a:off x="4520843" y="1348961"/>
            <a:ext cx="3150007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从多模态服务化迈向电力世界模型</a:t>
            </a:r>
          </a:p>
        </p:txBody>
      </p:sp>
      <p:sp>
        <p:nvSpPr>
          <p:cNvPr id="55" name="body_text"/>
          <p:cNvSpPr txBox="1"/>
          <p:nvPr/>
        </p:nvSpPr>
        <p:spPr>
          <a:xfrm>
            <a:off x="802085" y="1020835"/>
            <a:ext cx="218750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6" name="body_text"/>
          <p:cNvSpPr txBox="1"/>
          <p:nvPr/>
        </p:nvSpPr>
        <p:spPr>
          <a:xfrm>
            <a:off x="2260421" y="1020835"/>
            <a:ext cx="218750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7" name="body_text"/>
          <p:cNvSpPr txBox="1"/>
          <p:nvPr/>
        </p:nvSpPr>
        <p:spPr>
          <a:xfrm>
            <a:off x="3718758" y="1020835"/>
            <a:ext cx="218750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8" name="body_text"/>
          <p:cNvSpPr txBox="1"/>
          <p:nvPr/>
        </p:nvSpPr>
        <p:spPr>
          <a:xfrm>
            <a:off x="5177095" y="1020835"/>
            <a:ext cx="218750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9" name="body_text"/>
          <p:cNvSpPr txBox="1"/>
          <p:nvPr/>
        </p:nvSpPr>
        <p:spPr>
          <a:xfrm>
            <a:off x="6635432" y="1020835"/>
            <a:ext cx="218750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0" name="body_text"/>
          <p:cNvSpPr txBox="1"/>
          <p:nvPr/>
        </p:nvSpPr>
        <p:spPr>
          <a:xfrm>
            <a:off x="8093768" y="1020835"/>
            <a:ext cx="218750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1" name="body_text"/>
          <p:cNvSpPr txBox="1"/>
          <p:nvPr/>
        </p:nvSpPr>
        <p:spPr>
          <a:xfrm>
            <a:off x="9552105" y="1020835"/>
            <a:ext cx="218750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2" name="body_text"/>
          <p:cNvSpPr txBox="1"/>
          <p:nvPr/>
        </p:nvSpPr>
        <p:spPr>
          <a:xfrm>
            <a:off x="11010442" y="1020835"/>
            <a:ext cx="218750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3" name="body_text"/>
          <p:cNvSpPr txBox="1"/>
          <p:nvPr/>
        </p:nvSpPr>
        <p:spPr>
          <a:xfrm>
            <a:off x="291667" y="1239586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1.0</a:t>
            </a:r>
          </a:p>
        </p:txBody>
      </p:sp>
      <p:sp>
        <p:nvSpPr>
          <p:cNvPr id="64" name="body_text"/>
          <p:cNvSpPr txBox="1"/>
          <p:nvPr/>
        </p:nvSpPr>
        <p:spPr>
          <a:xfrm>
            <a:off x="1093752" y="1239586"/>
            <a:ext cx="36458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Arial"/>
                <a:ea typeface="Arial"/>
                <a:cs typeface="Arial"/>
              </a:rPr>
              <a:t>2025.05</a:t>
            </a:r>
          </a:p>
        </p:txBody>
      </p:sp>
      <p:sp>
        <p:nvSpPr>
          <p:cNvPr id="65" name="body_text"/>
          <p:cNvSpPr txBox="1"/>
          <p:nvPr/>
        </p:nvSpPr>
        <p:spPr>
          <a:xfrm>
            <a:off x="291667" y="1458336"/>
            <a:ext cx="1166669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定位：多模态服务化</a:t>
            </a:r>
          </a:p>
        </p:txBody>
      </p:sp>
      <p:sp>
        <p:nvSpPr>
          <p:cNvPr id="66" name="body_text"/>
          <p:cNvSpPr txBox="1"/>
          <p:nvPr/>
        </p:nvSpPr>
        <p:spPr>
          <a:xfrm>
            <a:off x="291667" y="2041671"/>
            <a:ext cx="291667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1" i="0">
                <a:solidFill>
                  <a:srgbClr val="FFAA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67" name="body_text"/>
          <p:cNvSpPr txBox="1"/>
          <p:nvPr/>
        </p:nvSpPr>
        <p:spPr>
          <a:xfrm>
            <a:off x="291667" y="2260421"/>
            <a:ext cx="1166669" cy="58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4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建成南网首个，电力多模态能力入口，成功适配国产算力，实现全自主安全可控。</a:t>
            </a:r>
          </a:p>
        </p:txBody>
      </p:sp>
      <p:sp>
        <p:nvSpPr>
          <p:cNvPr id="68" name="body_text"/>
          <p:cNvSpPr txBox="1"/>
          <p:nvPr/>
        </p:nvSpPr>
        <p:spPr>
          <a:xfrm>
            <a:off x="1750004" y="1239586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1.1</a:t>
            </a:r>
          </a:p>
        </p:txBody>
      </p:sp>
      <p:sp>
        <p:nvSpPr>
          <p:cNvPr id="69" name="body_text"/>
          <p:cNvSpPr txBox="1"/>
          <p:nvPr/>
        </p:nvSpPr>
        <p:spPr>
          <a:xfrm>
            <a:off x="2552089" y="1239586"/>
            <a:ext cx="36458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Arial"/>
                <a:ea typeface="Arial"/>
                <a:cs typeface="Arial"/>
              </a:rPr>
              <a:t>2025.12</a:t>
            </a:r>
          </a:p>
        </p:txBody>
      </p:sp>
      <p:sp>
        <p:nvSpPr>
          <p:cNvPr id="70" name="body_text"/>
          <p:cNvSpPr txBox="1"/>
          <p:nvPr/>
        </p:nvSpPr>
        <p:spPr>
          <a:xfrm>
            <a:off x="1750004" y="1458336"/>
            <a:ext cx="1166669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定位：能力规模化</a:t>
            </a:r>
          </a:p>
        </p:txBody>
      </p:sp>
      <p:sp>
        <p:nvSpPr>
          <p:cNvPr id="71" name="body_text"/>
          <p:cNvSpPr txBox="1"/>
          <p:nvPr/>
        </p:nvSpPr>
        <p:spPr>
          <a:xfrm>
            <a:off x="1750004" y="2041671"/>
            <a:ext cx="291667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1" i="0">
                <a:solidFill>
                  <a:srgbClr val="FFAA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72" name="body_text"/>
          <p:cNvSpPr txBox="1"/>
          <p:nvPr/>
        </p:nvSpPr>
        <p:spPr>
          <a:xfrm>
            <a:off x="1750004" y="2260421"/>
            <a:ext cx="1166669" cy="58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4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底座全面迭代升级，正式备千亿级参规模型能力。</a:t>
            </a:r>
          </a:p>
        </p:txBody>
      </p:sp>
      <p:sp>
        <p:nvSpPr>
          <p:cNvPr id="73" name="body_text"/>
          <p:cNvSpPr txBox="1"/>
          <p:nvPr/>
        </p:nvSpPr>
        <p:spPr>
          <a:xfrm>
            <a:off x="3208340" y="1239586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2.0</a:t>
            </a:r>
          </a:p>
        </p:txBody>
      </p:sp>
      <p:sp>
        <p:nvSpPr>
          <p:cNvPr id="74" name="body_text"/>
          <p:cNvSpPr txBox="1"/>
          <p:nvPr/>
        </p:nvSpPr>
        <p:spPr>
          <a:xfrm>
            <a:off x="4010426" y="1239586"/>
            <a:ext cx="36458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Arial"/>
                <a:ea typeface="Arial"/>
                <a:cs typeface="Arial"/>
              </a:rPr>
              <a:t>2026.04</a:t>
            </a:r>
          </a:p>
        </p:txBody>
      </p:sp>
      <p:sp>
        <p:nvSpPr>
          <p:cNvPr id="75" name="body_text"/>
          <p:cNvSpPr txBox="1"/>
          <p:nvPr/>
        </p:nvSpPr>
        <p:spPr>
          <a:xfrm>
            <a:off x="3208340" y="1458336"/>
            <a:ext cx="1166669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定位：行业专业化</a:t>
            </a:r>
          </a:p>
        </p:txBody>
      </p:sp>
      <p:sp>
        <p:nvSpPr>
          <p:cNvPr id="76" name="body_text"/>
          <p:cNvSpPr txBox="1"/>
          <p:nvPr/>
        </p:nvSpPr>
        <p:spPr>
          <a:xfrm>
            <a:off x="3208340" y="2041671"/>
            <a:ext cx="291667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1" i="0">
                <a:solidFill>
                  <a:srgbClr val="FFAA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77" name="body_text"/>
          <p:cNvSpPr txBox="1"/>
          <p:nvPr/>
        </p:nvSpPr>
        <p:spPr>
          <a:xfrm>
            <a:off x="3208340" y="2260421"/>
            <a:ext cx="1166669" cy="58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4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完成72B行业微调模型全面升级，强化电力专业能力，高效流转典型业务场景。</a:t>
            </a:r>
          </a:p>
        </p:txBody>
      </p:sp>
      <p:sp>
        <p:nvSpPr>
          <p:cNvPr id="78" name="body_text"/>
          <p:cNvSpPr txBox="1"/>
          <p:nvPr/>
        </p:nvSpPr>
        <p:spPr>
          <a:xfrm>
            <a:off x="4666677" y="1239586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2.1</a:t>
            </a:r>
          </a:p>
        </p:txBody>
      </p:sp>
      <p:sp>
        <p:nvSpPr>
          <p:cNvPr id="79" name="body_text"/>
          <p:cNvSpPr txBox="1"/>
          <p:nvPr/>
        </p:nvSpPr>
        <p:spPr>
          <a:xfrm>
            <a:off x="5468762" y="1239586"/>
            <a:ext cx="36458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Arial"/>
                <a:ea typeface="Arial"/>
                <a:cs typeface="Arial"/>
              </a:rPr>
              <a:t>2026.06</a:t>
            </a:r>
          </a:p>
        </p:txBody>
      </p:sp>
      <p:sp>
        <p:nvSpPr>
          <p:cNvPr id="80" name="body_text"/>
          <p:cNvSpPr txBox="1"/>
          <p:nvPr/>
        </p:nvSpPr>
        <p:spPr>
          <a:xfrm>
            <a:off x="4666677" y="1458336"/>
            <a:ext cx="1166669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定位：架构协同化</a:t>
            </a:r>
          </a:p>
        </p:txBody>
      </p:sp>
      <p:sp>
        <p:nvSpPr>
          <p:cNvPr id="81" name="body_text"/>
          <p:cNvSpPr txBox="1"/>
          <p:nvPr/>
        </p:nvSpPr>
        <p:spPr>
          <a:xfrm>
            <a:off x="4666677" y="2041671"/>
            <a:ext cx="291667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1" i="0">
                <a:solidFill>
                  <a:srgbClr val="FFAA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82" name="body_text"/>
          <p:cNvSpPr txBox="1"/>
          <p:nvPr/>
        </p:nvSpPr>
        <p:spPr>
          <a:xfrm>
            <a:off x="4666677" y="2260421"/>
            <a:ext cx="1166669" cy="58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4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上线MoE架构微调模型，实现专家协同、任务分流和多业务域协同，按需调用用专业能力。</a:t>
            </a:r>
          </a:p>
        </p:txBody>
      </p:sp>
      <p:sp>
        <p:nvSpPr>
          <p:cNvPr id="83" name="body_text"/>
          <p:cNvSpPr txBox="1"/>
          <p:nvPr/>
        </p:nvSpPr>
        <p:spPr>
          <a:xfrm>
            <a:off x="6125014" y="1239586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2.2</a:t>
            </a:r>
          </a:p>
        </p:txBody>
      </p:sp>
      <p:sp>
        <p:nvSpPr>
          <p:cNvPr id="84" name="body_text"/>
          <p:cNvSpPr txBox="1"/>
          <p:nvPr/>
        </p:nvSpPr>
        <p:spPr>
          <a:xfrm>
            <a:off x="6927099" y="1239586"/>
            <a:ext cx="36458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Arial"/>
                <a:ea typeface="Arial"/>
                <a:cs typeface="Arial"/>
              </a:rPr>
              <a:t>2026.08</a:t>
            </a:r>
          </a:p>
        </p:txBody>
      </p:sp>
      <p:sp>
        <p:nvSpPr>
          <p:cNvPr id="85" name="body_text"/>
          <p:cNvSpPr txBox="1"/>
          <p:nvPr/>
        </p:nvSpPr>
        <p:spPr>
          <a:xfrm>
            <a:off x="6125014" y="1458336"/>
            <a:ext cx="1166669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定位：推理原生化</a:t>
            </a:r>
          </a:p>
        </p:txBody>
      </p:sp>
      <p:sp>
        <p:nvSpPr>
          <p:cNvPr id="86" name="body_text"/>
          <p:cNvSpPr txBox="1"/>
          <p:nvPr/>
        </p:nvSpPr>
        <p:spPr>
          <a:xfrm>
            <a:off x="6125014" y="2041671"/>
            <a:ext cx="291667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1" i="0">
                <a:solidFill>
                  <a:srgbClr val="FFAA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87" name="body_text"/>
          <p:cNvSpPr txBox="1"/>
          <p:nvPr/>
        </p:nvSpPr>
        <p:spPr>
          <a:xfrm>
            <a:off x="6125014" y="2260421"/>
            <a:ext cx="1166669" cy="58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4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引入强化学习与慢思考机制，增强逻辑推理、知识增强和工具调用能力。</a:t>
            </a:r>
          </a:p>
        </p:txBody>
      </p:sp>
      <p:sp>
        <p:nvSpPr>
          <p:cNvPr id="88" name="body_text"/>
          <p:cNvSpPr txBox="1"/>
          <p:nvPr/>
        </p:nvSpPr>
        <p:spPr>
          <a:xfrm>
            <a:off x="7583351" y="1239586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3.0</a:t>
            </a:r>
          </a:p>
        </p:txBody>
      </p:sp>
      <p:sp>
        <p:nvSpPr>
          <p:cNvPr id="89" name="body_text"/>
          <p:cNvSpPr txBox="1"/>
          <p:nvPr/>
        </p:nvSpPr>
        <p:spPr>
          <a:xfrm>
            <a:off x="8385436" y="1239586"/>
            <a:ext cx="36458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Arial"/>
                <a:ea typeface="Arial"/>
                <a:cs typeface="Arial"/>
              </a:rPr>
              <a:t>2026.01</a:t>
            </a:r>
          </a:p>
        </p:txBody>
      </p:sp>
      <p:sp>
        <p:nvSpPr>
          <p:cNvPr id="90" name="body_text"/>
          <p:cNvSpPr txBox="1"/>
          <p:nvPr/>
        </p:nvSpPr>
        <p:spPr>
          <a:xfrm>
            <a:off x="7583351" y="1458336"/>
            <a:ext cx="1166669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定位：工业图纸化</a:t>
            </a:r>
          </a:p>
        </p:txBody>
      </p:sp>
      <p:sp>
        <p:nvSpPr>
          <p:cNvPr id="91" name="body_text"/>
          <p:cNvSpPr txBox="1"/>
          <p:nvPr/>
        </p:nvSpPr>
        <p:spPr>
          <a:xfrm>
            <a:off x="7583351" y="2041671"/>
            <a:ext cx="291667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1" i="0">
                <a:solidFill>
                  <a:srgbClr val="FFAA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92" name="body_text"/>
          <p:cNvSpPr txBox="1"/>
          <p:nvPr/>
        </p:nvSpPr>
        <p:spPr>
          <a:xfrm>
            <a:off x="7583351" y="2260421"/>
            <a:ext cx="1166669" cy="58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4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行业首发电力多模态工业图纸模型，具备图纸解析、规则校核和辅助设计能力。</a:t>
            </a:r>
          </a:p>
        </p:txBody>
      </p:sp>
      <p:sp>
        <p:nvSpPr>
          <p:cNvPr id="93" name="body_text"/>
          <p:cNvSpPr txBox="1"/>
          <p:nvPr/>
        </p:nvSpPr>
        <p:spPr>
          <a:xfrm>
            <a:off x="9041687" y="1239586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3.1</a:t>
            </a:r>
          </a:p>
        </p:txBody>
      </p:sp>
      <p:sp>
        <p:nvSpPr>
          <p:cNvPr id="94" name="body_text"/>
          <p:cNvSpPr txBox="1"/>
          <p:nvPr/>
        </p:nvSpPr>
        <p:spPr>
          <a:xfrm>
            <a:off x="9843773" y="1239586"/>
            <a:ext cx="36458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Arial"/>
                <a:ea typeface="Arial"/>
                <a:cs typeface="Arial"/>
              </a:rPr>
              <a:t>2027.04</a:t>
            </a:r>
          </a:p>
        </p:txBody>
      </p:sp>
      <p:sp>
        <p:nvSpPr>
          <p:cNvPr id="95" name="body_text"/>
          <p:cNvSpPr txBox="1"/>
          <p:nvPr/>
        </p:nvSpPr>
        <p:spPr>
          <a:xfrm>
            <a:off x="9041687" y="1458336"/>
            <a:ext cx="1166669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定位：拓扑认知化</a:t>
            </a:r>
          </a:p>
        </p:txBody>
      </p:sp>
      <p:sp>
        <p:nvSpPr>
          <p:cNvPr id="96" name="body_text"/>
          <p:cNvSpPr txBox="1"/>
          <p:nvPr/>
        </p:nvSpPr>
        <p:spPr>
          <a:xfrm>
            <a:off x="9041687" y="2041671"/>
            <a:ext cx="291667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1" i="0">
                <a:solidFill>
                  <a:srgbClr val="FFAA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97" name="body_text"/>
          <p:cNvSpPr txBox="1"/>
          <p:nvPr/>
        </p:nvSpPr>
        <p:spPr>
          <a:xfrm>
            <a:off x="9041687" y="2260421"/>
            <a:ext cx="1166669" cy="58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4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融合多源数据，构建“图像—设备—空间—拓扑”联合推理能力，形成电力行业结构化认知壁垒。</a:t>
            </a:r>
          </a:p>
        </p:txBody>
      </p:sp>
      <p:sp>
        <p:nvSpPr>
          <p:cNvPr id="98" name="body_text"/>
          <p:cNvSpPr txBox="1"/>
          <p:nvPr/>
        </p:nvSpPr>
        <p:spPr>
          <a:xfrm>
            <a:off x="10500024" y="1239586"/>
            <a:ext cx="729168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8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大瓦特 4.0</a:t>
            </a:r>
          </a:p>
        </p:txBody>
      </p:sp>
      <p:sp>
        <p:nvSpPr>
          <p:cNvPr id="99" name="body_text"/>
          <p:cNvSpPr txBox="1"/>
          <p:nvPr/>
        </p:nvSpPr>
        <p:spPr>
          <a:xfrm>
            <a:off x="11302109" y="1239586"/>
            <a:ext cx="36458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Arial"/>
                <a:ea typeface="Arial"/>
                <a:cs typeface="Arial"/>
              </a:rPr>
              <a:t>2027.12</a:t>
            </a:r>
          </a:p>
        </p:txBody>
      </p:sp>
      <p:sp>
        <p:nvSpPr>
          <p:cNvPr id="100" name="body_text"/>
          <p:cNvSpPr txBox="1"/>
          <p:nvPr/>
        </p:nvSpPr>
        <p:spPr>
          <a:xfrm>
            <a:off x="10500024" y="1458336"/>
            <a:ext cx="1166669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00FFFF"/>
                </a:solidFill>
                <a:latin typeface="Microsoft YaHei"/>
                <a:ea typeface="Microsoft YaHei"/>
                <a:cs typeface="Microsoft YaHei"/>
              </a:rPr>
              <a:t>定位：世界模型化</a:t>
            </a:r>
          </a:p>
        </p:txBody>
      </p:sp>
      <p:sp>
        <p:nvSpPr>
          <p:cNvPr id="101" name="body_text"/>
          <p:cNvSpPr txBox="1"/>
          <p:nvPr/>
        </p:nvSpPr>
        <p:spPr>
          <a:xfrm>
            <a:off x="10500024" y="2041671"/>
            <a:ext cx="291667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1" i="0">
                <a:solidFill>
                  <a:srgbClr val="FFAA00"/>
                </a:solidFill>
                <a:latin typeface="Microsoft YaHei"/>
                <a:ea typeface="Microsoft YaHei"/>
                <a:cs typeface="Microsoft YaHei"/>
              </a:rPr>
              <a:t>亮点</a:t>
            </a:r>
          </a:p>
        </p:txBody>
      </p:sp>
      <p:sp>
        <p:nvSpPr>
          <p:cNvPr id="102" name="body_text"/>
          <p:cNvSpPr txBox="1"/>
          <p:nvPr/>
        </p:nvSpPr>
        <p:spPr>
          <a:xfrm>
            <a:off x="10500024" y="2260421"/>
            <a:ext cx="1166669" cy="58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4" b="0" i="0">
                <a:solidFill>
                  <a:srgbClr val="CCCCCC"/>
                </a:solidFill>
                <a:latin typeface="Microsoft YaHei"/>
                <a:ea typeface="Microsoft YaHei"/>
                <a:cs typeface="Microsoft YaHei"/>
              </a:rPr>
              <a:t>发布电力多模态世界模型，实现物理仿真与智能推演、从理解现场迈向推演现场、辅助决策。</a:t>
            </a:r>
          </a:p>
        </p:txBody>
      </p:sp>
      <p:sp>
        <p:nvSpPr>
          <p:cNvPr id="103" name="body_text"/>
          <p:cNvSpPr txBox="1"/>
          <p:nvPr/>
        </p:nvSpPr>
        <p:spPr>
          <a:xfrm>
            <a:off x="5468762" y="3208340"/>
            <a:ext cx="1254169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统一服务</a:t>
            </a:r>
          </a:p>
        </p:txBody>
      </p:sp>
      <p:sp>
        <p:nvSpPr>
          <p:cNvPr id="104" name="body_text"/>
          <p:cNvSpPr txBox="1"/>
          <p:nvPr/>
        </p:nvSpPr>
        <p:spPr>
          <a:xfrm>
            <a:off x="4375010" y="3500008"/>
            <a:ext cx="3441674" cy="291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电力专业多模态能力引擎</a:t>
            </a:r>
          </a:p>
        </p:txBody>
      </p:sp>
      <p:sp>
        <p:nvSpPr>
          <p:cNvPr id="105" name="body_text"/>
          <p:cNvSpPr txBox="1"/>
          <p:nvPr/>
        </p:nvSpPr>
        <p:spPr>
          <a:xfrm>
            <a:off x="4229176" y="4156259"/>
            <a:ext cx="875002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统一业务底座</a:t>
            </a:r>
          </a:p>
        </p:txBody>
      </p:sp>
      <p:sp>
        <p:nvSpPr>
          <p:cNvPr id="106" name="body_text"/>
          <p:cNvSpPr txBox="1"/>
          <p:nvPr/>
        </p:nvSpPr>
        <p:spPr>
          <a:xfrm>
            <a:off x="4229176" y="4338551"/>
            <a:ext cx="875002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业务驱动·场景普惠</a:t>
            </a:r>
          </a:p>
        </p:txBody>
      </p:sp>
      <p:sp>
        <p:nvSpPr>
          <p:cNvPr id="107" name="body_text"/>
          <p:cNvSpPr txBox="1"/>
          <p:nvPr/>
        </p:nvSpPr>
        <p:spPr>
          <a:xfrm>
            <a:off x="5468762" y="4156259"/>
            <a:ext cx="875002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统一数据底座</a:t>
            </a:r>
          </a:p>
        </p:txBody>
      </p:sp>
      <p:sp>
        <p:nvSpPr>
          <p:cNvPr id="108" name="body_text"/>
          <p:cNvSpPr txBox="1"/>
          <p:nvPr/>
        </p:nvSpPr>
        <p:spPr>
          <a:xfrm>
            <a:off x="5468762" y="4338551"/>
            <a:ext cx="875002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数据融合·知识增强</a:t>
            </a:r>
          </a:p>
        </p:txBody>
      </p:sp>
      <p:sp>
        <p:nvSpPr>
          <p:cNvPr id="109" name="body_text"/>
          <p:cNvSpPr txBox="1"/>
          <p:nvPr/>
        </p:nvSpPr>
        <p:spPr>
          <a:xfrm>
            <a:off x="6708349" y="4156259"/>
            <a:ext cx="875002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统一技术底座</a:t>
            </a:r>
          </a:p>
        </p:txBody>
      </p:sp>
      <p:sp>
        <p:nvSpPr>
          <p:cNvPr id="110" name="body_text"/>
          <p:cNvSpPr txBox="1"/>
          <p:nvPr/>
        </p:nvSpPr>
        <p:spPr>
          <a:xfrm>
            <a:off x="6708349" y="4338551"/>
            <a:ext cx="875002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算法领先·工程可靠</a:t>
            </a:r>
          </a:p>
        </p:txBody>
      </p:sp>
      <p:sp>
        <p:nvSpPr>
          <p:cNvPr id="111" name="body_text"/>
          <p:cNvSpPr txBox="1"/>
          <p:nvPr/>
        </p:nvSpPr>
        <p:spPr>
          <a:xfrm>
            <a:off x="4739594" y="4958344"/>
            <a:ext cx="2712506" cy="21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8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全域数据融合与知识沉淀</a:t>
            </a:r>
          </a:p>
        </p:txBody>
      </p:sp>
      <p:sp>
        <p:nvSpPr>
          <p:cNvPr id="112" name="body_text"/>
          <p:cNvSpPr txBox="1"/>
          <p:nvPr/>
        </p:nvSpPr>
        <p:spPr>
          <a:xfrm>
            <a:off x="3281257" y="5250012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电网生产域</a:t>
            </a:r>
          </a:p>
        </p:txBody>
      </p:sp>
      <p:sp>
        <p:nvSpPr>
          <p:cNvPr id="113" name="body_text"/>
          <p:cNvSpPr txBox="1"/>
          <p:nvPr/>
        </p:nvSpPr>
        <p:spPr>
          <a:xfrm>
            <a:off x="4375010" y="5250012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设备资产域</a:t>
            </a:r>
          </a:p>
        </p:txBody>
      </p:sp>
      <p:sp>
        <p:nvSpPr>
          <p:cNvPr id="114" name="body_text"/>
          <p:cNvSpPr txBox="1"/>
          <p:nvPr/>
        </p:nvSpPr>
        <p:spPr>
          <a:xfrm>
            <a:off x="5468762" y="5250012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营销服务域</a:t>
            </a:r>
          </a:p>
        </p:txBody>
      </p:sp>
      <p:sp>
        <p:nvSpPr>
          <p:cNvPr id="115" name="body_text"/>
          <p:cNvSpPr txBox="1"/>
          <p:nvPr/>
        </p:nvSpPr>
        <p:spPr>
          <a:xfrm>
            <a:off x="6562515" y="5250012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安全管理域</a:t>
            </a:r>
          </a:p>
        </p:txBody>
      </p:sp>
      <p:sp>
        <p:nvSpPr>
          <p:cNvPr id="116" name="body_text"/>
          <p:cNvSpPr txBox="1"/>
          <p:nvPr/>
        </p:nvSpPr>
        <p:spPr>
          <a:xfrm>
            <a:off x="7656267" y="5250012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外部环境域</a:t>
            </a:r>
          </a:p>
        </p:txBody>
      </p:sp>
      <p:sp>
        <p:nvSpPr>
          <p:cNvPr id="117" name="body_text"/>
          <p:cNvSpPr txBox="1"/>
          <p:nvPr/>
        </p:nvSpPr>
        <p:spPr>
          <a:xfrm>
            <a:off x="364584" y="3791675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业务生态</a:t>
            </a:r>
          </a:p>
        </p:txBody>
      </p:sp>
      <p:sp>
        <p:nvSpPr>
          <p:cNvPr id="118" name="body_text"/>
          <p:cNvSpPr txBox="1"/>
          <p:nvPr/>
        </p:nvSpPr>
        <p:spPr>
          <a:xfrm>
            <a:off x="364584" y="3973967"/>
            <a:ext cx="1020835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多业务域协同赋能</a:t>
            </a:r>
          </a:p>
        </p:txBody>
      </p:sp>
      <p:sp>
        <p:nvSpPr>
          <p:cNvPr id="119" name="body_text"/>
          <p:cNvSpPr txBox="1"/>
          <p:nvPr/>
        </p:nvSpPr>
        <p:spPr>
          <a:xfrm>
            <a:off x="364584" y="4520843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模型生态</a:t>
            </a:r>
          </a:p>
        </p:txBody>
      </p:sp>
      <p:sp>
        <p:nvSpPr>
          <p:cNvPr id="120" name="body_text"/>
          <p:cNvSpPr txBox="1"/>
          <p:nvPr/>
        </p:nvSpPr>
        <p:spPr>
          <a:xfrm>
            <a:off x="364584" y="4703136"/>
            <a:ext cx="1020835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多模态模型协同演进</a:t>
            </a:r>
          </a:p>
        </p:txBody>
      </p:sp>
      <p:sp>
        <p:nvSpPr>
          <p:cNvPr id="121" name="body_text"/>
          <p:cNvSpPr txBox="1"/>
          <p:nvPr/>
        </p:nvSpPr>
        <p:spPr>
          <a:xfrm>
            <a:off x="10806275" y="3791675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知识生态</a:t>
            </a:r>
          </a:p>
        </p:txBody>
      </p:sp>
      <p:sp>
        <p:nvSpPr>
          <p:cNvPr id="122" name="body_text"/>
          <p:cNvSpPr txBox="1"/>
          <p:nvPr/>
        </p:nvSpPr>
        <p:spPr>
          <a:xfrm>
            <a:off x="10806275" y="3973967"/>
            <a:ext cx="1020835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电力专业知识体系</a:t>
            </a:r>
          </a:p>
        </p:txBody>
      </p:sp>
      <p:sp>
        <p:nvSpPr>
          <p:cNvPr id="123" name="body_text"/>
          <p:cNvSpPr txBox="1"/>
          <p:nvPr/>
        </p:nvSpPr>
        <p:spPr>
          <a:xfrm>
            <a:off x="10806275" y="4520843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工具生态</a:t>
            </a:r>
          </a:p>
        </p:txBody>
      </p:sp>
      <p:sp>
        <p:nvSpPr>
          <p:cNvPr id="124" name="body_text"/>
          <p:cNvSpPr txBox="1"/>
          <p:nvPr/>
        </p:nvSpPr>
        <p:spPr>
          <a:xfrm>
            <a:off x="10806275" y="4703136"/>
            <a:ext cx="1020835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工具链与应用集成</a:t>
            </a:r>
          </a:p>
        </p:txBody>
      </p:sp>
      <p:sp>
        <p:nvSpPr>
          <p:cNvPr id="125" name="body_text"/>
          <p:cNvSpPr txBox="1"/>
          <p:nvPr/>
        </p:nvSpPr>
        <p:spPr>
          <a:xfrm>
            <a:off x="218750" y="5687513"/>
            <a:ext cx="729168" cy="437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77" b="1" i="0">
                <a:solidFill>
                  <a:srgbClr val="FFAA00"/>
                </a:solidFill>
                <a:latin typeface="Microsoft YaHei"/>
                <a:ea typeface="Microsoft YaHei"/>
                <a:cs typeface="Microsoft YaHei"/>
              </a:rPr>
              <a:t>演进路径</a:t>
            </a:r>
          </a:p>
        </p:txBody>
      </p:sp>
      <p:sp>
        <p:nvSpPr>
          <p:cNvPr id="126" name="body_text"/>
          <p:cNvSpPr txBox="1"/>
          <p:nvPr/>
        </p:nvSpPr>
        <p:spPr>
          <a:xfrm>
            <a:off x="875002" y="6197931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服务化入口</a:t>
            </a:r>
          </a:p>
        </p:txBody>
      </p:sp>
      <p:sp>
        <p:nvSpPr>
          <p:cNvPr id="127" name="body_text"/>
          <p:cNvSpPr txBox="1"/>
          <p:nvPr/>
        </p:nvSpPr>
        <p:spPr>
          <a:xfrm>
            <a:off x="875002" y="6380223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打通能力入口</a:t>
            </a:r>
          </a:p>
        </p:txBody>
      </p:sp>
      <p:sp>
        <p:nvSpPr>
          <p:cNvPr id="128" name="body_text"/>
          <p:cNvSpPr txBox="1"/>
          <p:nvPr/>
        </p:nvSpPr>
        <p:spPr>
          <a:xfrm>
            <a:off x="1968754" y="6197931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规模化跃升</a:t>
            </a:r>
          </a:p>
        </p:txBody>
      </p:sp>
      <p:sp>
        <p:nvSpPr>
          <p:cNvPr id="129" name="body_text"/>
          <p:cNvSpPr txBox="1"/>
          <p:nvPr/>
        </p:nvSpPr>
        <p:spPr>
          <a:xfrm>
            <a:off x="1968754" y="6380223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提升模型规模</a:t>
            </a:r>
          </a:p>
        </p:txBody>
      </p:sp>
      <p:sp>
        <p:nvSpPr>
          <p:cNvPr id="130" name="body_text"/>
          <p:cNvSpPr txBox="1"/>
          <p:nvPr/>
        </p:nvSpPr>
        <p:spPr>
          <a:xfrm>
            <a:off x="3062507" y="6197931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行业专业化</a:t>
            </a:r>
          </a:p>
        </p:txBody>
      </p:sp>
      <p:sp>
        <p:nvSpPr>
          <p:cNvPr id="131" name="body_text"/>
          <p:cNvSpPr txBox="1"/>
          <p:nvPr/>
        </p:nvSpPr>
        <p:spPr>
          <a:xfrm>
            <a:off x="3062507" y="6380223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深耕电力场景</a:t>
            </a:r>
          </a:p>
        </p:txBody>
      </p:sp>
      <p:sp>
        <p:nvSpPr>
          <p:cNvPr id="132" name="body_text"/>
          <p:cNvSpPr txBox="1"/>
          <p:nvPr/>
        </p:nvSpPr>
        <p:spPr>
          <a:xfrm>
            <a:off x="4156259" y="6197931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架构协同化</a:t>
            </a:r>
          </a:p>
        </p:txBody>
      </p:sp>
      <p:sp>
        <p:nvSpPr>
          <p:cNvPr id="133" name="body_text"/>
          <p:cNvSpPr txBox="1"/>
          <p:nvPr/>
        </p:nvSpPr>
        <p:spPr>
          <a:xfrm>
            <a:off x="4156259" y="6380223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专家协同智能</a:t>
            </a:r>
          </a:p>
        </p:txBody>
      </p:sp>
      <p:sp>
        <p:nvSpPr>
          <p:cNvPr id="134" name="body_text"/>
          <p:cNvSpPr txBox="1"/>
          <p:nvPr/>
        </p:nvSpPr>
        <p:spPr>
          <a:xfrm>
            <a:off x="5250012" y="6197931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推理原生化</a:t>
            </a:r>
          </a:p>
        </p:txBody>
      </p:sp>
      <p:sp>
        <p:nvSpPr>
          <p:cNvPr id="135" name="body_text"/>
          <p:cNvSpPr txBox="1"/>
          <p:nvPr/>
        </p:nvSpPr>
        <p:spPr>
          <a:xfrm>
            <a:off x="5250012" y="6380223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强化推理能力</a:t>
            </a:r>
          </a:p>
        </p:txBody>
      </p:sp>
      <p:sp>
        <p:nvSpPr>
          <p:cNvPr id="136" name="body_text"/>
          <p:cNvSpPr txBox="1"/>
          <p:nvPr/>
        </p:nvSpPr>
        <p:spPr>
          <a:xfrm>
            <a:off x="6343764" y="6197931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工业图纸化</a:t>
            </a:r>
          </a:p>
        </p:txBody>
      </p:sp>
      <p:sp>
        <p:nvSpPr>
          <p:cNvPr id="137" name="body_text"/>
          <p:cNvSpPr txBox="1"/>
          <p:nvPr/>
        </p:nvSpPr>
        <p:spPr>
          <a:xfrm>
            <a:off x="6343764" y="6380223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理解工程图纸</a:t>
            </a:r>
          </a:p>
        </p:txBody>
      </p:sp>
      <p:sp>
        <p:nvSpPr>
          <p:cNvPr id="138" name="body_text"/>
          <p:cNvSpPr txBox="1"/>
          <p:nvPr/>
        </p:nvSpPr>
        <p:spPr>
          <a:xfrm>
            <a:off x="7437517" y="6197931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拓扑认知化</a:t>
            </a:r>
          </a:p>
        </p:txBody>
      </p:sp>
      <p:sp>
        <p:nvSpPr>
          <p:cNvPr id="139" name="body_text"/>
          <p:cNvSpPr txBox="1"/>
          <p:nvPr/>
        </p:nvSpPr>
        <p:spPr>
          <a:xfrm>
            <a:off x="7437517" y="6380223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推理电网结构</a:t>
            </a:r>
          </a:p>
        </p:txBody>
      </p:sp>
      <p:sp>
        <p:nvSpPr>
          <p:cNvPr id="140" name="body_text"/>
          <p:cNvSpPr txBox="1"/>
          <p:nvPr/>
        </p:nvSpPr>
        <p:spPr>
          <a:xfrm>
            <a:off x="8531269" y="6197931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世界模型化</a:t>
            </a:r>
          </a:p>
        </p:txBody>
      </p:sp>
      <p:sp>
        <p:nvSpPr>
          <p:cNvPr id="141" name="body_text"/>
          <p:cNvSpPr txBox="1"/>
          <p:nvPr/>
        </p:nvSpPr>
        <p:spPr>
          <a:xfrm>
            <a:off x="8531269" y="6380223"/>
            <a:ext cx="583334" cy="14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8" b="0" i="0">
                <a:solidFill>
                  <a:srgbClr val="AACCFF"/>
                </a:solidFill>
                <a:latin typeface="Microsoft YaHei"/>
                <a:ea typeface="Microsoft YaHei"/>
                <a:cs typeface="Microsoft YaHei"/>
              </a:rPr>
              <a:t>仿真推演决策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subject>Generated by bggg-creator-image2ppt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