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61474"/>
          </a:xfrm>
          <a:prstGeom prst="rect">
            <a:avLst/>
          </a:prstGeom>
          <a:solidFill>
            <a:srgbClr val="05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ard 1"/>
          <p:cNvSpPr/>
          <p:nvPr/>
        </p:nvSpPr>
        <p:spPr>
          <a:xfrm>
            <a:off x="291667" y="1531253"/>
            <a:ext cx="1312503" cy="2333338"/>
          </a:xfrm>
          <a:prstGeom prst="roundRect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2"/>
          <p:cNvSpPr/>
          <p:nvPr/>
        </p:nvSpPr>
        <p:spPr>
          <a:xfrm>
            <a:off x="1750004" y="1531253"/>
            <a:ext cx="1312503" cy="2333338"/>
          </a:xfrm>
          <a:prstGeom prst="roundRect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3"/>
          <p:cNvSpPr/>
          <p:nvPr/>
        </p:nvSpPr>
        <p:spPr>
          <a:xfrm>
            <a:off x="3208340" y="1531253"/>
            <a:ext cx="1312503" cy="2333338"/>
          </a:xfrm>
          <a:prstGeom prst="roundRect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4"/>
          <p:cNvSpPr/>
          <p:nvPr/>
        </p:nvSpPr>
        <p:spPr>
          <a:xfrm>
            <a:off x="4666677" y="1531253"/>
            <a:ext cx="1312503" cy="2333338"/>
          </a:xfrm>
          <a:prstGeom prst="roundRect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5"/>
          <p:cNvSpPr/>
          <p:nvPr/>
        </p:nvSpPr>
        <p:spPr>
          <a:xfrm>
            <a:off x="6125014" y="1531253"/>
            <a:ext cx="1312503" cy="2333338"/>
          </a:xfrm>
          <a:prstGeom prst="roundRect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6"/>
          <p:cNvSpPr/>
          <p:nvPr/>
        </p:nvSpPr>
        <p:spPr>
          <a:xfrm>
            <a:off x="7583351" y="1531253"/>
            <a:ext cx="1312503" cy="2333338"/>
          </a:xfrm>
          <a:prstGeom prst="roundRect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 7"/>
          <p:cNvSpPr/>
          <p:nvPr/>
        </p:nvSpPr>
        <p:spPr>
          <a:xfrm>
            <a:off x="9041687" y="1531253"/>
            <a:ext cx="1312503" cy="2333338"/>
          </a:xfrm>
          <a:prstGeom prst="roundRect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8"/>
          <p:cNvSpPr/>
          <p:nvPr/>
        </p:nvSpPr>
        <p:spPr>
          <a:xfrm>
            <a:off x="10500024" y="1531253"/>
            <a:ext cx="1312503" cy="2333338"/>
          </a:xfrm>
          <a:prstGeom prst="roundRect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ide Box Left 1"/>
          <p:cNvSpPr/>
          <p:nvPr/>
        </p:nvSpPr>
        <p:spPr>
          <a:xfrm>
            <a:off x="291667" y="4083342"/>
            <a:ext cx="1166669" cy="437501"/>
          </a:xfrm>
          <a:prstGeom prst="roundRect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ide Box Left 2"/>
          <p:cNvSpPr/>
          <p:nvPr/>
        </p:nvSpPr>
        <p:spPr>
          <a:xfrm>
            <a:off x="291667" y="4666677"/>
            <a:ext cx="1166669" cy="437501"/>
          </a:xfrm>
          <a:prstGeom prst="roundRect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ide Box Right 1"/>
          <p:cNvSpPr/>
          <p:nvPr/>
        </p:nvSpPr>
        <p:spPr>
          <a:xfrm>
            <a:off x="10733358" y="4083342"/>
            <a:ext cx="1166669" cy="437501"/>
          </a:xfrm>
          <a:prstGeom prst="roundRect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ide Box Right 2"/>
          <p:cNvSpPr/>
          <p:nvPr/>
        </p:nvSpPr>
        <p:spPr>
          <a:xfrm>
            <a:off x="10733358" y="4666677"/>
            <a:ext cx="1166669" cy="437501"/>
          </a:xfrm>
          <a:prstGeom prst="roundRect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nner Oval 1"/>
          <p:cNvSpPr/>
          <p:nvPr/>
        </p:nvSpPr>
        <p:spPr>
          <a:xfrm>
            <a:off x="2916673" y="3864592"/>
            <a:ext cx="1604170" cy="437501"/>
          </a:xfrm>
          <a:prstGeom prst="ellipse">
            <a:avLst/>
          </a:prstGeom>
          <a:solidFill>
            <a:srgbClr val="003366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ner Oval 2"/>
          <p:cNvSpPr/>
          <p:nvPr/>
        </p:nvSpPr>
        <p:spPr>
          <a:xfrm>
            <a:off x="5250012" y="3864592"/>
            <a:ext cx="1604170" cy="437501"/>
          </a:xfrm>
          <a:prstGeom prst="ellipse">
            <a:avLst/>
          </a:prstGeom>
          <a:solidFill>
            <a:srgbClr val="003366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nner Oval 3"/>
          <p:cNvSpPr/>
          <p:nvPr/>
        </p:nvSpPr>
        <p:spPr>
          <a:xfrm>
            <a:off x="7583351" y="3864592"/>
            <a:ext cx="1604170" cy="437501"/>
          </a:xfrm>
          <a:prstGeom prst="ellipse">
            <a:avLst/>
          </a:prstGeom>
          <a:solidFill>
            <a:srgbClr val="003366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ttom Icon Circle 1"/>
          <p:cNvSpPr/>
          <p:nvPr/>
        </p:nvSpPr>
        <p:spPr>
          <a:xfrm>
            <a:off x="984377" y="5687513"/>
            <a:ext cx="583334" cy="583334"/>
          </a:xfrm>
          <a:prstGeom prst="ellipse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ottom Icon Circle 2"/>
          <p:cNvSpPr/>
          <p:nvPr/>
        </p:nvSpPr>
        <p:spPr>
          <a:xfrm>
            <a:off x="2442714" y="5687513"/>
            <a:ext cx="583334" cy="583334"/>
          </a:xfrm>
          <a:prstGeom prst="ellipse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ttom Icon Circle 3"/>
          <p:cNvSpPr/>
          <p:nvPr/>
        </p:nvSpPr>
        <p:spPr>
          <a:xfrm>
            <a:off x="3901050" y="5687513"/>
            <a:ext cx="583334" cy="583334"/>
          </a:xfrm>
          <a:prstGeom prst="ellipse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ttom Icon Circle 4"/>
          <p:cNvSpPr/>
          <p:nvPr/>
        </p:nvSpPr>
        <p:spPr>
          <a:xfrm>
            <a:off x="5359387" y="5687513"/>
            <a:ext cx="583334" cy="583334"/>
          </a:xfrm>
          <a:prstGeom prst="ellipse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ttom Icon Circle 5"/>
          <p:cNvSpPr/>
          <p:nvPr/>
        </p:nvSpPr>
        <p:spPr>
          <a:xfrm>
            <a:off x="6817724" y="5687513"/>
            <a:ext cx="583334" cy="583334"/>
          </a:xfrm>
          <a:prstGeom prst="ellipse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ttom Icon Circle 6"/>
          <p:cNvSpPr/>
          <p:nvPr/>
        </p:nvSpPr>
        <p:spPr>
          <a:xfrm>
            <a:off x="8276061" y="5687513"/>
            <a:ext cx="583334" cy="583334"/>
          </a:xfrm>
          <a:prstGeom prst="ellipse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ttom Icon Circle 7"/>
          <p:cNvSpPr/>
          <p:nvPr/>
        </p:nvSpPr>
        <p:spPr>
          <a:xfrm>
            <a:off x="9734397" y="5687513"/>
            <a:ext cx="583334" cy="583334"/>
          </a:xfrm>
          <a:prstGeom prst="ellipse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ottom Icon Circle 8"/>
          <p:cNvSpPr/>
          <p:nvPr/>
        </p:nvSpPr>
        <p:spPr>
          <a:xfrm>
            <a:off x="11192734" y="5687513"/>
            <a:ext cx="583334" cy="583334"/>
          </a:xfrm>
          <a:prstGeom prst="ellipse">
            <a:avLst/>
          </a:prstGeom>
          <a:solidFill>
            <a:srgbClr val="0A1E3D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ackground_pylons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87505" cy="2187505"/>
          </a:xfrm>
          <a:prstGeom prst="rect">
            <a:avLst/>
          </a:prstGeom>
        </p:spPr>
      </p:pic>
      <p:pic>
        <p:nvPicPr>
          <p:cNvPr id="27" name="Picture 26" descr="background_pylons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188" y="0"/>
            <a:ext cx="2712506" cy="1458336"/>
          </a:xfrm>
          <a:prstGeom prst="rect">
            <a:avLst/>
          </a:prstGeom>
        </p:spPr>
      </p:pic>
      <p:pic>
        <p:nvPicPr>
          <p:cNvPr id="28" name="Picture 27" descr="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8357" y="145833"/>
            <a:ext cx="1822920" cy="1458336"/>
          </a:xfrm>
          <a:prstGeom prst="rect">
            <a:avLst/>
          </a:prstGeom>
        </p:spPr>
      </p:pic>
      <p:pic>
        <p:nvPicPr>
          <p:cNvPr id="29" name="Picture 28" descr="icon_pl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68" y="2187505"/>
            <a:ext cx="437501" cy="437501"/>
          </a:xfrm>
          <a:prstGeom prst="rect">
            <a:avLst/>
          </a:prstGeom>
        </p:spPr>
      </p:pic>
      <p:pic>
        <p:nvPicPr>
          <p:cNvPr id="30" name="Picture 29" descr="icon_server_st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7505" y="2187505"/>
            <a:ext cx="437501" cy="437501"/>
          </a:xfrm>
          <a:prstGeom prst="rect">
            <a:avLst/>
          </a:prstGeom>
        </p:spPr>
      </p:pic>
      <p:pic>
        <p:nvPicPr>
          <p:cNvPr id="31" name="Picture 30" descr="icon_transform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5841" y="2187505"/>
            <a:ext cx="437501" cy="437501"/>
          </a:xfrm>
          <a:prstGeom prst="rect">
            <a:avLst/>
          </a:prstGeom>
        </p:spPr>
      </p:pic>
      <p:pic>
        <p:nvPicPr>
          <p:cNvPr id="32" name="Picture 31" descr="icon_network_nod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4178" y="2187505"/>
            <a:ext cx="437501" cy="437501"/>
          </a:xfrm>
          <a:prstGeom prst="rect">
            <a:avLst/>
          </a:prstGeom>
        </p:spPr>
      </p:pic>
      <p:pic>
        <p:nvPicPr>
          <p:cNvPr id="33" name="Picture 32" descr="icon_brain__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2515" y="2187505"/>
            <a:ext cx="437501" cy="437501"/>
          </a:xfrm>
          <a:prstGeom prst="rect">
            <a:avLst/>
          </a:prstGeom>
        </p:spPr>
      </p:pic>
      <p:pic>
        <p:nvPicPr>
          <p:cNvPr id="34" name="Picture 33" descr="icon_bluepri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0852" y="2187505"/>
            <a:ext cx="437501" cy="437501"/>
          </a:xfrm>
          <a:prstGeom prst="rect">
            <a:avLst/>
          </a:prstGeom>
        </p:spPr>
      </p:pic>
      <p:pic>
        <p:nvPicPr>
          <p:cNvPr id="35" name="Picture 34" descr="icon_molecu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9188" y="2187505"/>
            <a:ext cx="437501" cy="437501"/>
          </a:xfrm>
          <a:prstGeom prst="rect">
            <a:avLst/>
          </a:prstGeom>
        </p:spPr>
      </p:pic>
      <p:pic>
        <p:nvPicPr>
          <p:cNvPr id="36" name="Picture 35" descr="icon_globe__pyl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37525" y="2187505"/>
            <a:ext cx="437501" cy="437501"/>
          </a:xfrm>
          <a:prstGeom prst="rect">
            <a:avLst/>
          </a:prstGeom>
        </p:spPr>
      </p:pic>
      <p:pic>
        <p:nvPicPr>
          <p:cNvPr id="37" name="Picture 36" descr="icon_people_grou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501" y="4156259"/>
            <a:ext cx="291667" cy="291667"/>
          </a:xfrm>
          <a:prstGeom prst="rect">
            <a:avLst/>
          </a:prstGeom>
        </p:spPr>
      </p:pic>
      <p:pic>
        <p:nvPicPr>
          <p:cNvPr id="38" name="Picture 37" descr="icon_cub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501" y="4739594"/>
            <a:ext cx="291667" cy="291667"/>
          </a:xfrm>
          <a:prstGeom prst="rect">
            <a:avLst/>
          </a:prstGeom>
        </p:spPr>
      </p:pic>
      <p:pic>
        <p:nvPicPr>
          <p:cNvPr id="39" name="Picture 38" descr="icon_boo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62526" y="4156259"/>
            <a:ext cx="291667" cy="291667"/>
          </a:xfrm>
          <a:prstGeom prst="rect">
            <a:avLst/>
          </a:prstGeom>
        </p:spPr>
      </p:pic>
      <p:pic>
        <p:nvPicPr>
          <p:cNvPr id="40" name="Picture 39" descr="icon_wrenchgea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62526" y="4739594"/>
            <a:ext cx="291667" cy="291667"/>
          </a:xfrm>
          <a:prstGeom prst="rect">
            <a:avLst/>
          </a:prstGeom>
        </p:spPr>
      </p:pic>
      <p:pic>
        <p:nvPicPr>
          <p:cNvPr id="41" name="Picture 40" descr="icon_doorentr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6669" y="5687513"/>
            <a:ext cx="364584" cy="364584"/>
          </a:xfrm>
          <a:prstGeom prst="rect">
            <a:avLst/>
          </a:prstGeom>
        </p:spPr>
      </p:pic>
      <p:pic>
        <p:nvPicPr>
          <p:cNvPr id="42" name="Picture 41" descr="icon_bar_char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25006" y="5687513"/>
            <a:ext cx="364584" cy="364584"/>
          </a:xfrm>
          <a:prstGeom prst="rect">
            <a:avLst/>
          </a:prstGeom>
        </p:spPr>
      </p:pic>
      <p:pic>
        <p:nvPicPr>
          <p:cNvPr id="43" name="Picture 42" descr="icon_pylon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83342" y="5687513"/>
            <a:ext cx="364584" cy="364584"/>
          </a:xfrm>
          <a:prstGeom prst="rect">
            <a:avLst/>
          </a:prstGeom>
        </p:spPr>
      </p:pic>
      <p:pic>
        <p:nvPicPr>
          <p:cNvPr id="44" name="Picture 43" descr="icon_people_network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41679" y="5687513"/>
            <a:ext cx="364584" cy="364584"/>
          </a:xfrm>
          <a:prstGeom prst="rect">
            <a:avLst/>
          </a:prstGeom>
        </p:spPr>
      </p:pic>
      <p:pic>
        <p:nvPicPr>
          <p:cNvPr id="45" name="Picture 44" descr="icon_brain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00016" y="5687513"/>
            <a:ext cx="364584" cy="364584"/>
          </a:xfrm>
          <a:prstGeom prst="rect">
            <a:avLst/>
          </a:prstGeom>
        </p:spPr>
      </p:pic>
      <p:pic>
        <p:nvPicPr>
          <p:cNvPr id="46" name="Picture 45" descr="icon_bluepri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8353" y="5687513"/>
            <a:ext cx="364584" cy="364584"/>
          </a:xfrm>
          <a:prstGeom prst="rect">
            <a:avLst/>
          </a:prstGeom>
        </p:spPr>
      </p:pic>
      <p:pic>
        <p:nvPicPr>
          <p:cNvPr id="47" name="Picture 46" descr="icon_network_nod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6689" y="5687513"/>
            <a:ext cx="364584" cy="364584"/>
          </a:xfrm>
          <a:prstGeom prst="rect">
            <a:avLst/>
          </a:prstGeom>
        </p:spPr>
      </p:pic>
      <p:pic>
        <p:nvPicPr>
          <p:cNvPr id="48" name="Picture 47" descr="icon_glob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75026" y="5687513"/>
            <a:ext cx="364584" cy="364584"/>
          </a:xfrm>
          <a:prstGeom prst="rect">
            <a:avLst/>
          </a:prstGeom>
        </p:spPr>
      </p:pic>
      <p:sp>
        <p:nvSpPr>
          <p:cNvPr id="49" name="titles"/>
          <p:cNvSpPr txBox="1"/>
          <p:nvPr/>
        </p:nvSpPr>
        <p:spPr>
          <a:xfrm>
            <a:off x="3281257" y="218750"/>
            <a:ext cx="5629179" cy="58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1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“大瓦特” 演进路线图</a:t>
            </a:r>
          </a:p>
        </p:txBody>
      </p:sp>
      <p:sp>
        <p:nvSpPr>
          <p:cNvPr id="50" name="titles"/>
          <p:cNvSpPr txBox="1"/>
          <p:nvPr/>
        </p:nvSpPr>
        <p:spPr>
          <a:xfrm>
            <a:off x="4958344" y="838543"/>
            <a:ext cx="2275005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7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51" name="titles"/>
          <p:cNvSpPr txBox="1"/>
          <p:nvPr/>
        </p:nvSpPr>
        <p:spPr>
          <a:xfrm>
            <a:off x="4375010" y="1130210"/>
            <a:ext cx="3441674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52" name="titles"/>
          <p:cNvSpPr txBox="1"/>
          <p:nvPr/>
        </p:nvSpPr>
        <p:spPr>
          <a:xfrm>
            <a:off x="4739594" y="3645841"/>
            <a:ext cx="2712506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37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53" name="titles"/>
          <p:cNvSpPr txBox="1"/>
          <p:nvPr/>
        </p:nvSpPr>
        <p:spPr>
          <a:xfrm>
            <a:off x="291667" y="5687513"/>
            <a:ext cx="729168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6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54" name="body_text"/>
          <p:cNvSpPr txBox="1"/>
          <p:nvPr/>
        </p:nvSpPr>
        <p:spPr>
          <a:xfrm>
            <a:off x="729168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5" name="body_text"/>
          <p:cNvSpPr txBox="1"/>
          <p:nvPr/>
        </p:nvSpPr>
        <p:spPr>
          <a:xfrm>
            <a:off x="2187505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6" name="body_text"/>
          <p:cNvSpPr txBox="1"/>
          <p:nvPr/>
        </p:nvSpPr>
        <p:spPr>
          <a:xfrm>
            <a:off x="3645841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7" name="body_text"/>
          <p:cNvSpPr txBox="1"/>
          <p:nvPr/>
        </p:nvSpPr>
        <p:spPr>
          <a:xfrm>
            <a:off x="5104178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8" name="body_text"/>
          <p:cNvSpPr txBox="1"/>
          <p:nvPr/>
        </p:nvSpPr>
        <p:spPr>
          <a:xfrm>
            <a:off x="6562515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9" name="body_text"/>
          <p:cNvSpPr txBox="1"/>
          <p:nvPr/>
        </p:nvSpPr>
        <p:spPr>
          <a:xfrm>
            <a:off x="8020852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0" name="body_text"/>
          <p:cNvSpPr txBox="1"/>
          <p:nvPr/>
        </p:nvSpPr>
        <p:spPr>
          <a:xfrm>
            <a:off x="9479188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1" name="body_text"/>
          <p:cNvSpPr txBox="1"/>
          <p:nvPr/>
        </p:nvSpPr>
        <p:spPr>
          <a:xfrm>
            <a:off x="10937525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2" name="body_text"/>
          <p:cNvSpPr txBox="1"/>
          <p:nvPr/>
        </p:nvSpPr>
        <p:spPr>
          <a:xfrm>
            <a:off x="291667" y="1531253"/>
            <a:ext cx="1312503" cy="2333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2025.05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建成南网首个，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电力多模态能力入口，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成功适配国产算力，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实现全自主安全可控。</a:t>
            </a:r>
          </a:p>
        </p:txBody>
      </p:sp>
      <p:sp>
        <p:nvSpPr>
          <p:cNvPr id="63" name="body_text"/>
          <p:cNvSpPr txBox="1"/>
          <p:nvPr/>
        </p:nvSpPr>
        <p:spPr>
          <a:xfrm>
            <a:off x="1750004" y="1531253"/>
            <a:ext cx="1312503" cy="2333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底座全面迭代升级，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正式备千亿级参参数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规模模型能力。</a:t>
            </a:r>
          </a:p>
        </p:txBody>
      </p:sp>
      <p:sp>
        <p:nvSpPr>
          <p:cNvPr id="64" name="body_text"/>
          <p:cNvSpPr txBox="1"/>
          <p:nvPr/>
        </p:nvSpPr>
        <p:spPr>
          <a:xfrm>
            <a:off x="3208340" y="1531253"/>
            <a:ext cx="1312503" cy="2333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完成72B行业微调模型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全面升级，强化电力专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业能力，高效流转典型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业务场景。</a:t>
            </a:r>
          </a:p>
        </p:txBody>
      </p:sp>
      <p:sp>
        <p:nvSpPr>
          <p:cNvPr id="65" name="body_text"/>
          <p:cNvSpPr txBox="1"/>
          <p:nvPr/>
        </p:nvSpPr>
        <p:spPr>
          <a:xfrm>
            <a:off x="4666677" y="1531253"/>
            <a:ext cx="1312503" cy="2333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上线 MoE 架构微调模型，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实现专家协同、任务分流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和多业务域协同，按需漏调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用专业能力。</a:t>
            </a:r>
          </a:p>
        </p:txBody>
      </p:sp>
      <p:sp>
        <p:nvSpPr>
          <p:cNvPr id="66" name="body_text"/>
          <p:cNvSpPr txBox="1"/>
          <p:nvPr/>
        </p:nvSpPr>
        <p:spPr>
          <a:xfrm>
            <a:off x="6125014" y="1531253"/>
            <a:ext cx="1312503" cy="2333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引入强化学习与慢思考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机制，增强逻辑推理、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知识增强和工具调用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能力。</a:t>
            </a:r>
          </a:p>
        </p:txBody>
      </p:sp>
      <p:sp>
        <p:nvSpPr>
          <p:cNvPr id="67" name="body_text"/>
          <p:cNvSpPr txBox="1"/>
          <p:nvPr/>
        </p:nvSpPr>
        <p:spPr>
          <a:xfrm>
            <a:off x="7583351" y="1531253"/>
            <a:ext cx="1312503" cy="2333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行业首发电力多模态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工业图纸模型，具备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图纸解析、规则校核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和辅助设计能力。</a:t>
            </a:r>
          </a:p>
        </p:txBody>
      </p:sp>
      <p:sp>
        <p:nvSpPr>
          <p:cNvPr id="68" name="body_text"/>
          <p:cNvSpPr txBox="1"/>
          <p:nvPr/>
        </p:nvSpPr>
        <p:spPr>
          <a:xfrm>
            <a:off x="9041687" y="1531253"/>
            <a:ext cx="1312503" cy="2333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融合多源数据，构建“图像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—设备—空间—拓扑”联合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推理能力，形成电力行业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结构化认知壁垒。</a:t>
            </a:r>
          </a:p>
        </p:txBody>
      </p:sp>
      <p:sp>
        <p:nvSpPr>
          <p:cNvPr id="69" name="body_text"/>
          <p:cNvSpPr txBox="1"/>
          <p:nvPr/>
        </p:nvSpPr>
        <p:spPr>
          <a:xfrm>
            <a:off x="10500024" y="1531253"/>
            <a:ext cx="1312503" cy="2333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发布电力多模态世界模型，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实现物理仿真与智能推演、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从理解现场迈向推演现场、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辅助决策。</a:t>
            </a:r>
          </a:p>
        </p:txBody>
      </p:sp>
      <p:sp>
        <p:nvSpPr>
          <p:cNvPr id="70" name="body_text"/>
          <p:cNvSpPr txBox="1"/>
          <p:nvPr/>
        </p:nvSpPr>
        <p:spPr>
          <a:xfrm>
            <a:off x="5468762" y="3354174"/>
            <a:ext cx="1254169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71" name="body_text"/>
          <p:cNvSpPr txBox="1"/>
          <p:nvPr/>
        </p:nvSpPr>
        <p:spPr>
          <a:xfrm>
            <a:off x="2916673" y="3864592"/>
            <a:ext cx="1604170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业务驱动 · 场景普惠</a:t>
            </a:r>
          </a:p>
        </p:txBody>
      </p:sp>
      <p:sp>
        <p:nvSpPr>
          <p:cNvPr id="72" name="body_text"/>
          <p:cNvSpPr txBox="1"/>
          <p:nvPr/>
        </p:nvSpPr>
        <p:spPr>
          <a:xfrm>
            <a:off x="5250012" y="3864592"/>
            <a:ext cx="1604170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数据融合 · 知识增强</a:t>
            </a:r>
          </a:p>
        </p:txBody>
      </p:sp>
      <p:sp>
        <p:nvSpPr>
          <p:cNvPr id="73" name="body_text"/>
          <p:cNvSpPr txBox="1"/>
          <p:nvPr/>
        </p:nvSpPr>
        <p:spPr>
          <a:xfrm>
            <a:off x="7583351" y="3864592"/>
            <a:ext cx="1604170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算法领先 · 工程可靠</a:t>
            </a:r>
          </a:p>
        </p:txBody>
      </p:sp>
      <p:sp>
        <p:nvSpPr>
          <p:cNvPr id="74" name="body_text"/>
          <p:cNvSpPr txBox="1"/>
          <p:nvPr/>
        </p:nvSpPr>
        <p:spPr>
          <a:xfrm>
            <a:off x="4375010" y="4739594"/>
            <a:ext cx="3441674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</p:txBody>
      </p:sp>
      <p:sp>
        <p:nvSpPr>
          <p:cNvPr id="75" name="body_text"/>
          <p:cNvSpPr txBox="1"/>
          <p:nvPr/>
        </p:nvSpPr>
        <p:spPr>
          <a:xfrm>
            <a:off x="2552089" y="5104178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76" name="body_text"/>
          <p:cNvSpPr txBox="1"/>
          <p:nvPr/>
        </p:nvSpPr>
        <p:spPr>
          <a:xfrm>
            <a:off x="4010426" y="5104178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77" name="body_text"/>
          <p:cNvSpPr txBox="1"/>
          <p:nvPr/>
        </p:nvSpPr>
        <p:spPr>
          <a:xfrm>
            <a:off x="5468762" y="5104178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78" name="body_text"/>
          <p:cNvSpPr txBox="1"/>
          <p:nvPr/>
        </p:nvSpPr>
        <p:spPr>
          <a:xfrm>
            <a:off x="6927099" y="5104178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79" name="body_text"/>
          <p:cNvSpPr txBox="1"/>
          <p:nvPr/>
        </p:nvSpPr>
        <p:spPr>
          <a:xfrm>
            <a:off x="8385436" y="5104178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80" name="body_text"/>
          <p:cNvSpPr txBox="1"/>
          <p:nvPr/>
        </p:nvSpPr>
        <p:spPr>
          <a:xfrm>
            <a:off x="291667" y="4083342"/>
            <a:ext cx="1166669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81" name="body_text"/>
          <p:cNvSpPr txBox="1"/>
          <p:nvPr/>
        </p:nvSpPr>
        <p:spPr>
          <a:xfrm>
            <a:off x="291667" y="4666677"/>
            <a:ext cx="1166669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82" name="body_text"/>
          <p:cNvSpPr txBox="1"/>
          <p:nvPr/>
        </p:nvSpPr>
        <p:spPr>
          <a:xfrm>
            <a:off x="10733358" y="4083342"/>
            <a:ext cx="1166669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83" name="body_text"/>
          <p:cNvSpPr txBox="1"/>
          <p:nvPr/>
        </p:nvSpPr>
        <p:spPr>
          <a:xfrm>
            <a:off x="10733358" y="4666677"/>
            <a:ext cx="1166669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84" name="body_text"/>
          <p:cNvSpPr txBox="1"/>
          <p:nvPr/>
        </p:nvSpPr>
        <p:spPr>
          <a:xfrm>
            <a:off x="875002" y="6270848"/>
            <a:ext cx="875002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85" name="body_text"/>
          <p:cNvSpPr txBox="1"/>
          <p:nvPr/>
        </p:nvSpPr>
        <p:spPr>
          <a:xfrm>
            <a:off x="2333338" y="6270848"/>
            <a:ext cx="875002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86" name="body_text"/>
          <p:cNvSpPr txBox="1"/>
          <p:nvPr/>
        </p:nvSpPr>
        <p:spPr>
          <a:xfrm>
            <a:off x="3791675" y="6270848"/>
            <a:ext cx="875002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87" name="body_text"/>
          <p:cNvSpPr txBox="1"/>
          <p:nvPr/>
        </p:nvSpPr>
        <p:spPr>
          <a:xfrm>
            <a:off x="5250012" y="6270848"/>
            <a:ext cx="875002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88" name="body_text"/>
          <p:cNvSpPr txBox="1"/>
          <p:nvPr/>
        </p:nvSpPr>
        <p:spPr>
          <a:xfrm>
            <a:off x="6708349" y="6270848"/>
            <a:ext cx="875002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89" name="body_text"/>
          <p:cNvSpPr txBox="1"/>
          <p:nvPr/>
        </p:nvSpPr>
        <p:spPr>
          <a:xfrm>
            <a:off x="8166685" y="6270848"/>
            <a:ext cx="875002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90" name="body_text"/>
          <p:cNvSpPr txBox="1"/>
          <p:nvPr/>
        </p:nvSpPr>
        <p:spPr>
          <a:xfrm>
            <a:off x="9625022" y="6270848"/>
            <a:ext cx="875002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</p:txBody>
      </p:sp>
      <p:sp>
        <p:nvSpPr>
          <p:cNvPr id="91" name="body_text"/>
          <p:cNvSpPr txBox="1"/>
          <p:nvPr/>
        </p:nvSpPr>
        <p:spPr>
          <a:xfrm>
            <a:off x="11083359" y="6270848"/>
            <a:ext cx="875002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