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9521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95212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hape"/>
          <p:cNvSpPr/>
          <p:nvPr/>
        </p:nvSpPr>
        <p:spPr>
          <a:xfrm>
            <a:off x="203874" y="1121309"/>
            <a:ext cx="3873615" cy="4587176"/>
          </a:xfrm>
          <a:prstGeom prst="roundRect">
            <a:avLst/>
          </a:prstGeom>
          <a:solidFill>
            <a:srgbClr val="FFFFFF"/>
          </a:solidFill>
          <a:ln w="20387">
            <a:solidFill>
              <a:srgbClr val="CC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ape"/>
          <p:cNvSpPr/>
          <p:nvPr/>
        </p:nvSpPr>
        <p:spPr>
          <a:xfrm>
            <a:off x="4179427" y="1121309"/>
            <a:ext cx="3873615" cy="4587176"/>
          </a:xfrm>
          <a:prstGeom prst="roundRect">
            <a:avLst/>
          </a:prstGeom>
          <a:solidFill>
            <a:srgbClr val="FFFFFF"/>
          </a:solidFill>
          <a:ln w="20387">
            <a:solidFill>
              <a:srgbClr val="CC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hape"/>
          <p:cNvSpPr/>
          <p:nvPr/>
        </p:nvSpPr>
        <p:spPr>
          <a:xfrm>
            <a:off x="8154980" y="1121309"/>
            <a:ext cx="3873615" cy="4587176"/>
          </a:xfrm>
          <a:prstGeom prst="roundRect">
            <a:avLst/>
          </a:prstGeom>
          <a:solidFill>
            <a:srgbClr val="FFFFFF"/>
          </a:solidFill>
          <a:ln w="20387">
            <a:solidFill>
              <a:srgbClr val="CC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ape"/>
          <p:cNvSpPr/>
          <p:nvPr/>
        </p:nvSpPr>
        <p:spPr>
          <a:xfrm>
            <a:off x="305811" y="1172278"/>
            <a:ext cx="3669741" cy="407749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hape"/>
          <p:cNvSpPr/>
          <p:nvPr/>
        </p:nvSpPr>
        <p:spPr>
          <a:xfrm>
            <a:off x="4281364" y="1172278"/>
            <a:ext cx="3669741" cy="407749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ape"/>
          <p:cNvSpPr/>
          <p:nvPr/>
        </p:nvSpPr>
        <p:spPr>
          <a:xfrm>
            <a:off x="8256917" y="1172278"/>
            <a:ext cx="3669741" cy="407749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ape"/>
          <p:cNvSpPr/>
          <p:nvPr/>
        </p:nvSpPr>
        <p:spPr>
          <a:xfrm>
            <a:off x="3567803" y="5759454"/>
            <a:ext cx="2038745" cy="305811"/>
          </a:xfrm>
          <a:prstGeom prst="round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hape"/>
          <p:cNvSpPr/>
          <p:nvPr/>
        </p:nvSpPr>
        <p:spPr>
          <a:xfrm>
            <a:off x="8664666" y="5759454"/>
            <a:ext cx="2038745" cy="305811"/>
          </a:xfrm>
          <a:prstGeom prst="round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hape"/>
          <p:cNvSpPr/>
          <p:nvPr/>
        </p:nvSpPr>
        <p:spPr>
          <a:xfrm>
            <a:off x="4892988" y="4485239"/>
            <a:ext cx="2038745" cy="254843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shape"/>
          <p:cNvCxnSpPr/>
          <p:nvPr/>
        </p:nvCxnSpPr>
        <p:spPr>
          <a:xfrm>
            <a:off x="1019372" y="6218172"/>
            <a:ext cx="5096863" cy="20387"/>
          </a:xfrm>
          <a:prstGeom prst="line">
            <a:avLst/>
          </a:prstGeom>
          <a:ln w="20387">
            <a:solidFill>
              <a:srgbClr val="0055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hape"/>
          <p:cNvCxnSpPr/>
          <p:nvPr/>
        </p:nvCxnSpPr>
        <p:spPr>
          <a:xfrm>
            <a:off x="8358854" y="1630996"/>
            <a:ext cx="3261992" cy="20387"/>
          </a:xfrm>
          <a:prstGeom prst="line">
            <a:avLst/>
          </a:prstGeom>
          <a:ln w="10193">
            <a:solidFill>
              <a:srgbClr val="CC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column_1_circula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72" y="2038745"/>
            <a:ext cx="2038745" cy="2548431"/>
          </a:xfrm>
          <a:prstGeom prst="rect">
            <a:avLst/>
          </a:prstGeom>
        </p:spPr>
      </p:pic>
      <p:pic>
        <p:nvPicPr>
          <p:cNvPr id="15" name="Picture 14" descr="column_2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239" y="1630996"/>
            <a:ext cx="3261992" cy="3058117"/>
          </a:xfrm>
          <a:prstGeom prst="rect">
            <a:avLst/>
          </a:prstGeom>
        </p:spPr>
      </p:pic>
      <p:pic>
        <p:nvPicPr>
          <p:cNvPr id="16" name="Picture 15" descr="column_3_rag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854" y="1630996"/>
            <a:ext cx="3261992" cy="3058117"/>
          </a:xfrm>
          <a:prstGeom prst="rect">
            <a:avLst/>
          </a:prstGeom>
        </p:spPr>
      </p:pic>
      <p:pic>
        <p:nvPicPr>
          <p:cNvPr id="17" name="Picture 16" descr="bottom_left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98" y="6014297"/>
            <a:ext cx="6116235" cy="611623"/>
          </a:xfrm>
          <a:prstGeom prst="rect">
            <a:avLst/>
          </a:prstGeom>
        </p:spPr>
      </p:pic>
      <p:pic>
        <p:nvPicPr>
          <p:cNvPr id="18" name="Picture 17" descr="bottom_right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854" y="6116235"/>
            <a:ext cx="2446494" cy="509686"/>
          </a:xfrm>
          <a:prstGeom prst="rect">
            <a:avLst/>
          </a:prstGeom>
        </p:spPr>
      </p:pic>
      <p:pic>
        <p:nvPicPr>
          <p:cNvPr id="19" name="Picture 18" descr="robot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7176" y="4791050"/>
            <a:ext cx="407749" cy="407749"/>
          </a:xfrm>
          <a:prstGeom prst="rect">
            <a:avLst/>
          </a:prstGeom>
        </p:spPr>
      </p:pic>
      <p:pic>
        <p:nvPicPr>
          <p:cNvPr id="20" name="Picture 19" descr="shield_icon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7176" y="1834870"/>
            <a:ext cx="305811" cy="305811"/>
          </a:xfrm>
          <a:prstGeom prst="rect">
            <a:avLst/>
          </a:prstGeom>
        </p:spPr>
      </p:pic>
      <p:pic>
        <p:nvPicPr>
          <p:cNvPr id="21" name="Picture 20" descr="checkmark_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2729" y="4587176"/>
            <a:ext cx="407749" cy="407749"/>
          </a:xfrm>
          <a:prstGeom prst="rect">
            <a:avLst/>
          </a:prstGeom>
        </p:spPr>
      </p:pic>
      <p:sp>
        <p:nvSpPr>
          <p:cNvPr id="22" name="titles"/>
          <p:cNvSpPr txBox="1"/>
          <p:nvPr/>
        </p:nvSpPr>
        <p:spPr>
          <a:xfrm>
            <a:off x="1019372" y="254843"/>
            <a:ext cx="10152950" cy="5606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68" b="1" i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从深度对齐到安全可控：构建电力专属大模型价值观与工程护栏</a:t>
            </a:r>
          </a:p>
        </p:txBody>
      </p:sp>
      <p:sp>
        <p:nvSpPr>
          <p:cNvPr id="23" name="titles"/>
          <p:cNvSpPr txBox="1"/>
          <p:nvPr/>
        </p:nvSpPr>
        <p:spPr>
          <a:xfrm>
            <a:off x="305811" y="1172278"/>
            <a:ext cx="3669741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行业意图对齐 (RLHF / DPO)</a:t>
            </a:r>
          </a:p>
        </p:txBody>
      </p:sp>
      <p:sp>
        <p:nvSpPr>
          <p:cNvPr id="24" name="titles"/>
          <p:cNvSpPr txBox="1"/>
          <p:nvPr/>
        </p:nvSpPr>
        <p:spPr>
          <a:xfrm>
            <a:off x="4281364" y="1172278"/>
            <a:ext cx="3669741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原生安全护栏 (Guardrails)</a:t>
            </a:r>
          </a:p>
        </p:txBody>
      </p:sp>
      <p:sp>
        <p:nvSpPr>
          <p:cNvPr id="25" name="titles"/>
          <p:cNvSpPr txBox="1"/>
          <p:nvPr/>
        </p:nvSpPr>
        <p:spPr>
          <a:xfrm>
            <a:off x="8256917" y="1172278"/>
            <a:ext cx="3669741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知识增强与工程闭环 (RAG &amp; Harness)</a:t>
            </a:r>
          </a:p>
        </p:txBody>
      </p:sp>
      <p:sp>
        <p:nvSpPr>
          <p:cNvPr id="26" name="titles"/>
          <p:cNvSpPr txBox="1"/>
          <p:nvPr/>
        </p:nvSpPr>
        <p:spPr>
          <a:xfrm>
            <a:off x="3567803" y="5759454"/>
            <a:ext cx="2038745" cy="305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44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持续学习与安全闭环</a:t>
            </a:r>
          </a:p>
        </p:txBody>
      </p:sp>
      <p:sp>
        <p:nvSpPr>
          <p:cNvPr id="27" name="titles"/>
          <p:cNvSpPr txBox="1"/>
          <p:nvPr/>
        </p:nvSpPr>
        <p:spPr>
          <a:xfrm>
            <a:off x="8664666" y="5759454"/>
            <a:ext cx="2038745" cy="305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44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工程化闭环价值</a:t>
            </a:r>
          </a:p>
        </p:txBody>
      </p:sp>
      <p:sp>
        <p:nvSpPr>
          <p:cNvPr id="28" name="body_text"/>
          <p:cNvSpPr txBox="1"/>
          <p:nvPr/>
        </p:nvSpPr>
        <p:spPr>
          <a:xfrm>
            <a:off x="3567803" y="866466"/>
            <a:ext cx="5056087" cy="254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005588"/>
                </a:solidFill>
                <a:latin typeface="Microsoft YaHei"/>
                <a:ea typeface="Microsoft YaHei"/>
                <a:cs typeface="Microsoft YaHei"/>
              </a:rPr>
              <a:t>通过强化学习、安全护栏与知识增强，确保模型专业、可靠、可控</a:t>
            </a:r>
          </a:p>
        </p:txBody>
      </p:sp>
      <p:sp>
        <p:nvSpPr>
          <p:cNvPr id="29" name="body_text"/>
          <p:cNvSpPr txBox="1"/>
          <p:nvPr/>
        </p:nvSpPr>
        <p:spPr>
          <a:xfrm>
            <a:off x="407749" y="2038745"/>
            <a:ext cx="1019372" cy="15290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业务专家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安全专家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运行专家</a:t>
            </a:r>
          </a:p>
        </p:txBody>
      </p:sp>
      <p:sp>
        <p:nvSpPr>
          <p:cNvPr id="30" name="body_text"/>
          <p:cNvSpPr txBox="1"/>
          <p:nvPr/>
        </p:nvSpPr>
        <p:spPr>
          <a:xfrm>
            <a:off x="1834870" y="1834870"/>
            <a:ext cx="1019372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专家偏好反馈</a:t>
            </a:r>
          </a:p>
        </p:txBody>
      </p:sp>
      <p:sp>
        <p:nvSpPr>
          <p:cNvPr id="31" name="body_text"/>
          <p:cNvSpPr txBox="1"/>
          <p:nvPr/>
        </p:nvSpPr>
        <p:spPr>
          <a:xfrm>
            <a:off x="1019372" y="3058117"/>
            <a:ext cx="1019372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安全规则内化</a:t>
            </a:r>
          </a:p>
        </p:txBody>
      </p:sp>
      <p:sp>
        <p:nvSpPr>
          <p:cNvPr id="32" name="body_text"/>
          <p:cNvSpPr txBox="1"/>
          <p:nvPr/>
        </p:nvSpPr>
        <p:spPr>
          <a:xfrm>
            <a:off x="1630996" y="3261992"/>
            <a:ext cx="1019372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SFT基础能力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(多模态)</a:t>
            </a:r>
          </a:p>
        </p:txBody>
      </p:sp>
      <p:sp>
        <p:nvSpPr>
          <p:cNvPr id="33" name="body_text"/>
          <p:cNvSpPr txBox="1"/>
          <p:nvPr/>
        </p:nvSpPr>
        <p:spPr>
          <a:xfrm>
            <a:off x="2854243" y="3058117"/>
            <a:ext cx="1019372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奖励模型/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偏好优化</a:t>
            </a:r>
          </a:p>
        </p:txBody>
      </p:sp>
      <p:sp>
        <p:nvSpPr>
          <p:cNvPr id="34" name="body_text"/>
          <p:cNvSpPr txBox="1"/>
          <p:nvPr/>
        </p:nvSpPr>
        <p:spPr>
          <a:xfrm>
            <a:off x="1834870" y="4281364"/>
            <a:ext cx="1019372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现场经验对齐</a:t>
            </a:r>
          </a:p>
        </p:txBody>
      </p:sp>
      <p:sp>
        <p:nvSpPr>
          <p:cNvPr id="35" name="body_text"/>
          <p:cNvSpPr txBox="1"/>
          <p:nvPr/>
        </p:nvSpPr>
        <p:spPr>
          <a:xfrm>
            <a:off x="407749" y="4892988"/>
            <a:ext cx="3465866" cy="305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文本 图像 图纸 时序 结构化</a:t>
            </a:r>
          </a:p>
        </p:txBody>
      </p:sp>
      <p:sp>
        <p:nvSpPr>
          <p:cNvPr id="36" name="body_text"/>
          <p:cNvSpPr txBox="1"/>
          <p:nvPr/>
        </p:nvSpPr>
        <p:spPr>
          <a:xfrm>
            <a:off x="407749" y="5300737"/>
            <a:ext cx="3465866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005588"/>
                </a:solidFill>
                <a:latin typeface="Microsoft YaHei"/>
                <a:ea typeface="Microsoft YaHei"/>
                <a:cs typeface="Microsoft YaHei"/>
              </a:rPr>
              <a:t>让模型不仅答得对，更看得准、答得稳、答得像专家</a:t>
            </a:r>
          </a:p>
        </p:txBody>
      </p:sp>
      <p:sp>
        <p:nvSpPr>
          <p:cNvPr id="37" name="body_text"/>
          <p:cNvSpPr txBox="1"/>
          <p:nvPr/>
        </p:nvSpPr>
        <p:spPr>
          <a:xfrm>
            <a:off x="4892988" y="1732933"/>
            <a:ext cx="2038745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005588"/>
                </a:solidFill>
                <a:latin typeface="Microsoft YaHei"/>
                <a:ea typeface="Microsoft YaHei"/>
                <a:cs typeface="Microsoft YaHei"/>
              </a:rPr>
              <a:t>输入端（多模态过滤）</a:t>
            </a:r>
          </a:p>
        </p:txBody>
      </p:sp>
      <p:sp>
        <p:nvSpPr>
          <p:cNvPr id="38" name="body_text"/>
          <p:cNvSpPr txBox="1"/>
          <p:nvPr/>
        </p:nvSpPr>
        <p:spPr>
          <a:xfrm>
            <a:off x="4689113" y="2038745"/>
            <a:ext cx="3058117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文本过滤 图像过滤 图纸过滤 时序过滤 结构化过滤...</a:t>
            </a:r>
          </a:p>
        </p:txBody>
      </p:sp>
      <p:sp>
        <p:nvSpPr>
          <p:cNvPr id="39" name="body_text"/>
          <p:cNvSpPr txBox="1"/>
          <p:nvPr/>
        </p:nvSpPr>
        <p:spPr>
          <a:xfrm>
            <a:off x="4892988" y="2650368"/>
            <a:ext cx="2038745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008844"/>
                </a:solidFill>
                <a:latin typeface="Microsoft YaHei"/>
                <a:ea typeface="Microsoft YaHei"/>
                <a:cs typeface="Microsoft YaHei"/>
              </a:rPr>
              <a:t>模型层（安全约束）</a:t>
            </a:r>
          </a:p>
        </p:txBody>
      </p:sp>
      <p:sp>
        <p:nvSpPr>
          <p:cNvPr id="40" name="body_text"/>
          <p:cNvSpPr txBox="1"/>
          <p:nvPr/>
        </p:nvSpPr>
        <p:spPr>
          <a:xfrm>
            <a:off x="4689113" y="2956180"/>
            <a:ext cx="3058117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安全策略 规则约束 风险识别 敏感检测 合规校验</a:t>
            </a:r>
          </a:p>
        </p:txBody>
      </p:sp>
      <p:sp>
        <p:nvSpPr>
          <p:cNvPr id="41" name="body_text"/>
          <p:cNvSpPr txBox="1"/>
          <p:nvPr/>
        </p:nvSpPr>
        <p:spPr>
          <a:xfrm>
            <a:off x="4892988" y="3567803"/>
            <a:ext cx="2038745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CC0000"/>
                </a:solidFill>
                <a:latin typeface="Microsoft YaHei"/>
                <a:ea typeface="Microsoft YaHei"/>
                <a:cs typeface="Microsoft YaHei"/>
              </a:rPr>
              <a:t>输出端（内容校验）</a:t>
            </a:r>
          </a:p>
        </p:txBody>
      </p:sp>
      <p:sp>
        <p:nvSpPr>
          <p:cNvPr id="42" name="body_text"/>
          <p:cNvSpPr txBox="1"/>
          <p:nvPr/>
        </p:nvSpPr>
        <p:spPr>
          <a:xfrm>
            <a:off x="4689113" y="3873615"/>
            <a:ext cx="3058117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事实校验 统一拒答 合规调色 保密脱敏 完整性校验</a:t>
            </a:r>
          </a:p>
        </p:txBody>
      </p:sp>
      <p:sp>
        <p:nvSpPr>
          <p:cNvPr id="43" name="body_text"/>
          <p:cNvSpPr txBox="1"/>
          <p:nvPr/>
        </p:nvSpPr>
        <p:spPr>
          <a:xfrm>
            <a:off x="4892988" y="4485239"/>
            <a:ext cx="2038745" cy="254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宁可不言，绝不乱答</a:t>
            </a:r>
          </a:p>
        </p:txBody>
      </p:sp>
      <p:sp>
        <p:nvSpPr>
          <p:cNvPr id="44" name="body_text"/>
          <p:cNvSpPr txBox="1"/>
          <p:nvPr/>
        </p:nvSpPr>
        <p:spPr>
          <a:xfrm>
            <a:off x="4689113" y="4842019"/>
            <a:ext cx="2446494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当请求涉及安全风险或不确定时，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建议按规程处置并提供依据。</a:t>
            </a:r>
          </a:p>
        </p:txBody>
      </p:sp>
      <p:sp>
        <p:nvSpPr>
          <p:cNvPr id="45" name="body_text"/>
          <p:cNvSpPr txBox="1"/>
          <p:nvPr/>
        </p:nvSpPr>
        <p:spPr>
          <a:xfrm>
            <a:off x="8460791" y="1732933"/>
            <a:ext cx="3058117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规整制度库 设备参数库 图谱知识库 历史案例库</a:t>
            </a:r>
          </a:p>
        </p:txBody>
      </p:sp>
      <p:sp>
        <p:nvSpPr>
          <p:cNvPr id="46" name="body_text"/>
          <p:cNvSpPr txBox="1"/>
          <p:nvPr/>
        </p:nvSpPr>
        <p:spPr>
          <a:xfrm>
            <a:off x="8460791" y="3058117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47" name="body_text"/>
          <p:cNvSpPr txBox="1"/>
          <p:nvPr/>
        </p:nvSpPr>
        <p:spPr>
          <a:xfrm>
            <a:off x="9378227" y="3058117"/>
            <a:ext cx="815498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005588"/>
                </a:solidFill>
                <a:latin typeface="Microsoft YaHei"/>
                <a:ea typeface="Microsoft YaHei"/>
                <a:cs typeface="Microsoft YaHei"/>
              </a:rPr>
              <a:t>检索增强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005588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</p:txBody>
      </p:sp>
      <p:sp>
        <p:nvSpPr>
          <p:cNvPr id="48" name="body_text"/>
          <p:cNvSpPr txBox="1"/>
          <p:nvPr/>
        </p:nvSpPr>
        <p:spPr>
          <a:xfrm>
            <a:off x="10397599" y="3058117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证据回溯</a:t>
            </a:r>
          </a:p>
        </p:txBody>
      </p:sp>
      <p:sp>
        <p:nvSpPr>
          <p:cNvPr id="49" name="body_text"/>
          <p:cNvSpPr txBox="1"/>
          <p:nvPr/>
        </p:nvSpPr>
        <p:spPr>
          <a:xfrm>
            <a:off x="9378227" y="3669741"/>
            <a:ext cx="815498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005588"/>
                </a:solidFill>
                <a:latin typeface="Microsoft YaHei"/>
                <a:ea typeface="Microsoft YaHei"/>
                <a:cs typeface="Microsoft YaHei"/>
              </a:rPr>
              <a:t>动态更新</a:t>
            </a:r>
          </a:p>
        </p:txBody>
      </p:sp>
      <p:sp>
        <p:nvSpPr>
          <p:cNvPr id="50" name="body_text"/>
          <p:cNvSpPr txBox="1"/>
          <p:nvPr/>
        </p:nvSpPr>
        <p:spPr>
          <a:xfrm>
            <a:off x="8970478" y="4281364"/>
            <a:ext cx="1223247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005588"/>
                </a:solidFill>
                <a:latin typeface="Microsoft YaHei"/>
                <a:ea typeface="Microsoft YaHei"/>
                <a:cs typeface="Microsoft YaHei"/>
              </a:rPr>
              <a:t>安全可信输出</a:t>
            </a:r>
          </a:p>
        </p:txBody>
      </p:sp>
      <p:sp>
        <p:nvSpPr>
          <p:cNvPr id="51" name="body_text"/>
          <p:cNvSpPr txBox="1"/>
          <p:nvPr/>
        </p:nvSpPr>
        <p:spPr>
          <a:xfrm>
            <a:off x="8562729" y="4689113"/>
            <a:ext cx="2446494" cy="305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有据可查 实时更新 辅助决策</a:t>
            </a:r>
          </a:p>
        </p:txBody>
      </p:sp>
      <p:sp>
        <p:nvSpPr>
          <p:cNvPr id="52" name="body_text"/>
          <p:cNvSpPr txBox="1"/>
          <p:nvPr/>
        </p:nvSpPr>
        <p:spPr>
          <a:xfrm>
            <a:off x="1019372" y="6218172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专家反馈</a:t>
            </a:r>
          </a:p>
        </p:txBody>
      </p:sp>
      <p:sp>
        <p:nvSpPr>
          <p:cNvPr id="53" name="body_text"/>
          <p:cNvSpPr txBox="1"/>
          <p:nvPr/>
        </p:nvSpPr>
        <p:spPr>
          <a:xfrm>
            <a:off x="2242619" y="6116235"/>
            <a:ext cx="1019372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样本沉淀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(文本/图像/图纸/时序等)</a:t>
            </a:r>
          </a:p>
        </p:txBody>
      </p:sp>
      <p:sp>
        <p:nvSpPr>
          <p:cNvPr id="54" name="body_text"/>
          <p:cNvSpPr txBox="1"/>
          <p:nvPr/>
        </p:nvSpPr>
        <p:spPr>
          <a:xfrm>
            <a:off x="3669741" y="6218172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策略学习</a:t>
            </a:r>
          </a:p>
        </p:txBody>
      </p:sp>
      <p:sp>
        <p:nvSpPr>
          <p:cNvPr id="55" name="body_text"/>
          <p:cNvSpPr txBox="1"/>
          <p:nvPr/>
        </p:nvSpPr>
        <p:spPr>
          <a:xfrm>
            <a:off x="4892988" y="6218172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安全校验</a:t>
            </a:r>
          </a:p>
        </p:txBody>
      </p:sp>
      <p:sp>
        <p:nvSpPr>
          <p:cNvPr id="56" name="body_text"/>
          <p:cNvSpPr txBox="1"/>
          <p:nvPr/>
        </p:nvSpPr>
        <p:spPr>
          <a:xfrm>
            <a:off x="6116235" y="6218172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知识回注</a:t>
            </a:r>
          </a:p>
        </p:txBody>
      </p:sp>
      <p:sp>
        <p:nvSpPr>
          <p:cNvPr id="57" name="body_text"/>
          <p:cNvSpPr txBox="1"/>
          <p:nvPr/>
        </p:nvSpPr>
        <p:spPr>
          <a:xfrm>
            <a:off x="8460791" y="6523984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价值观对齐</a:t>
            </a:r>
          </a:p>
        </p:txBody>
      </p:sp>
      <p:sp>
        <p:nvSpPr>
          <p:cNvPr id="58" name="body_text"/>
          <p:cNvSpPr txBox="1"/>
          <p:nvPr/>
        </p:nvSpPr>
        <p:spPr>
          <a:xfrm>
            <a:off x="9276289" y="6523984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风险可控</a:t>
            </a:r>
          </a:p>
        </p:txBody>
      </p:sp>
      <p:sp>
        <p:nvSpPr>
          <p:cNvPr id="59" name="body_text"/>
          <p:cNvSpPr txBox="1"/>
          <p:nvPr/>
        </p:nvSpPr>
        <p:spPr>
          <a:xfrm>
            <a:off x="10091787" y="6523984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知识可溯</a:t>
            </a:r>
          </a:p>
        </p:txBody>
      </p:sp>
      <p:sp>
        <p:nvSpPr>
          <p:cNvPr id="60" name="body_text"/>
          <p:cNvSpPr txBox="1"/>
          <p:nvPr/>
        </p:nvSpPr>
        <p:spPr>
          <a:xfrm>
            <a:off x="10907285" y="6523984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持续演进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