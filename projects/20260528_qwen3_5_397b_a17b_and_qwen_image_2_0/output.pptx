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ard Box 1"/>
          <p:cNvSpPr/>
          <p:nvPr/>
        </p:nvSpPr>
        <p:spPr>
          <a:xfrm>
            <a:off x="253993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Box 2"/>
          <p:cNvSpPr/>
          <p:nvPr/>
        </p:nvSpPr>
        <p:spPr>
          <a:xfrm>
            <a:off x="1142971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Box 3"/>
          <p:cNvSpPr/>
          <p:nvPr/>
        </p:nvSpPr>
        <p:spPr>
          <a:xfrm>
            <a:off x="2031949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Box 4"/>
          <p:cNvSpPr/>
          <p:nvPr/>
        </p:nvSpPr>
        <p:spPr>
          <a:xfrm>
            <a:off x="2920926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Box 5"/>
          <p:cNvSpPr/>
          <p:nvPr/>
        </p:nvSpPr>
        <p:spPr>
          <a:xfrm>
            <a:off x="3809904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Box 6"/>
          <p:cNvSpPr/>
          <p:nvPr/>
        </p:nvSpPr>
        <p:spPr>
          <a:xfrm>
            <a:off x="4698882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Box 7"/>
          <p:cNvSpPr/>
          <p:nvPr/>
        </p:nvSpPr>
        <p:spPr>
          <a:xfrm>
            <a:off x="5587860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Box 8"/>
          <p:cNvSpPr/>
          <p:nvPr/>
        </p:nvSpPr>
        <p:spPr>
          <a:xfrm>
            <a:off x="6476838" y="1365250"/>
            <a:ext cx="1460463" cy="200025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Timeline Line"/>
          <p:cNvCxnSpPr/>
          <p:nvPr/>
        </p:nvCxnSpPr>
        <p:spPr>
          <a:xfrm>
            <a:off x="888977" y="1238249"/>
            <a:ext cx="6984826" cy="63500"/>
          </a:xfrm>
          <a:prstGeom prst="line">
            <a:avLst/>
          </a:prstGeom>
          <a:ln w="12699">
            <a:solidFill>
              <a:srgbClr val="00A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entral Ellipse"/>
          <p:cNvSpPr/>
          <p:nvPr/>
        </p:nvSpPr>
        <p:spPr>
          <a:xfrm>
            <a:off x="5397365" y="3238500"/>
            <a:ext cx="1396965" cy="254000"/>
          </a:xfrm>
          <a:prstGeom prst="ellipse">
            <a:avLst/>
          </a:prstGeom>
          <a:solidFill>
            <a:srgbClr val="00509E"/>
          </a:solidFill>
          <a:ln w="634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 Box 1"/>
          <p:cNvSpPr/>
          <p:nvPr/>
        </p:nvSpPr>
        <p:spPr>
          <a:xfrm>
            <a:off x="3428914" y="3683000"/>
            <a:ext cx="1269968" cy="508000"/>
          </a:xfrm>
          <a:prstGeom prst="roundRect">
            <a:avLst/>
          </a:prstGeom>
          <a:solidFill>
            <a:srgbClr val="003060"/>
          </a:solidFill>
          <a:ln w="634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se Box 2"/>
          <p:cNvSpPr/>
          <p:nvPr/>
        </p:nvSpPr>
        <p:spPr>
          <a:xfrm>
            <a:off x="4698882" y="3683000"/>
            <a:ext cx="1269968" cy="508000"/>
          </a:xfrm>
          <a:prstGeom prst="roundRect">
            <a:avLst/>
          </a:prstGeom>
          <a:solidFill>
            <a:srgbClr val="003060"/>
          </a:solidFill>
          <a:ln w="634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se Box 3"/>
          <p:cNvSpPr/>
          <p:nvPr/>
        </p:nvSpPr>
        <p:spPr>
          <a:xfrm>
            <a:off x="5968850" y="3683000"/>
            <a:ext cx="1269968" cy="508000"/>
          </a:xfrm>
          <a:prstGeom prst="roundRect">
            <a:avLst/>
          </a:prstGeom>
          <a:solidFill>
            <a:srgbClr val="003060"/>
          </a:solidFill>
          <a:ln w="634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co Box 1"/>
          <p:cNvSpPr/>
          <p:nvPr/>
        </p:nvSpPr>
        <p:spPr>
          <a:xfrm>
            <a:off x="253993" y="3492500"/>
            <a:ext cx="1460463" cy="50800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co Box 2"/>
          <p:cNvSpPr/>
          <p:nvPr/>
        </p:nvSpPr>
        <p:spPr>
          <a:xfrm>
            <a:off x="253993" y="4064000"/>
            <a:ext cx="1460463" cy="50800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co Box 3"/>
          <p:cNvSpPr/>
          <p:nvPr/>
        </p:nvSpPr>
        <p:spPr>
          <a:xfrm>
            <a:off x="8445288" y="3492500"/>
            <a:ext cx="1460463" cy="50800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co Box 4"/>
          <p:cNvSpPr/>
          <p:nvPr/>
        </p:nvSpPr>
        <p:spPr>
          <a:xfrm>
            <a:off x="8445288" y="4064000"/>
            <a:ext cx="1460463" cy="508000"/>
          </a:xfrm>
          <a:prstGeom prst="roundRect">
            <a:avLst/>
          </a:prstGeom>
          <a:solidFill>
            <a:srgbClr val="0A1F3D"/>
          </a:solidFill>
          <a:ln w="12699">
            <a:solidFill>
              <a:srgbClr val="00A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in Title"/>
          <p:cNvSpPr txBox="1"/>
          <p:nvPr/>
        </p:nvSpPr>
        <p:spPr>
          <a:xfrm>
            <a:off x="3682907" y="254000"/>
            <a:ext cx="482587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"大瓦特"演进路线图</a:t>
            </a:r>
          </a:p>
        </p:txBody>
      </p:sp>
      <p:sp>
        <p:nvSpPr>
          <p:cNvPr id="21" name="Subtitle 1"/>
          <p:cNvSpPr txBox="1"/>
          <p:nvPr/>
        </p:nvSpPr>
        <p:spPr>
          <a:xfrm>
            <a:off x="4317892" y="666750"/>
            <a:ext cx="3555911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4571885" y="920750"/>
            <a:ext cx="3047923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A0C0E0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23" name="Step 1 Number"/>
          <p:cNvSpPr txBox="1"/>
          <p:nvPr/>
        </p:nvSpPr>
        <p:spPr>
          <a:xfrm>
            <a:off x="666733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Step 1 Title"/>
          <p:cNvSpPr txBox="1"/>
          <p:nvPr/>
        </p:nvSpPr>
        <p:spPr>
          <a:xfrm>
            <a:off x="380990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25" name="Step 1 Date"/>
          <p:cNvSpPr txBox="1"/>
          <p:nvPr/>
        </p:nvSpPr>
        <p:spPr>
          <a:xfrm>
            <a:off x="1206469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26" name="Step 1 Position"/>
          <p:cNvSpPr txBox="1"/>
          <p:nvPr/>
        </p:nvSpPr>
        <p:spPr>
          <a:xfrm>
            <a:off x="380990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27" name="Step 1 Highlight"/>
          <p:cNvSpPr txBox="1"/>
          <p:nvPr/>
        </p:nvSpPr>
        <p:spPr>
          <a:xfrm>
            <a:off x="380990" y="2286000"/>
            <a:ext cx="1206469" cy="952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28" name="Step 2 Number"/>
          <p:cNvSpPr txBox="1"/>
          <p:nvPr/>
        </p:nvSpPr>
        <p:spPr>
          <a:xfrm>
            <a:off x="1555711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Step 2 Title"/>
          <p:cNvSpPr txBox="1"/>
          <p:nvPr/>
        </p:nvSpPr>
        <p:spPr>
          <a:xfrm>
            <a:off x="1269968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30" name="Step 2 Date"/>
          <p:cNvSpPr txBox="1"/>
          <p:nvPr/>
        </p:nvSpPr>
        <p:spPr>
          <a:xfrm>
            <a:off x="2095447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31" name="Step 2 Position"/>
          <p:cNvSpPr txBox="1"/>
          <p:nvPr/>
        </p:nvSpPr>
        <p:spPr>
          <a:xfrm>
            <a:off x="1269968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32" name="Step 2 Highlight"/>
          <p:cNvSpPr txBox="1"/>
          <p:nvPr/>
        </p:nvSpPr>
        <p:spPr>
          <a:xfrm>
            <a:off x="1269968" y="2286000"/>
            <a:ext cx="1206469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底座全面迭代升级，正式备千亿级参数规模模型能力。</a:t>
            </a:r>
          </a:p>
        </p:txBody>
      </p:sp>
      <p:sp>
        <p:nvSpPr>
          <p:cNvPr id="33" name="Step 3 Number"/>
          <p:cNvSpPr txBox="1"/>
          <p:nvPr/>
        </p:nvSpPr>
        <p:spPr>
          <a:xfrm>
            <a:off x="2444688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tep 3 Title"/>
          <p:cNvSpPr txBox="1"/>
          <p:nvPr/>
        </p:nvSpPr>
        <p:spPr>
          <a:xfrm>
            <a:off x="2158946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35" name="Step 3 Date"/>
          <p:cNvSpPr txBox="1"/>
          <p:nvPr/>
        </p:nvSpPr>
        <p:spPr>
          <a:xfrm>
            <a:off x="2984425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36" name="Step 3 Position"/>
          <p:cNvSpPr txBox="1"/>
          <p:nvPr/>
        </p:nvSpPr>
        <p:spPr>
          <a:xfrm>
            <a:off x="2158946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37" name="Step 3 Highlight"/>
          <p:cNvSpPr txBox="1"/>
          <p:nvPr/>
        </p:nvSpPr>
        <p:spPr>
          <a:xfrm>
            <a:off x="2158946" y="2286000"/>
            <a:ext cx="1206469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38" name="Step 4 Number"/>
          <p:cNvSpPr txBox="1"/>
          <p:nvPr/>
        </p:nvSpPr>
        <p:spPr>
          <a:xfrm>
            <a:off x="3333666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Step 4 Title"/>
          <p:cNvSpPr txBox="1"/>
          <p:nvPr/>
        </p:nvSpPr>
        <p:spPr>
          <a:xfrm>
            <a:off x="3047923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40" name="Step 4 Date"/>
          <p:cNvSpPr txBox="1"/>
          <p:nvPr/>
        </p:nvSpPr>
        <p:spPr>
          <a:xfrm>
            <a:off x="3873403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41" name="Step 4 Position"/>
          <p:cNvSpPr txBox="1"/>
          <p:nvPr/>
        </p:nvSpPr>
        <p:spPr>
          <a:xfrm>
            <a:off x="3047923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42" name="Step 4 Highlight"/>
          <p:cNvSpPr txBox="1"/>
          <p:nvPr/>
        </p:nvSpPr>
        <p:spPr>
          <a:xfrm>
            <a:off x="3047923" y="2286000"/>
            <a:ext cx="1206469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43" name="Step 5 Number"/>
          <p:cNvSpPr txBox="1"/>
          <p:nvPr/>
        </p:nvSpPr>
        <p:spPr>
          <a:xfrm>
            <a:off x="4222644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4" name="Step 5 Title"/>
          <p:cNvSpPr txBox="1"/>
          <p:nvPr/>
        </p:nvSpPr>
        <p:spPr>
          <a:xfrm>
            <a:off x="3936901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45" name="Step 5 Date"/>
          <p:cNvSpPr txBox="1"/>
          <p:nvPr/>
        </p:nvSpPr>
        <p:spPr>
          <a:xfrm>
            <a:off x="4762380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46" name="Step 5 Position"/>
          <p:cNvSpPr txBox="1"/>
          <p:nvPr/>
        </p:nvSpPr>
        <p:spPr>
          <a:xfrm>
            <a:off x="3936901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47" name="Step 5 Highlight"/>
          <p:cNvSpPr txBox="1"/>
          <p:nvPr/>
        </p:nvSpPr>
        <p:spPr>
          <a:xfrm>
            <a:off x="3936901" y="2286000"/>
            <a:ext cx="1206469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48" name="Step 6 Number"/>
          <p:cNvSpPr txBox="1"/>
          <p:nvPr/>
        </p:nvSpPr>
        <p:spPr>
          <a:xfrm>
            <a:off x="5111622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9" name="Step 6 Title"/>
          <p:cNvSpPr txBox="1"/>
          <p:nvPr/>
        </p:nvSpPr>
        <p:spPr>
          <a:xfrm>
            <a:off x="4825879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50" name="Step 6 Date"/>
          <p:cNvSpPr txBox="1"/>
          <p:nvPr/>
        </p:nvSpPr>
        <p:spPr>
          <a:xfrm>
            <a:off x="5651358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51" name="Step 6 Position"/>
          <p:cNvSpPr txBox="1"/>
          <p:nvPr/>
        </p:nvSpPr>
        <p:spPr>
          <a:xfrm>
            <a:off x="4825879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52" name="Step 6 Highlight"/>
          <p:cNvSpPr txBox="1"/>
          <p:nvPr/>
        </p:nvSpPr>
        <p:spPr>
          <a:xfrm>
            <a:off x="4825879" y="2286000"/>
            <a:ext cx="1206469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53" name="Step 7 Number"/>
          <p:cNvSpPr txBox="1"/>
          <p:nvPr/>
        </p:nvSpPr>
        <p:spPr>
          <a:xfrm>
            <a:off x="6000599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4" name="Step 7 Title"/>
          <p:cNvSpPr txBox="1"/>
          <p:nvPr/>
        </p:nvSpPr>
        <p:spPr>
          <a:xfrm>
            <a:off x="5714857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55" name="Step 7 Date"/>
          <p:cNvSpPr txBox="1"/>
          <p:nvPr/>
        </p:nvSpPr>
        <p:spPr>
          <a:xfrm>
            <a:off x="6540336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56" name="Step 7 Position"/>
          <p:cNvSpPr txBox="1"/>
          <p:nvPr/>
        </p:nvSpPr>
        <p:spPr>
          <a:xfrm>
            <a:off x="5714857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57" name="Step 7 Highlight"/>
          <p:cNvSpPr txBox="1"/>
          <p:nvPr/>
        </p:nvSpPr>
        <p:spPr>
          <a:xfrm>
            <a:off x="5714857" y="2286000"/>
            <a:ext cx="1206469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融合多源数据，构建"图像 - 设备 - 空间 - 拓扑"联合推理能力，形成电力行业结构化认知壁垒。</a:t>
            </a:r>
          </a:p>
        </p:txBody>
      </p:sp>
      <p:sp>
        <p:nvSpPr>
          <p:cNvPr id="58" name="Step 8 Number"/>
          <p:cNvSpPr txBox="1"/>
          <p:nvPr/>
        </p:nvSpPr>
        <p:spPr>
          <a:xfrm>
            <a:off x="6889577" y="1111250"/>
            <a:ext cx="190495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9" name="Step 8 Title"/>
          <p:cNvSpPr txBox="1"/>
          <p:nvPr/>
        </p:nvSpPr>
        <p:spPr>
          <a:xfrm>
            <a:off x="6603834" y="1428750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60" name="Step 8 Date"/>
          <p:cNvSpPr txBox="1"/>
          <p:nvPr/>
        </p:nvSpPr>
        <p:spPr>
          <a:xfrm>
            <a:off x="7429314" y="144780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0E0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61" name="Step 8 Position"/>
          <p:cNvSpPr txBox="1"/>
          <p:nvPr/>
        </p:nvSpPr>
        <p:spPr>
          <a:xfrm>
            <a:off x="6603834" y="1650999"/>
            <a:ext cx="120646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62" name="Step 8 Highlight"/>
          <p:cNvSpPr txBox="1"/>
          <p:nvPr/>
        </p:nvSpPr>
        <p:spPr>
          <a:xfrm>
            <a:off x="6603834" y="2286000"/>
            <a:ext cx="1206469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发布电力多模态世界模型，实现物理仿真与智能推演，从理解现场迈向推演现场、辅助决策。</a:t>
            </a:r>
          </a:p>
        </p:txBody>
      </p:sp>
      <p:sp>
        <p:nvSpPr>
          <p:cNvPr id="63" name="Central Label 1"/>
          <p:cNvSpPr txBox="1"/>
          <p:nvPr/>
        </p:nvSpPr>
        <p:spPr>
          <a:xfrm>
            <a:off x="5460863" y="3270250"/>
            <a:ext cx="1269968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64" name="Central Label 2"/>
          <p:cNvSpPr txBox="1"/>
          <p:nvPr/>
        </p:nvSpPr>
        <p:spPr>
          <a:xfrm>
            <a:off x="4571885" y="3524250"/>
            <a:ext cx="304792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65" name="Base 1 Text"/>
          <p:cNvSpPr txBox="1"/>
          <p:nvPr/>
        </p:nvSpPr>
        <p:spPr>
          <a:xfrm>
            <a:off x="3555911" y="3746500"/>
            <a:ext cx="1015974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66" name="Base 2 Text"/>
          <p:cNvSpPr txBox="1"/>
          <p:nvPr/>
        </p:nvSpPr>
        <p:spPr>
          <a:xfrm>
            <a:off x="4825879" y="3746500"/>
            <a:ext cx="1015974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67" name="Base 3 Text"/>
          <p:cNvSpPr txBox="1"/>
          <p:nvPr/>
        </p:nvSpPr>
        <p:spPr>
          <a:xfrm>
            <a:off x="6095847" y="3746500"/>
            <a:ext cx="1015974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68" name="Data Fusion Text"/>
          <p:cNvSpPr txBox="1"/>
          <p:nvPr/>
        </p:nvSpPr>
        <p:spPr>
          <a:xfrm>
            <a:off x="4571885" y="4318000"/>
            <a:ext cx="3047923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69" name="Domain 1"/>
          <p:cNvSpPr txBox="1"/>
          <p:nvPr/>
        </p:nvSpPr>
        <p:spPr>
          <a:xfrm>
            <a:off x="3301917" y="46354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C0E0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70" name="Domain 2"/>
          <p:cNvSpPr txBox="1"/>
          <p:nvPr/>
        </p:nvSpPr>
        <p:spPr>
          <a:xfrm>
            <a:off x="3936901" y="4667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C0E0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71" name="Domain 3"/>
          <p:cNvSpPr txBox="1"/>
          <p:nvPr/>
        </p:nvSpPr>
        <p:spPr>
          <a:xfrm>
            <a:off x="4571885" y="4699000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C0E0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72" name="Domain 4"/>
          <p:cNvSpPr txBox="1"/>
          <p:nvPr/>
        </p:nvSpPr>
        <p:spPr>
          <a:xfrm>
            <a:off x="5206869" y="4667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C0E0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73" name="Domain 5"/>
          <p:cNvSpPr txBox="1"/>
          <p:nvPr/>
        </p:nvSpPr>
        <p:spPr>
          <a:xfrm>
            <a:off x="5841853" y="46354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C0E0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74" name="Eco 1 Text"/>
          <p:cNvSpPr txBox="1"/>
          <p:nvPr/>
        </p:nvSpPr>
        <p:spPr>
          <a:xfrm>
            <a:off x="380990" y="3556000"/>
            <a:ext cx="120646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75" name="Eco 2 Text"/>
          <p:cNvSpPr txBox="1"/>
          <p:nvPr/>
        </p:nvSpPr>
        <p:spPr>
          <a:xfrm>
            <a:off x="380990" y="4127499"/>
            <a:ext cx="120646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76" name="Eco 3 Text"/>
          <p:cNvSpPr txBox="1"/>
          <p:nvPr/>
        </p:nvSpPr>
        <p:spPr>
          <a:xfrm>
            <a:off x="8953276" y="3556000"/>
            <a:ext cx="120646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77" name="Eco 4 Text"/>
          <p:cNvSpPr txBox="1"/>
          <p:nvPr/>
        </p:nvSpPr>
        <p:spPr>
          <a:xfrm>
            <a:off x="8953276" y="4127499"/>
            <a:ext cx="120646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78" name="Evolution Path Label"/>
          <p:cNvSpPr txBox="1"/>
          <p:nvPr/>
        </p:nvSpPr>
        <p:spPr>
          <a:xfrm>
            <a:off x="190495" y="5016500"/>
            <a:ext cx="317492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演进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79" name="Timeline 1"/>
          <p:cNvSpPr txBox="1"/>
          <p:nvPr/>
        </p:nvSpPr>
        <p:spPr>
          <a:xfrm>
            <a:off x="825479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0" name="Timeline 2"/>
          <p:cNvSpPr txBox="1"/>
          <p:nvPr/>
        </p:nvSpPr>
        <p:spPr>
          <a:xfrm>
            <a:off x="1714457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81" name="Timeline 3"/>
          <p:cNvSpPr txBox="1"/>
          <p:nvPr/>
        </p:nvSpPr>
        <p:spPr>
          <a:xfrm>
            <a:off x="2603434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82" name="Timeline 4"/>
          <p:cNvSpPr txBox="1"/>
          <p:nvPr/>
        </p:nvSpPr>
        <p:spPr>
          <a:xfrm>
            <a:off x="3492412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83" name="Timeline 5"/>
          <p:cNvSpPr txBox="1"/>
          <p:nvPr/>
        </p:nvSpPr>
        <p:spPr>
          <a:xfrm>
            <a:off x="4381390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84" name="Timeline 6"/>
          <p:cNvSpPr txBox="1"/>
          <p:nvPr/>
        </p:nvSpPr>
        <p:spPr>
          <a:xfrm>
            <a:off x="5270368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85" name="Timeline 7"/>
          <p:cNvSpPr txBox="1"/>
          <p:nvPr/>
        </p:nvSpPr>
        <p:spPr>
          <a:xfrm>
            <a:off x="6159346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86" name="Timeline 8"/>
          <p:cNvSpPr txBox="1"/>
          <p:nvPr/>
        </p:nvSpPr>
        <p:spPr>
          <a:xfrm>
            <a:off x="7048323" y="5905500"/>
            <a:ext cx="634984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  <p:pic>
        <p:nvPicPr>
          <p:cNvPr id="87" name="Picture 86" descr="decorativ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238" y="508000"/>
            <a:ext cx="1142971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