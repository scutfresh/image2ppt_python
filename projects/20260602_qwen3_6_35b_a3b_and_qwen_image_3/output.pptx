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61474"/>
          </a:xfrm>
          <a:prstGeom prst="rect">
            <a:avLst/>
          </a:prstGeom>
          <a:solidFill>
            <a:srgbClr val="05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meline Card Borders"/>
          <p:cNvSpPr/>
          <p:nvPr/>
        </p:nvSpPr>
        <p:spPr>
          <a:xfrm>
            <a:off x="145833" y="1458336"/>
            <a:ext cx="11900027" cy="2041671"/>
          </a:xfrm>
          <a:prstGeom prst="roundRect">
            <a:avLst/>
          </a:prstGeom>
          <a:solidFill>
            <a:srgbClr val="0064C8"/>
          </a:solidFill>
          <a:ln w="14583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entral Engine Outer Ring"/>
          <p:cNvSpPr/>
          <p:nvPr/>
        </p:nvSpPr>
        <p:spPr>
          <a:xfrm>
            <a:off x="2552089" y="3791675"/>
            <a:ext cx="7087516" cy="875002"/>
          </a:xfrm>
          <a:prstGeom prst="ellipse">
            <a:avLst/>
          </a:prstGeom>
          <a:solidFill>
            <a:srgbClr val="0096FF"/>
          </a:solidFill>
          <a:ln w="21875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nner Bubbles"/>
          <p:cNvSpPr/>
          <p:nvPr/>
        </p:nvSpPr>
        <p:spPr>
          <a:xfrm>
            <a:off x="2916673" y="4083342"/>
            <a:ext cx="1822920" cy="437501"/>
          </a:xfrm>
          <a:prstGeom prst="roundRect">
            <a:avLst/>
          </a:prstGeom>
          <a:solidFill>
            <a:srgbClr val="0064C8"/>
          </a:solidFill>
          <a:ln w="7291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Bottom Path Curve"/>
          <p:cNvCxnSpPr/>
          <p:nvPr/>
        </p:nvCxnSpPr>
        <p:spPr>
          <a:xfrm>
            <a:off x="729168" y="5979180"/>
            <a:ext cx="10733358" cy="364584"/>
          </a:xfrm>
          <a:prstGeom prst="line">
            <a:avLst/>
          </a:prstGeom>
          <a:ln w="29166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background_power_tow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58336" cy="2187505"/>
          </a:xfrm>
          <a:prstGeom prst="rect">
            <a:avLst/>
          </a:prstGeom>
        </p:spPr>
      </p:pic>
      <p:pic>
        <p:nvPicPr>
          <p:cNvPr id="8" name="Picture 7" descr="background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357" y="0"/>
            <a:ext cx="1983337" cy="1458336"/>
          </a:xfrm>
          <a:prstGeom prst="rect">
            <a:avLst/>
          </a:prstGeom>
        </p:spPr>
      </p:pic>
      <p:pic>
        <p:nvPicPr>
          <p:cNvPr id="9" name="Picture 8" descr="timeline_cards_backgrou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33" y="1458336"/>
            <a:ext cx="11900027" cy="2041671"/>
          </a:xfrm>
          <a:prstGeom prst="rect">
            <a:avLst/>
          </a:prstGeom>
        </p:spPr>
      </p:pic>
      <p:pic>
        <p:nvPicPr>
          <p:cNvPr id="10" name="Picture 9" descr="version_number_circ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68" y="1093752"/>
            <a:ext cx="10733358" cy="291667"/>
          </a:xfrm>
          <a:prstGeom prst="rect">
            <a:avLst/>
          </a:prstGeom>
        </p:spPr>
      </p:pic>
      <p:pic>
        <p:nvPicPr>
          <p:cNvPr id="11" name="Picture 10" descr="timeline_icons_plug_server_et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750" y="2187505"/>
            <a:ext cx="11754194" cy="729168"/>
          </a:xfrm>
          <a:prstGeom prst="rect">
            <a:avLst/>
          </a:prstGeom>
        </p:spPr>
      </p:pic>
      <p:pic>
        <p:nvPicPr>
          <p:cNvPr id="12" name="Picture 11" descr="side_ecosystem_box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833" y="3791675"/>
            <a:ext cx="1312503" cy="1312503"/>
          </a:xfrm>
          <a:prstGeom prst="rect">
            <a:avLst/>
          </a:prstGeom>
        </p:spPr>
      </p:pic>
      <p:pic>
        <p:nvPicPr>
          <p:cNvPr id="13" name="Picture 12" descr="central_engine_graph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505" y="3645841"/>
            <a:ext cx="7816684" cy="1458336"/>
          </a:xfrm>
          <a:prstGeom prst="rect">
            <a:avLst/>
          </a:prstGeom>
        </p:spPr>
      </p:pic>
      <p:pic>
        <p:nvPicPr>
          <p:cNvPr id="14" name="Picture 13" descr="bottom_path_arro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168" y="5833346"/>
            <a:ext cx="10733358" cy="729168"/>
          </a:xfrm>
          <a:prstGeom prst="rect">
            <a:avLst/>
          </a:prstGeom>
        </p:spPr>
      </p:pic>
      <p:pic>
        <p:nvPicPr>
          <p:cNvPr id="15" name="Picture 14" descr="bottom_path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168" y="5468762"/>
            <a:ext cx="10733358" cy="583334"/>
          </a:xfrm>
          <a:prstGeom prst="rect">
            <a:avLst/>
          </a:prstGeom>
        </p:spPr>
      </p:pic>
      <p:sp>
        <p:nvSpPr>
          <p:cNvPr id="16" name="titles"/>
          <p:cNvSpPr txBox="1"/>
          <p:nvPr/>
        </p:nvSpPr>
        <p:spPr>
          <a:xfrm>
            <a:off x="3179174" y="255208"/>
            <a:ext cx="5833346" cy="510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5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"大瓦特" 演进路线图</a:t>
            </a:r>
          </a:p>
        </p:txBody>
      </p:sp>
      <p:sp>
        <p:nvSpPr>
          <p:cNvPr id="17" name="titles"/>
          <p:cNvSpPr txBox="1"/>
          <p:nvPr/>
        </p:nvSpPr>
        <p:spPr>
          <a:xfrm>
            <a:off x="5002095" y="838543"/>
            <a:ext cx="2187505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18" name="titles"/>
          <p:cNvSpPr txBox="1"/>
          <p:nvPr/>
        </p:nvSpPr>
        <p:spPr>
          <a:xfrm>
            <a:off x="4637510" y="1166669"/>
            <a:ext cx="2916673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88CCFF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19" name="body_text"/>
          <p:cNvSpPr txBox="1"/>
          <p:nvPr/>
        </p:nvSpPr>
        <p:spPr>
          <a:xfrm>
            <a:off x="218750" y="1531253"/>
            <a:ext cx="1166669" cy="1895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2025.05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建成南网首个，电力多模态能力入口，成功适配国产算力，实现全自主安全可控。</a:t>
            </a:r>
          </a:p>
        </p:txBody>
      </p:sp>
      <p:sp>
        <p:nvSpPr>
          <p:cNvPr id="20" name="body_text"/>
          <p:cNvSpPr txBox="1"/>
          <p:nvPr/>
        </p:nvSpPr>
        <p:spPr>
          <a:xfrm>
            <a:off x="1677087" y="1531253"/>
            <a:ext cx="1166669" cy="1895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2025.12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底座全面迭代升级，正式备千亿级参规模型能力。</a:t>
            </a:r>
          </a:p>
        </p:txBody>
      </p:sp>
      <p:sp>
        <p:nvSpPr>
          <p:cNvPr id="21" name="body_text"/>
          <p:cNvSpPr txBox="1"/>
          <p:nvPr/>
        </p:nvSpPr>
        <p:spPr>
          <a:xfrm>
            <a:off x="3135424" y="1531253"/>
            <a:ext cx="1166669" cy="1895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完成72B行业微调模型全面升级，强化电力专业能力，高效流转典型业务场景。</a:t>
            </a:r>
          </a:p>
        </p:txBody>
      </p:sp>
      <p:sp>
        <p:nvSpPr>
          <p:cNvPr id="22" name="body_text"/>
          <p:cNvSpPr txBox="1"/>
          <p:nvPr/>
        </p:nvSpPr>
        <p:spPr>
          <a:xfrm>
            <a:off x="4593760" y="1531253"/>
            <a:ext cx="1166669" cy="1895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上线 MoE 架构微调模型，实现专家协同、任务分流和多业务域协同，按需调用专业能力。</a:t>
            </a:r>
          </a:p>
        </p:txBody>
      </p:sp>
      <p:sp>
        <p:nvSpPr>
          <p:cNvPr id="23" name="body_text"/>
          <p:cNvSpPr txBox="1"/>
          <p:nvPr/>
        </p:nvSpPr>
        <p:spPr>
          <a:xfrm>
            <a:off x="6052097" y="1531253"/>
            <a:ext cx="1166669" cy="1895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引入强化学习与慢思考机制，增强逻辑推理、知识增强和工具调用能力。</a:t>
            </a:r>
          </a:p>
        </p:txBody>
      </p:sp>
      <p:sp>
        <p:nvSpPr>
          <p:cNvPr id="24" name="body_text"/>
          <p:cNvSpPr txBox="1"/>
          <p:nvPr/>
        </p:nvSpPr>
        <p:spPr>
          <a:xfrm>
            <a:off x="7510434" y="1531253"/>
            <a:ext cx="1166669" cy="1895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行业首发电力多模态工业图纸模型，具备图纸解析、规则校核和辅助设计能力。</a:t>
            </a:r>
          </a:p>
        </p:txBody>
      </p:sp>
      <p:sp>
        <p:nvSpPr>
          <p:cNvPr id="25" name="body_text"/>
          <p:cNvSpPr txBox="1"/>
          <p:nvPr/>
        </p:nvSpPr>
        <p:spPr>
          <a:xfrm>
            <a:off x="8968770" y="1531253"/>
            <a:ext cx="1166669" cy="1895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2027.04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定位：拓扑认知化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融合多源数据，构建“图像—设备—空间—拓扑”联合推理能力，形成电力行业结构化认知壁垒。</a:t>
            </a:r>
          </a:p>
        </p:txBody>
      </p:sp>
      <p:sp>
        <p:nvSpPr>
          <p:cNvPr id="26" name="body_text"/>
          <p:cNvSpPr txBox="1"/>
          <p:nvPr/>
        </p:nvSpPr>
        <p:spPr>
          <a:xfrm>
            <a:off x="10427107" y="1531253"/>
            <a:ext cx="1166669" cy="1895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2027.12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发布电力多模态世界模型，实现物理仿真与智能推演、从理解现场迈向推演现场、辅助决策。</a:t>
            </a:r>
          </a:p>
        </p:txBody>
      </p:sp>
      <p:sp>
        <p:nvSpPr>
          <p:cNvPr id="27" name="body_text"/>
          <p:cNvSpPr txBox="1"/>
          <p:nvPr/>
        </p:nvSpPr>
        <p:spPr>
          <a:xfrm>
            <a:off x="2187505" y="3645841"/>
            <a:ext cx="7816684" cy="1458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业务驱动 · 场景普惠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数据融合 · 知识增强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算法领先 · 工程可靠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全域数据融合与知识沉淀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  <p:sp>
        <p:nvSpPr>
          <p:cNvPr id="28" name="body_text"/>
          <p:cNvSpPr txBox="1"/>
          <p:nvPr/>
        </p:nvSpPr>
        <p:spPr>
          <a:xfrm>
            <a:off x="218750" y="3791675"/>
            <a:ext cx="1312503" cy="1312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29" name="body_text"/>
          <p:cNvSpPr txBox="1"/>
          <p:nvPr/>
        </p:nvSpPr>
        <p:spPr>
          <a:xfrm>
            <a:off x="218750" y="5468762"/>
            <a:ext cx="11666693" cy="1093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拓扑认知化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推理电网结构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