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rd Background 1"/>
          <p:cNvSpPr/>
          <p:nvPr/>
        </p:nvSpPr>
        <p:spPr>
          <a:xfrm>
            <a:off x="634984" y="1397000"/>
            <a:ext cx="1269968" cy="1778000"/>
          </a:xfrm>
          <a:prstGeom prst="roundRect">
            <a:avLst/>
          </a:prstGeom>
          <a:solidFill>
            <a:srgbClr val="0A1E3D"/>
          </a:solidFill>
          <a:ln w="6349">
            <a:solidFill>
              <a:srgbClr val="1A4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ard Background 2"/>
          <p:cNvSpPr/>
          <p:nvPr/>
        </p:nvSpPr>
        <p:spPr>
          <a:xfrm>
            <a:off x="1904952" y="1397000"/>
            <a:ext cx="1269968" cy="1778000"/>
          </a:xfrm>
          <a:prstGeom prst="roundRect">
            <a:avLst/>
          </a:prstGeom>
          <a:solidFill>
            <a:srgbClr val="0A1E3D"/>
          </a:solidFill>
          <a:ln w="6349">
            <a:solidFill>
              <a:srgbClr val="1A4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ard Background 3"/>
          <p:cNvSpPr/>
          <p:nvPr/>
        </p:nvSpPr>
        <p:spPr>
          <a:xfrm>
            <a:off x="3174920" y="1397000"/>
            <a:ext cx="1269968" cy="1778000"/>
          </a:xfrm>
          <a:prstGeom prst="roundRect">
            <a:avLst/>
          </a:prstGeom>
          <a:solidFill>
            <a:srgbClr val="0A1E3D"/>
          </a:solidFill>
          <a:ln w="6349">
            <a:solidFill>
              <a:srgbClr val="1A4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rd Background 4"/>
          <p:cNvSpPr/>
          <p:nvPr/>
        </p:nvSpPr>
        <p:spPr>
          <a:xfrm>
            <a:off x="4444888" y="1397000"/>
            <a:ext cx="1269968" cy="1778000"/>
          </a:xfrm>
          <a:prstGeom prst="roundRect">
            <a:avLst/>
          </a:prstGeom>
          <a:solidFill>
            <a:srgbClr val="0A1E3D"/>
          </a:solidFill>
          <a:ln w="6349">
            <a:solidFill>
              <a:srgbClr val="1A4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 Background 5"/>
          <p:cNvSpPr/>
          <p:nvPr/>
        </p:nvSpPr>
        <p:spPr>
          <a:xfrm>
            <a:off x="5714857" y="1397000"/>
            <a:ext cx="1269968" cy="1778000"/>
          </a:xfrm>
          <a:prstGeom prst="roundRect">
            <a:avLst/>
          </a:prstGeom>
          <a:solidFill>
            <a:srgbClr val="0A1E3D"/>
          </a:solidFill>
          <a:ln w="6349">
            <a:solidFill>
              <a:srgbClr val="1A4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rd Background 6"/>
          <p:cNvSpPr/>
          <p:nvPr/>
        </p:nvSpPr>
        <p:spPr>
          <a:xfrm>
            <a:off x="6984825" y="1397000"/>
            <a:ext cx="1269968" cy="1778000"/>
          </a:xfrm>
          <a:prstGeom prst="roundRect">
            <a:avLst/>
          </a:prstGeom>
          <a:solidFill>
            <a:srgbClr val="0A1E3D"/>
          </a:solidFill>
          <a:ln w="6349">
            <a:solidFill>
              <a:srgbClr val="1A4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rd Background 7"/>
          <p:cNvSpPr/>
          <p:nvPr/>
        </p:nvSpPr>
        <p:spPr>
          <a:xfrm>
            <a:off x="8254793" y="1397000"/>
            <a:ext cx="1269968" cy="1778000"/>
          </a:xfrm>
          <a:prstGeom prst="roundRect">
            <a:avLst/>
          </a:prstGeom>
          <a:solidFill>
            <a:srgbClr val="0A1E3D"/>
          </a:solidFill>
          <a:ln w="6349">
            <a:solidFill>
              <a:srgbClr val="1A4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ard Background 8"/>
          <p:cNvSpPr/>
          <p:nvPr/>
        </p:nvSpPr>
        <p:spPr>
          <a:xfrm>
            <a:off x="9524761" y="1397000"/>
            <a:ext cx="1269968" cy="1778000"/>
          </a:xfrm>
          <a:prstGeom prst="roundRect">
            <a:avLst/>
          </a:prstGeom>
          <a:solidFill>
            <a:srgbClr val="0A1E3D"/>
          </a:solidFill>
          <a:ln w="6349">
            <a:solidFill>
              <a:srgbClr val="1A4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entral Ring Outer"/>
          <p:cNvSpPr/>
          <p:nvPr/>
        </p:nvSpPr>
        <p:spPr>
          <a:xfrm>
            <a:off x="3492412" y="3809999"/>
            <a:ext cx="5206869" cy="1270000"/>
          </a:xfrm>
          <a:prstGeom prst="ellipse">
            <a:avLst/>
          </a:prstGeom>
          <a:noFill/>
          <a:ln w="12699">
            <a:solidFill>
              <a:srgbClr val="00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entral Ring Inner"/>
          <p:cNvSpPr/>
          <p:nvPr/>
        </p:nvSpPr>
        <p:spPr>
          <a:xfrm>
            <a:off x="4127396" y="4127499"/>
            <a:ext cx="3936901" cy="635000"/>
          </a:xfrm>
          <a:prstGeom prst="ellipse">
            <a:avLst/>
          </a:prstGeom>
          <a:noFill/>
          <a:ln w="12699">
            <a:solidFill>
              <a:srgbClr val="00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ide Block Left 1"/>
          <p:cNvSpPr/>
          <p:nvPr/>
        </p:nvSpPr>
        <p:spPr>
          <a:xfrm>
            <a:off x="317492" y="3619499"/>
            <a:ext cx="1396965" cy="380999"/>
          </a:xfrm>
          <a:prstGeom prst="roundRect">
            <a:avLst/>
          </a:prstGeom>
          <a:solidFill>
            <a:srgbClr val="0A1E3D"/>
          </a:solidFill>
          <a:ln w="6349">
            <a:solidFill>
              <a:srgbClr val="1A4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ide Block Left 2"/>
          <p:cNvSpPr/>
          <p:nvPr/>
        </p:nvSpPr>
        <p:spPr>
          <a:xfrm>
            <a:off x="317492" y="4190999"/>
            <a:ext cx="1396965" cy="380999"/>
          </a:xfrm>
          <a:prstGeom prst="roundRect">
            <a:avLst/>
          </a:prstGeom>
          <a:solidFill>
            <a:srgbClr val="0A1E3D"/>
          </a:solidFill>
          <a:ln w="6349">
            <a:solidFill>
              <a:srgbClr val="1A4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ide Block Right 1"/>
          <p:cNvSpPr/>
          <p:nvPr/>
        </p:nvSpPr>
        <p:spPr>
          <a:xfrm>
            <a:off x="10477238" y="3619499"/>
            <a:ext cx="1396965" cy="380999"/>
          </a:xfrm>
          <a:prstGeom prst="roundRect">
            <a:avLst/>
          </a:prstGeom>
          <a:solidFill>
            <a:srgbClr val="0A1E3D"/>
          </a:solidFill>
          <a:ln w="6349">
            <a:solidFill>
              <a:srgbClr val="1A4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ide Block Right 2"/>
          <p:cNvSpPr/>
          <p:nvPr/>
        </p:nvSpPr>
        <p:spPr>
          <a:xfrm>
            <a:off x="10477238" y="4190999"/>
            <a:ext cx="1396965" cy="380999"/>
          </a:xfrm>
          <a:prstGeom prst="roundRect">
            <a:avLst/>
          </a:prstGeom>
          <a:solidFill>
            <a:srgbClr val="0A1E3D"/>
          </a:solidFill>
          <a:ln w="6349">
            <a:solidFill>
              <a:srgbClr val="1A4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imeline Node 1"/>
          <p:cNvSpPr/>
          <p:nvPr/>
        </p:nvSpPr>
        <p:spPr>
          <a:xfrm>
            <a:off x="1142971" y="1143000"/>
            <a:ext cx="253993" cy="254000"/>
          </a:xfrm>
          <a:prstGeom prst="ellipse">
            <a:avLst/>
          </a:prstGeom>
          <a:solidFill>
            <a:srgbClr val="0055AA"/>
          </a:solidFill>
          <a:ln w="12699">
            <a:solidFill>
              <a:srgbClr val="00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imeline Node 2"/>
          <p:cNvSpPr/>
          <p:nvPr/>
        </p:nvSpPr>
        <p:spPr>
          <a:xfrm>
            <a:off x="2412939" y="1143000"/>
            <a:ext cx="253993" cy="254000"/>
          </a:xfrm>
          <a:prstGeom prst="ellipse">
            <a:avLst/>
          </a:prstGeom>
          <a:solidFill>
            <a:srgbClr val="0055AA"/>
          </a:solidFill>
          <a:ln w="12699">
            <a:solidFill>
              <a:srgbClr val="00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meline Node 3"/>
          <p:cNvSpPr/>
          <p:nvPr/>
        </p:nvSpPr>
        <p:spPr>
          <a:xfrm>
            <a:off x="3682907" y="1143000"/>
            <a:ext cx="253993" cy="254000"/>
          </a:xfrm>
          <a:prstGeom prst="ellipse">
            <a:avLst/>
          </a:prstGeom>
          <a:solidFill>
            <a:srgbClr val="0055AA"/>
          </a:solidFill>
          <a:ln w="12699">
            <a:solidFill>
              <a:srgbClr val="00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imeline Node 4"/>
          <p:cNvSpPr/>
          <p:nvPr/>
        </p:nvSpPr>
        <p:spPr>
          <a:xfrm>
            <a:off x="4952876" y="1143000"/>
            <a:ext cx="253993" cy="254000"/>
          </a:xfrm>
          <a:prstGeom prst="ellipse">
            <a:avLst/>
          </a:prstGeom>
          <a:solidFill>
            <a:srgbClr val="0055AA"/>
          </a:solidFill>
          <a:ln w="12699">
            <a:solidFill>
              <a:srgbClr val="00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imeline Node 5"/>
          <p:cNvSpPr/>
          <p:nvPr/>
        </p:nvSpPr>
        <p:spPr>
          <a:xfrm>
            <a:off x="6222844" y="1143000"/>
            <a:ext cx="253993" cy="254000"/>
          </a:xfrm>
          <a:prstGeom prst="ellipse">
            <a:avLst/>
          </a:prstGeom>
          <a:solidFill>
            <a:srgbClr val="0055AA"/>
          </a:solidFill>
          <a:ln w="12699">
            <a:solidFill>
              <a:srgbClr val="00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imeline Node 6"/>
          <p:cNvSpPr/>
          <p:nvPr/>
        </p:nvSpPr>
        <p:spPr>
          <a:xfrm>
            <a:off x="7492812" y="1143000"/>
            <a:ext cx="253993" cy="254000"/>
          </a:xfrm>
          <a:prstGeom prst="ellipse">
            <a:avLst/>
          </a:prstGeom>
          <a:solidFill>
            <a:srgbClr val="0055AA"/>
          </a:solidFill>
          <a:ln w="12699">
            <a:solidFill>
              <a:srgbClr val="00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imeline Node 7"/>
          <p:cNvSpPr/>
          <p:nvPr/>
        </p:nvSpPr>
        <p:spPr>
          <a:xfrm>
            <a:off x="8762780" y="1143000"/>
            <a:ext cx="253993" cy="254000"/>
          </a:xfrm>
          <a:prstGeom prst="ellipse">
            <a:avLst/>
          </a:prstGeom>
          <a:solidFill>
            <a:srgbClr val="0055AA"/>
          </a:solidFill>
          <a:ln w="12699">
            <a:solidFill>
              <a:srgbClr val="00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imeline Node 8"/>
          <p:cNvSpPr/>
          <p:nvPr/>
        </p:nvSpPr>
        <p:spPr>
          <a:xfrm>
            <a:off x="10032749" y="1143000"/>
            <a:ext cx="253993" cy="254000"/>
          </a:xfrm>
          <a:prstGeom prst="ellipse">
            <a:avLst/>
          </a:prstGeom>
          <a:solidFill>
            <a:srgbClr val="0055AA"/>
          </a:solidFill>
          <a:ln w="12699">
            <a:solidFill>
              <a:srgbClr val="00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central_graphic_lay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2412" y="3301999"/>
            <a:ext cx="5206869" cy="2222500"/>
          </a:xfrm>
          <a:prstGeom prst="rect">
            <a:avLst/>
          </a:prstGeom>
        </p:spPr>
      </p:pic>
      <p:pic>
        <p:nvPicPr>
          <p:cNvPr id="25" name="Picture 24" descr="icon_pl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974" y="1904999"/>
            <a:ext cx="507987" cy="508000"/>
          </a:xfrm>
          <a:prstGeom prst="rect">
            <a:avLst/>
          </a:prstGeom>
        </p:spPr>
      </p:pic>
      <p:pic>
        <p:nvPicPr>
          <p:cNvPr id="26" name="Picture 25" descr="icon_server_sta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5942" y="1904999"/>
            <a:ext cx="507987" cy="508000"/>
          </a:xfrm>
          <a:prstGeom prst="rect">
            <a:avLst/>
          </a:prstGeom>
        </p:spPr>
      </p:pic>
      <p:pic>
        <p:nvPicPr>
          <p:cNvPr id="27" name="Picture 26" descr="icon_transform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5911" y="1904999"/>
            <a:ext cx="507987" cy="508000"/>
          </a:xfrm>
          <a:prstGeom prst="rect">
            <a:avLst/>
          </a:prstGeom>
        </p:spPr>
      </p:pic>
      <p:pic>
        <p:nvPicPr>
          <p:cNvPr id="28" name="Picture 27" descr="icon_network_nod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5879" y="1904999"/>
            <a:ext cx="507987" cy="508000"/>
          </a:xfrm>
          <a:prstGeom prst="rect">
            <a:avLst/>
          </a:prstGeom>
        </p:spPr>
      </p:pic>
      <p:pic>
        <p:nvPicPr>
          <p:cNvPr id="29" name="Picture 28" descr="icon_brai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5847" y="1904999"/>
            <a:ext cx="507987" cy="508000"/>
          </a:xfrm>
          <a:prstGeom prst="rect">
            <a:avLst/>
          </a:prstGeom>
        </p:spPr>
      </p:pic>
      <p:pic>
        <p:nvPicPr>
          <p:cNvPr id="30" name="Picture 29" descr="icon_blueprin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65815" y="1904999"/>
            <a:ext cx="507987" cy="508000"/>
          </a:xfrm>
          <a:prstGeom prst="rect">
            <a:avLst/>
          </a:prstGeom>
        </p:spPr>
      </p:pic>
      <p:pic>
        <p:nvPicPr>
          <p:cNvPr id="31" name="Picture 30" descr="icon_molecul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35784" y="1904999"/>
            <a:ext cx="507987" cy="508000"/>
          </a:xfrm>
          <a:prstGeom prst="rect">
            <a:avLst/>
          </a:prstGeom>
        </p:spPr>
      </p:pic>
      <p:pic>
        <p:nvPicPr>
          <p:cNvPr id="32" name="Picture 31" descr="icon_glob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05752" y="1904999"/>
            <a:ext cx="507987" cy="508000"/>
          </a:xfrm>
          <a:prstGeom prst="rect">
            <a:avLst/>
          </a:prstGeom>
        </p:spPr>
      </p:pic>
      <p:pic>
        <p:nvPicPr>
          <p:cNvPr id="33" name="Picture 32" descr="icon_peopl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7987" y="3746500"/>
            <a:ext cx="253993" cy="254000"/>
          </a:xfrm>
          <a:prstGeom prst="rect">
            <a:avLst/>
          </a:prstGeom>
        </p:spPr>
      </p:pic>
      <p:pic>
        <p:nvPicPr>
          <p:cNvPr id="34" name="Picture 33" descr="icon_cub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7987" y="4318000"/>
            <a:ext cx="253993" cy="254000"/>
          </a:xfrm>
          <a:prstGeom prst="rect">
            <a:avLst/>
          </a:prstGeom>
        </p:spPr>
      </p:pic>
      <p:pic>
        <p:nvPicPr>
          <p:cNvPr id="35" name="Picture 34" descr="icon_book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794730" y="3746500"/>
            <a:ext cx="253993" cy="254000"/>
          </a:xfrm>
          <a:prstGeom prst="rect">
            <a:avLst/>
          </a:prstGeom>
        </p:spPr>
      </p:pic>
      <p:pic>
        <p:nvPicPr>
          <p:cNvPr id="36" name="Picture 35" descr="icon_wrench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794730" y="4318000"/>
            <a:ext cx="253993" cy="254000"/>
          </a:xfrm>
          <a:prstGeom prst="rect">
            <a:avLst/>
          </a:prstGeom>
        </p:spPr>
      </p:pic>
      <p:pic>
        <p:nvPicPr>
          <p:cNvPr id="37" name="Picture 36" descr="bottom_icons_row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52476" y="5715000"/>
            <a:ext cx="10286742" cy="508000"/>
          </a:xfrm>
          <a:prstGeom prst="rect">
            <a:avLst/>
          </a:prstGeom>
        </p:spPr>
      </p:pic>
      <p:sp>
        <p:nvSpPr>
          <p:cNvPr id="38" name="Main Title"/>
          <p:cNvSpPr txBox="1"/>
          <p:nvPr/>
        </p:nvSpPr>
        <p:spPr>
          <a:xfrm>
            <a:off x="4063898" y="254000"/>
            <a:ext cx="4063898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“大瓦特”演进路线图</a:t>
            </a:r>
          </a:p>
        </p:txBody>
      </p:sp>
      <p:sp>
        <p:nvSpPr>
          <p:cNvPr id="39" name="Subtitle 1"/>
          <p:cNvSpPr txBox="1"/>
          <p:nvPr/>
        </p:nvSpPr>
        <p:spPr>
          <a:xfrm>
            <a:off x="5333866" y="825499"/>
            <a:ext cx="1523961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99" b="1" i="0">
                <a:solidFill>
                  <a:srgbClr val="FFAA00"/>
                </a:solidFill>
                <a:latin typeface="Microsoft YaHei"/>
                <a:ea typeface="Microsoft YaHei"/>
                <a:cs typeface="Microsoft YaHei"/>
              </a:rPr>
              <a:t>路标与核心亮点</a:t>
            </a:r>
          </a:p>
        </p:txBody>
      </p:sp>
      <p:sp>
        <p:nvSpPr>
          <p:cNvPr id="40" name="Subtitle 2"/>
          <p:cNvSpPr txBox="1"/>
          <p:nvPr/>
        </p:nvSpPr>
        <p:spPr>
          <a:xfrm>
            <a:off x="4762380" y="1111250"/>
            <a:ext cx="2666933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99" b="0" i="0">
                <a:solidFill>
                  <a:srgbClr val="88AADD"/>
                </a:solidFill>
                <a:latin typeface="Microsoft YaHei"/>
                <a:ea typeface="Microsoft YaHei"/>
                <a:cs typeface="Microsoft YaHei"/>
              </a:rPr>
              <a:t>从多模态服务化迈向电力世界模型</a:t>
            </a:r>
          </a:p>
        </p:txBody>
      </p:sp>
      <p:sp>
        <p:nvSpPr>
          <p:cNvPr id="41" name="Timeline Text 1"/>
          <p:cNvSpPr txBox="1"/>
          <p:nvPr/>
        </p:nvSpPr>
        <p:spPr>
          <a:xfrm>
            <a:off x="698482" y="1397000"/>
            <a:ext cx="1142971" cy="165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1.0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2025.05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定位：多模态服务化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亮点：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建成南网首个，电力多模态能力入口，成功适配国产算力，实现全自主安全可控。</a:t>
            </a:r>
          </a:p>
        </p:txBody>
      </p:sp>
      <p:sp>
        <p:nvSpPr>
          <p:cNvPr id="42" name="Timeline Text 2"/>
          <p:cNvSpPr txBox="1"/>
          <p:nvPr/>
        </p:nvSpPr>
        <p:spPr>
          <a:xfrm>
            <a:off x="1968450" y="1397000"/>
            <a:ext cx="1142971" cy="165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1.1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2025.12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定位：能力规模化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亮点：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底座全面迭代升级，正式备千亿级参数规模模型能力。</a:t>
            </a:r>
          </a:p>
        </p:txBody>
      </p:sp>
      <p:sp>
        <p:nvSpPr>
          <p:cNvPr id="43" name="Timeline Text 3"/>
          <p:cNvSpPr txBox="1"/>
          <p:nvPr/>
        </p:nvSpPr>
        <p:spPr>
          <a:xfrm>
            <a:off x="3238419" y="1397000"/>
            <a:ext cx="1142971" cy="165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2.0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2026.04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定位：行业专业化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亮点：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完成72B行业微调模型全面升级，强化电力专业能力，高效流转典型业务场景。</a:t>
            </a:r>
          </a:p>
        </p:txBody>
      </p:sp>
      <p:sp>
        <p:nvSpPr>
          <p:cNvPr id="44" name="Timeline Text 4"/>
          <p:cNvSpPr txBox="1"/>
          <p:nvPr/>
        </p:nvSpPr>
        <p:spPr>
          <a:xfrm>
            <a:off x="4508387" y="1397000"/>
            <a:ext cx="1142971" cy="165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2.1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2026.06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定位：架构协同化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亮点：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上线 MoE 架构微调模型，实现专家协同、任务分流和多业务域协同，按需调用专业能力。</a:t>
            </a:r>
          </a:p>
        </p:txBody>
      </p:sp>
      <p:sp>
        <p:nvSpPr>
          <p:cNvPr id="45" name="Timeline Text 5"/>
          <p:cNvSpPr txBox="1"/>
          <p:nvPr/>
        </p:nvSpPr>
        <p:spPr>
          <a:xfrm>
            <a:off x="5778355" y="1397000"/>
            <a:ext cx="1142971" cy="165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2.2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2026.08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定位：推理原生化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亮点：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引入强化学习与慢思考机制，增强逻辑推理、知识增强和工具调用能力。</a:t>
            </a:r>
          </a:p>
        </p:txBody>
      </p:sp>
      <p:sp>
        <p:nvSpPr>
          <p:cNvPr id="46" name="Timeline Text 6"/>
          <p:cNvSpPr txBox="1"/>
          <p:nvPr/>
        </p:nvSpPr>
        <p:spPr>
          <a:xfrm>
            <a:off x="7048323" y="1397000"/>
            <a:ext cx="1142971" cy="165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3.0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2026.01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定位：工业图纸化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亮点：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行业首发电力多模态工业图纸模型，具备图纸解析、规则校核和辅助设计能力。</a:t>
            </a:r>
          </a:p>
        </p:txBody>
      </p:sp>
      <p:sp>
        <p:nvSpPr>
          <p:cNvPr id="47" name="Timeline Text 7"/>
          <p:cNvSpPr txBox="1"/>
          <p:nvPr/>
        </p:nvSpPr>
        <p:spPr>
          <a:xfrm>
            <a:off x="8318292" y="1397000"/>
            <a:ext cx="1142971" cy="165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3.1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2027.04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定位：拓扑认知化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亮点：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融合多源数据，构建“图像—设备—空间—拓扑”联合推理能力，形成电力行业结构化认知壁垒。</a:t>
            </a:r>
          </a:p>
        </p:txBody>
      </p:sp>
      <p:sp>
        <p:nvSpPr>
          <p:cNvPr id="48" name="Timeline Text 8"/>
          <p:cNvSpPr txBox="1"/>
          <p:nvPr/>
        </p:nvSpPr>
        <p:spPr>
          <a:xfrm>
            <a:off x="9588260" y="1397000"/>
            <a:ext cx="1142971" cy="165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4.0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2027.12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定位：世界模型化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亮点：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发布电力多模态世界模型，实现物理仿真与智能推演、从理解现场迈向推演现场、辅助决策。</a:t>
            </a:r>
          </a:p>
        </p:txBody>
      </p:sp>
      <p:sp>
        <p:nvSpPr>
          <p:cNvPr id="49" name="Central Block Text"/>
          <p:cNvSpPr txBox="1"/>
          <p:nvPr/>
        </p:nvSpPr>
        <p:spPr>
          <a:xfrm>
            <a:off x="3809904" y="3492500"/>
            <a:ext cx="4571885" cy="1904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统一服务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电力专业多模态能力引擎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统一业务底座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业务驱动·场景普惠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统一数据底座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数据融合·知识增强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统一技术底座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算法领先·工程可靠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全域数据融合与知识沉淀</a:t>
            </a:r>
          </a:p>
        </p:txBody>
      </p:sp>
      <p:sp>
        <p:nvSpPr>
          <p:cNvPr id="50" name="Left Side Block Text"/>
          <p:cNvSpPr txBox="1"/>
          <p:nvPr/>
        </p:nvSpPr>
        <p:spPr>
          <a:xfrm>
            <a:off x="380990" y="3683000"/>
            <a:ext cx="1269968" cy="952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业务生态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多业务域协同赋能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模型生态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多模态模型协同演进</a:t>
            </a:r>
          </a:p>
        </p:txBody>
      </p:sp>
      <p:sp>
        <p:nvSpPr>
          <p:cNvPr id="51" name="Right Side Block Text"/>
          <p:cNvSpPr txBox="1"/>
          <p:nvPr/>
        </p:nvSpPr>
        <p:spPr>
          <a:xfrm>
            <a:off x="10540736" y="3683000"/>
            <a:ext cx="1269968" cy="952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知识生态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电力专业知识体系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工具生态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工具链与应用集成</a:t>
            </a:r>
          </a:p>
        </p:txBody>
      </p:sp>
      <p:sp>
        <p:nvSpPr>
          <p:cNvPr id="52" name="Bottom Path Text"/>
          <p:cNvSpPr txBox="1"/>
          <p:nvPr/>
        </p:nvSpPr>
        <p:spPr>
          <a:xfrm>
            <a:off x="634984" y="5588000"/>
            <a:ext cx="10921726" cy="952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演进路径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服务化入口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打通能力入口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规模化跃升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提升模型规模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行业专业化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深耕电力场景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架构协同化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专家协同智能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推理原生化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强化推理能力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工业图纸化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理解工程图纸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拓扑认知化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推理电网结构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世界模型化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仿真推演决策</a:t>
            </a:r>
          </a:p>
        </p:txBody>
      </p:sp>
      <p:sp>
        <p:nvSpPr>
          <p:cNvPr id="53" name="Domain Labels"/>
          <p:cNvSpPr txBox="1"/>
          <p:nvPr/>
        </p:nvSpPr>
        <p:spPr>
          <a:xfrm>
            <a:off x="2539936" y="5206999"/>
            <a:ext cx="7111822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99" b="0" i="0">
                <a:solidFill>
                  <a:srgbClr val="88AADD"/>
                </a:solidFill>
                <a:latin typeface="Microsoft YaHei"/>
                <a:ea typeface="Microsoft YaHei"/>
                <a:cs typeface="Microsoft YaHei"/>
              </a:rPr>
              <a:t>电网生产域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99" b="0" i="0">
                <a:solidFill>
                  <a:srgbClr val="88AADD"/>
                </a:solidFill>
                <a:latin typeface="Microsoft YaHei"/>
                <a:ea typeface="Microsoft YaHei"/>
                <a:cs typeface="Microsoft YaHei"/>
              </a:rPr>
              <a:t>设备资产域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99" b="0" i="0">
                <a:solidFill>
                  <a:srgbClr val="88AADD"/>
                </a:solidFill>
                <a:latin typeface="Microsoft YaHei"/>
                <a:ea typeface="Microsoft YaHei"/>
                <a:cs typeface="Microsoft YaHei"/>
              </a:rPr>
              <a:t>营销服务域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99" b="0" i="0">
                <a:solidFill>
                  <a:srgbClr val="88AADD"/>
                </a:solidFill>
                <a:latin typeface="Microsoft YaHei"/>
                <a:ea typeface="Microsoft YaHei"/>
                <a:cs typeface="Microsoft YaHei"/>
              </a:rPr>
              <a:t>安全管理域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99" b="0" i="0">
                <a:solidFill>
                  <a:srgbClr val="88AADD"/>
                </a:solidFill>
                <a:latin typeface="Microsoft YaHei"/>
                <a:ea typeface="Microsoft YaHei"/>
                <a:cs typeface="Microsoft YaHei"/>
              </a:rPr>
              <a:t>外部环境域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Image2PPT Deck</dc:title>
  <dc:subject>Generated by bggg-creator-image2ppt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