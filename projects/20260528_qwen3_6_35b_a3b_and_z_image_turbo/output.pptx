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_power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ackground_globe_wire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761" y="127000"/>
            <a:ext cx="2539936" cy="1270000"/>
          </a:xfrm>
          <a:prstGeom prst="rect">
            <a:avLst/>
          </a:prstGeom>
        </p:spPr>
      </p:pic>
      <p:cxnSp>
        <p:nvCxnSpPr>
          <p:cNvPr id="5" name="Timeline Connector Line"/>
          <p:cNvCxnSpPr/>
          <p:nvPr/>
        </p:nvCxnSpPr>
        <p:spPr>
          <a:xfrm>
            <a:off x="888977" y="1016000"/>
            <a:ext cx="7873803" cy="12700"/>
          </a:xfrm>
          <a:prstGeom prst="line">
            <a:avLst/>
          </a:prstGeom>
          <a:ln w="12699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rd 1"/>
          <p:cNvSpPr/>
          <p:nvPr/>
        </p:nvSpPr>
        <p:spPr>
          <a:xfrm>
            <a:off x="380990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"/>
          <p:cNvSpPr/>
          <p:nvPr/>
        </p:nvSpPr>
        <p:spPr>
          <a:xfrm>
            <a:off x="1523961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3"/>
          <p:cNvSpPr/>
          <p:nvPr/>
        </p:nvSpPr>
        <p:spPr>
          <a:xfrm>
            <a:off x="2666933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4"/>
          <p:cNvSpPr/>
          <p:nvPr/>
        </p:nvSpPr>
        <p:spPr>
          <a:xfrm>
            <a:off x="3809904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5"/>
          <p:cNvSpPr/>
          <p:nvPr/>
        </p:nvSpPr>
        <p:spPr>
          <a:xfrm>
            <a:off x="4952876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6"/>
          <p:cNvSpPr/>
          <p:nvPr/>
        </p:nvSpPr>
        <p:spPr>
          <a:xfrm>
            <a:off x="6095847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7"/>
          <p:cNvSpPr/>
          <p:nvPr/>
        </p:nvSpPr>
        <p:spPr>
          <a:xfrm>
            <a:off x="7238819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8"/>
          <p:cNvSpPr/>
          <p:nvPr/>
        </p:nvSpPr>
        <p:spPr>
          <a:xfrm>
            <a:off x="8381790" y="1270000"/>
            <a:ext cx="1142971" cy="1587499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entral Ring Outer"/>
          <p:cNvSpPr/>
          <p:nvPr/>
        </p:nvSpPr>
        <p:spPr>
          <a:xfrm>
            <a:off x="2857428" y="3174999"/>
            <a:ext cx="6476838" cy="1270000"/>
          </a:xfrm>
          <a:prstGeom prst="ellipse">
            <a:avLst/>
          </a:prstGeom>
          <a:solidFill>
            <a:srgbClr val="00AAFF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entral Ring Inner"/>
          <p:cNvSpPr/>
          <p:nvPr/>
        </p:nvSpPr>
        <p:spPr>
          <a:xfrm>
            <a:off x="3492412" y="3492500"/>
            <a:ext cx="5206869" cy="952499"/>
          </a:xfrm>
          <a:prstGeom prst="ellipse">
            <a:avLst/>
          </a:prstGeom>
          <a:solidFill>
            <a:srgbClr val="00AAFF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entral Pill 1"/>
          <p:cNvSpPr/>
          <p:nvPr/>
        </p:nvSpPr>
        <p:spPr>
          <a:xfrm>
            <a:off x="3809904" y="3683000"/>
            <a:ext cx="1142971" cy="380999"/>
          </a:xfrm>
          <a:prstGeom prst="roundRect">
            <a:avLst/>
          </a:prstGeom>
          <a:solidFill>
            <a:srgbClr val="0055AA"/>
          </a:solidFill>
          <a:ln w="634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entral Pill 2"/>
          <p:cNvSpPr/>
          <p:nvPr/>
        </p:nvSpPr>
        <p:spPr>
          <a:xfrm>
            <a:off x="5206869" y="3683000"/>
            <a:ext cx="1142971" cy="380999"/>
          </a:xfrm>
          <a:prstGeom prst="roundRect">
            <a:avLst/>
          </a:prstGeom>
          <a:solidFill>
            <a:srgbClr val="0055AA"/>
          </a:solidFill>
          <a:ln w="634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entral Pill 3"/>
          <p:cNvSpPr/>
          <p:nvPr/>
        </p:nvSpPr>
        <p:spPr>
          <a:xfrm>
            <a:off x="6603834" y="3683000"/>
            <a:ext cx="1142971" cy="380999"/>
          </a:xfrm>
          <a:prstGeom prst="roundRect">
            <a:avLst/>
          </a:prstGeom>
          <a:solidFill>
            <a:srgbClr val="0055AA"/>
          </a:solidFill>
          <a:ln w="634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ide Box 1"/>
          <p:cNvSpPr/>
          <p:nvPr/>
        </p:nvSpPr>
        <p:spPr>
          <a:xfrm>
            <a:off x="380990" y="3492500"/>
            <a:ext cx="1015974" cy="508000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 Box 2"/>
          <p:cNvSpPr/>
          <p:nvPr/>
        </p:nvSpPr>
        <p:spPr>
          <a:xfrm>
            <a:off x="380990" y="4127499"/>
            <a:ext cx="1015974" cy="508000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 Box 3"/>
          <p:cNvSpPr/>
          <p:nvPr/>
        </p:nvSpPr>
        <p:spPr>
          <a:xfrm>
            <a:off x="10794730" y="3492500"/>
            <a:ext cx="1015974" cy="508000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ide Box 4"/>
          <p:cNvSpPr/>
          <p:nvPr/>
        </p:nvSpPr>
        <p:spPr>
          <a:xfrm>
            <a:off x="10794730" y="4127499"/>
            <a:ext cx="1015974" cy="508000"/>
          </a:xfrm>
          <a:prstGeom prst="roundRect">
            <a:avLst/>
          </a:prstGeom>
          <a:solidFill>
            <a:srgbClr val="0A2A4A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ttom Path Arrow"/>
          <p:cNvSpPr/>
          <p:nvPr/>
        </p:nvSpPr>
        <p:spPr>
          <a:xfrm>
            <a:off x="952476" y="5715000"/>
            <a:ext cx="7619809" cy="635000"/>
          </a:xfrm>
          <a:prstGeom prst="rect">
            <a:avLst/>
          </a:prstGeom>
          <a:solidFill>
            <a:srgbClr val="00AAFF"/>
          </a:solidFill>
          <a:ln w="12699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" y="1778000"/>
            <a:ext cx="380990" cy="380999"/>
          </a:xfrm>
          <a:prstGeom prst="rect">
            <a:avLst/>
          </a:prstGeom>
        </p:spPr>
      </p:pic>
      <p:pic>
        <p:nvPicPr>
          <p:cNvPr id="25" name="Picture 24" descr="icon_server_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952" y="1778000"/>
            <a:ext cx="380990" cy="380999"/>
          </a:xfrm>
          <a:prstGeom prst="rect">
            <a:avLst/>
          </a:prstGeom>
        </p:spPr>
      </p:pic>
      <p:pic>
        <p:nvPicPr>
          <p:cNvPr id="26" name="Picture 25" descr="icon_transfor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23" y="1778000"/>
            <a:ext cx="380990" cy="380999"/>
          </a:xfrm>
          <a:prstGeom prst="rect">
            <a:avLst/>
          </a:prstGeom>
        </p:spPr>
      </p:pic>
      <p:pic>
        <p:nvPicPr>
          <p:cNvPr id="27" name="Picture 26" descr="icon_network_n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0895" y="1778000"/>
            <a:ext cx="380990" cy="380999"/>
          </a:xfrm>
          <a:prstGeom prst="rect">
            <a:avLst/>
          </a:prstGeom>
        </p:spPr>
      </p:pic>
      <p:pic>
        <p:nvPicPr>
          <p:cNvPr id="28" name="Picture 27" descr="icon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3866" y="1778000"/>
            <a:ext cx="380990" cy="380999"/>
          </a:xfrm>
          <a:prstGeom prst="rect">
            <a:avLst/>
          </a:prstGeom>
        </p:spPr>
      </p:pic>
      <p:pic>
        <p:nvPicPr>
          <p:cNvPr id="29" name="Picture 28" descr="icon_bluepr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38" y="1778000"/>
            <a:ext cx="380990" cy="380999"/>
          </a:xfrm>
          <a:prstGeom prst="rect">
            <a:avLst/>
          </a:prstGeom>
        </p:spPr>
      </p:pic>
      <p:pic>
        <p:nvPicPr>
          <p:cNvPr id="30" name="Picture 29" descr="icon_molecu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809" y="1778000"/>
            <a:ext cx="380990" cy="380999"/>
          </a:xfrm>
          <a:prstGeom prst="rect">
            <a:avLst/>
          </a:prstGeom>
        </p:spPr>
      </p:pic>
      <p:pic>
        <p:nvPicPr>
          <p:cNvPr id="31" name="Picture 30" descr="icon_glob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2780" y="1778000"/>
            <a:ext cx="380990" cy="380999"/>
          </a:xfrm>
          <a:prstGeom prst="rect">
            <a:avLst/>
          </a:prstGeom>
        </p:spPr>
      </p:pic>
      <p:pic>
        <p:nvPicPr>
          <p:cNvPr id="32" name="Picture 31" descr="icon_peo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987" y="3619499"/>
            <a:ext cx="253993" cy="254000"/>
          </a:xfrm>
          <a:prstGeom prst="rect">
            <a:avLst/>
          </a:prstGeom>
        </p:spPr>
      </p:pic>
      <p:pic>
        <p:nvPicPr>
          <p:cNvPr id="33" name="Picture 32" descr="icon_cub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987" y="4254500"/>
            <a:ext cx="253993" cy="254000"/>
          </a:xfrm>
          <a:prstGeom prst="rect">
            <a:avLst/>
          </a:prstGeom>
        </p:spPr>
      </p:pic>
      <p:pic>
        <p:nvPicPr>
          <p:cNvPr id="34" name="Picture 33" descr="icon_boo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1726" y="3619499"/>
            <a:ext cx="253993" cy="254000"/>
          </a:xfrm>
          <a:prstGeom prst="rect">
            <a:avLst/>
          </a:prstGeom>
        </p:spPr>
      </p:pic>
      <p:pic>
        <p:nvPicPr>
          <p:cNvPr id="35" name="Picture 34" descr="icon_wrenc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1726" y="4254500"/>
            <a:ext cx="253993" cy="254000"/>
          </a:xfrm>
          <a:prstGeom prst="rect">
            <a:avLst/>
          </a:prstGeom>
        </p:spPr>
      </p:pic>
      <p:pic>
        <p:nvPicPr>
          <p:cNvPr id="36" name="Picture 35" descr="icon_do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9968" y="5588000"/>
            <a:ext cx="317492" cy="317500"/>
          </a:xfrm>
          <a:prstGeom prst="rect">
            <a:avLst/>
          </a:prstGeom>
        </p:spPr>
      </p:pic>
      <p:pic>
        <p:nvPicPr>
          <p:cNvPr id="37" name="Picture 36" descr="icon_char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58946" y="5588000"/>
            <a:ext cx="317492" cy="317500"/>
          </a:xfrm>
          <a:prstGeom prst="rect">
            <a:avLst/>
          </a:prstGeom>
        </p:spPr>
      </p:pic>
      <p:pic>
        <p:nvPicPr>
          <p:cNvPr id="38" name="Picture 37" descr="icon_tower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7923" y="5588000"/>
            <a:ext cx="317492" cy="317500"/>
          </a:xfrm>
          <a:prstGeom prst="rect">
            <a:avLst/>
          </a:prstGeom>
        </p:spPr>
      </p:pic>
      <p:pic>
        <p:nvPicPr>
          <p:cNvPr id="39" name="Picture 38" descr="icon_people_grou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36901" y="5588000"/>
            <a:ext cx="317492" cy="317500"/>
          </a:xfrm>
          <a:prstGeom prst="rect">
            <a:avLst/>
          </a:prstGeom>
        </p:spPr>
      </p:pic>
      <p:pic>
        <p:nvPicPr>
          <p:cNvPr id="40" name="Picture 39" descr="icon_brain_bottom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5879" y="5588000"/>
            <a:ext cx="317492" cy="317500"/>
          </a:xfrm>
          <a:prstGeom prst="rect">
            <a:avLst/>
          </a:prstGeom>
        </p:spPr>
      </p:pic>
      <p:pic>
        <p:nvPicPr>
          <p:cNvPr id="41" name="Picture 40" descr="icon_blueprint_botto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4857" y="5588000"/>
            <a:ext cx="317492" cy="317500"/>
          </a:xfrm>
          <a:prstGeom prst="rect">
            <a:avLst/>
          </a:prstGeom>
        </p:spPr>
      </p:pic>
      <p:pic>
        <p:nvPicPr>
          <p:cNvPr id="42" name="Picture 41" descr="icon_molecule_botto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03834" y="5588000"/>
            <a:ext cx="317492" cy="317500"/>
          </a:xfrm>
          <a:prstGeom prst="rect">
            <a:avLst/>
          </a:prstGeom>
        </p:spPr>
      </p:pic>
      <p:pic>
        <p:nvPicPr>
          <p:cNvPr id="43" name="Picture 42" descr="icon_globe_bottom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92812" y="5588000"/>
            <a:ext cx="317492" cy="317500"/>
          </a:xfrm>
          <a:prstGeom prst="rect">
            <a:avLst/>
          </a:prstGeom>
        </p:spPr>
      </p:pic>
      <p:sp>
        <p:nvSpPr>
          <p:cNvPr id="44" name="Title Main"/>
          <p:cNvSpPr txBox="1"/>
          <p:nvPr/>
        </p:nvSpPr>
        <p:spPr>
          <a:xfrm>
            <a:off x="3809904" y="254000"/>
            <a:ext cx="457188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 演进路线图</a:t>
            </a:r>
          </a:p>
        </p:txBody>
      </p:sp>
      <p:sp>
        <p:nvSpPr>
          <p:cNvPr id="45" name="Title Sub"/>
          <p:cNvSpPr txBox="1"/>
          <p:nvPr/>
        </p:nvSpPr>
        <p:spPr>
          <a:xfrm>
            <a:off x="4952876" y="825499"/>
            <a:ext cx="2285942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46" name="Title Desc"/>
          <p:cNvSpPr txBox="1"/>
          <p:nvPr/>
        </p:nvSpPr>
        <p:spPr>
          <a:xfrm>
            <a:off x="4444888" y="1143000"/>
            <a:ext cx="3301917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47" name="Step Number 1"/>
          <p:cNvSpPr txBox="1"/>
          <p:nvPr/>
        </p:nvSpPr>
        <p:spPr>
          <a:xfrm>
            <a:off x="634984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Step Number 2"/>
          <p:cNvSpPr txBox="1"/>
          <p:nvPr/>
        </p:nvSpPr>
        <p:spPr>
          <a:xfrm>
            <a:off x="1777955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9" name="Step Number 3"/>
          <p:cNvSpPr txBox="1"/>
          <p:nvPr/>
        </p:nvSpPr>
        <p:spPr>
          <a:xfrm>
            <a:off x="2920926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Step Number 4"/>
          <p:cNvSpPr txBox="1"/>
          <p:nvPr/>
        </p:nvSpPr>
        <p:spPr>
          <a:xfrm>
            <a:off x="4063898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Step Number 5"/>
          <p:cNvSpPr txBox="1"/>
          <p:nvPr/>
        </p:nvSpPr>
        <p:spPr>
          <a:xfrm>
            <a:off x="5206869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" name="Step Number 6"/>
          <p:cNvSpPr txBox="1"/>
          <p:nvPr/>
        </p:nvSpPr>
        <p:spPr>
          <a:xfrm>
            <a:off x="6349841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3" name="Step Number 7"/>
          <p:cNvSpPr txBox="1"/>
          <p:nvPr/>
        </p:nvSpPr>
        <p:spPr>
          <a:xfrm>
            <a:off x="7492812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4" name="Step Number 8"/>
          <p:cNvSpPr txBox="1"/>
          <p:nvPr/>
        </p:nvSpPr>
        <p:spPr>
          <a:xfrm>
            <a:off x="8635784" y="889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5" name="Card 1 Text"/>
          <p:cNvSpPr txBox="1"/>
          <p:nvPr/>
        </p:nvSpPr>
        <p:spPr>
          <a:xfrm>
            <a:off x="380990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亮点：建成南网首个，电力多模态能力入口，成功适配国产算力，实现全自主安全可控。</a:t>
            </a:r>
          </a:p>
        </p:txBody>
      </p:sp>
      <p:sp>
        <p:nvSpPr>
          <p:cNvPr id="56" name="Card 2 Text"/>
          <p:cNvSpPr txBox="1"/>
          <p:nvPr/>
        </p:nvSpPr>
        <p:spPr>
          <a:xfrm>
            <a:off x="1523961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亮点：底座全面迭代升级，正式备千亿级参数规模模型能力。</a:t>
            </a:r>
          </a:p>
        </p:txBody>
      </p:sp>
      <p:sp>
        <p:nvSpPr>
          <p:cNvPr id="57" name="Card 3 Text"/>
          <p:cNvSpPr txBox="1"/>
          <p:nvPr/>
        </p:nvSpPr>
        <p:spPr>
          <a:xfrm>
            <a:off x="2666933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亮点：完成72B行业微调模型全面升级，强化电力专业能力，高效流转典型业务场景。</a:t>
            </a:r>
          </a:p>
        </p:txBody>
      </p:sp>
      <p:sp>
        <p:nvSpPr>
          <p:cNvPr id="58" name="Card 4 Text"/>
          <p:cNvSpPr txBox="1"/>
          <p:nvPr/>
        </p:nvSpPr>
        <p:spPr>
          <a:xfrm>
            <a:off x="3809904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亮点：上线 MoE 架构微调模型，实现专家协同、任务分流和多业务域协同，按需调用专业能力。</a:t>
            </a:r>
          </a:p>
        </p:txBody>
      </p:sp>
      <p:sp>
        <p:nvSpPr>
          <p:cNvPr id="59" name="Card 5 Text"/>
          <p:cNvSpPr txBox="1"/>
          <p:nvPr/>
        </p:nvSpPr>
        <p:spPr>
          <a:xfrm>
            <a:off x="4952876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亮点：引入强化学习与慢思考机制，增强逻辑推理、知识增强和工具调用能力。</a:t>
            </a:r>
          </a:p>
        </p:txBody>
      </p:sp>
      <p:sp>
        <p:nvSpPr>
          <p:cNvPr id="60" name="Card 6 Text"/>
          <p:cNvSpPr txBox="1"/>
          <p:nvPr/>
        </p:nvSpPr>
        <p:spPr>
          <a:xfrm>
            <a:off x="6095847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亮点：行业首发电力多模态工业图纸模型，具备图纸解析、规则校核和辅助设计能力。</a:t>
            </a:r>
          </a:p>
        </p:txBody>
      </p:sp>
      <p:sp>
        <p:nvSpPr>
          <p:cNvPr id="61" name="Card 7 Text"/>
          <p:cNvSpPr txBox="1"/>
          <p:nvPr/>
        </p:nvSpPr>
        <p:spPr>
          <a:xfrm>
            <a:off x="7238819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亮点：融合多源数据，构建“图像—设备—空间—拓扑”联合推理能力，形成电力行业结构化认知壁垒。</a:t>
            </a:r>
          </a:p>
        </p:txBody>
      </p:sp>
      <p:sp>
        <p:nvSpPr>
          <p:cNvPr id="62" name="Card 8 Text"/>
          <p:cNvSpPr txBox="1"/>
          <p:nvPr/>
        </p:nvSpPr>
        <p:spPr>
          <a:xfrm>
            <a:off x="8381790" y="1270000"/>
            <a:ext cx="1142971" cy="1587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亮点：发布电力多模态世界模型，实现物理仿真与智能推演、从理解现场迈向推演现场、辅助决策。</a:t>
            </a:r>
          </a:p>
        </p:txBody>
      </p:sp>
      <p:sp>
        <p:nvSpPr>
          <p:cNvPr id="63" name="Central Service Title"/>
          <p:cNvSpPr txBox="1"/>
          <p:nvPr/>
        </p:nvSpPr>
        <p:spPr>
          <a:xfrm>
            <a:off x="5397365" y="3047999"/>
            <a:ext cx="139696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64" name="Central Engine Title"/>
          <p:cNvSpPr txBox="1"/>
          <p:nvPr/>
        </p:nvSpPr>
        <p:spPr>
          <a:xfrm>
            <a:off x="4127396" y="3301999"/>
            <a:ext cx="3936901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65" name="Pillar 1 Text"/>
          <p:cNvSpPr txBox="1"/>
          <p:nvPr/>
        </p:nvSpPr>
        <p:spPr>
          <a:xfrm>
            <a:off x="3809904" y="3683000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66" name="Pillar 2 Text"/>
          <p:cNvSpPr txBox="1"/>
          <p:nvPr/>
        </p:nvSpPr>
        <p:spPr>
          <a:xfrm>
            <a:off x="5206869" y="3683000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67" name="Pillar 3 Text"/>
          <p:cNvSpPr txBox="1"/>
          <p:nvPr/>
        </p:nvSpPr>
        <p:spPr>
          <a:xfrm>
            <a:off x="6603834" y="3683000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68" name="Data Fusion Title"/>
          <p:cNvSpPr txBox="1"/>
          <p:nvPr/>
        </p:nvSpPr>
        <p:spPr>
          <a:xfrm>
            <a:off x="4127396" y="4318000"/>
            <a:ext cx="393690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69" name="Domain 1"/>
          <p:cNvSpPr txBox="1"/>
          <p:nvPr/>
        </p:nvSpPr>
        <p:spPr>
          <a:xfrm>
            <a:off x="2539936" y="4762500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0" name="Domain 2"/>
          <p:cNvSpPr txBox="1"/>
          <p:nvPr/>
        </p:nvSpPr>
        <p:spPr>
          <a:xfrm>
            <a:off x="3809904" y="4762500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1" name="Domain 3"/>
          <p:cNvSpPr txBox="1"/>
          <p:nvPr/>
        </p:nvSpPr>
        <p:spPr>
          <a:xfrm>
            <a:off x="5079873" y="4762500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2" name="Domain 4"/>
          <p:cNvSpPr txBox="1"/>
          <p:nvPr/>
        </p:nvSpPr>
        <p:spPr>
          <a:xfrm>
            <a:off x="6349841" y="4762500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73" name="Domain 5"/>
          <p:cNvSpPr txBox="1"/>
          <p:nvPr/>
        </p:nvSpPr>
        <p:spPr>
          <a:xfrm>
            <a:off x="7619809" y="4762500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74" name="Side Ecosystem 1"/>
          <p:cNvSpPr txBox="1"/>
          <p:nvPr/>
        </p:nvSpPr>
        <p:spPr>
          <a:xfrm>
            <a:off x="380990" y="3492500"/>
            <a:ext cx="101597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75" name="Side Ecosystem 2"/>
          <p:cNvSpPr txBox="1"/>
          <p:nvPr/>
        </p:nvSpPr>
        <p:spPr>
          <a:xfrm>
            <a:off x="380990" y="4127499"/>
            <a:ext cx="101597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76" name="Side Ecosystem 3"/>
          <p:cNvSpPr txBox="1"/>
          <p:nvPr/>
        </p:nvSpPr>
        <p:spPr>
          <a:xfrm>
            <a:off x="10794730" y="3492500"/>
            <a:ext cx="101597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77" name="Side Ecosystem 4"/>
          <p:cNvSpPr txBox="1"/>
          <p:nvPr/>
        </p:nvSpPr>
        <p:spPr>
          <a:xfrm>
            <a:off x="10794730" y="4127499"/>
            <a:ext cx="1015974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78" name="Evolution Title"/>
          <p:cNvSpPr txBox="1"/>
          <p:nvPr/>
        </p:nvSpPr>
        <p:spPr>
          <a:xfrm>
            <a:off x="380990" y="5397500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79" name="Bottom Step 1"/>
          <p:cNvSpPr txBox="1"/>
          <p:nvPr/>
        </p:nvSpPr>
        <p:spPr>
          <a:xfrm>
            <a:off x="1142971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0" name="Bottom Step 2"/>
          <p:cNvSpPr txBox="1"/>
          <p:nvPr/>
        </p:nvSpPr>
        <p:spPr>
          <a:xfrm>
            <a:off x="2031949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1" name="Bottom Step 3"/>
          <p:cNvSpPr txBox="1"/>
          <p:nvPr/>
        </p:nvSpPr>
        <p:spPr>
          <a:xfrm>
            <a:off x="2920926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2" name="Bottom Step 4"/>
          <p:cNvSpPr txBox="1"/>
          <p:nvPr/>
        </p:nvSpPr>
        <p:spPr>
          <a:xfrm>
            <a:off x="3809904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83" name="Bottom Step 5"/>
          <p:cNvSpPr txBox="1"/>
          <p:nvPr/>
        </p:nvSpPr>
        <p:spPr>
          <a:xfrm>
            <a:off x="4698882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84" name="Bottom Step 6"/>
          <p:cNvSpPr txBox="1"/>
          <p:nvPr/>
        </p:nvSpPr>
        <p:spPr>
          <a:xfrm>
            <a:off x="5587860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85" name="Bottom Step 7"/>
          <p:cNvSpPr txBox="1"/>
          <p:nvPr/>
        </p:nvSpPr>
        <p:spPr>
          <a:xfrm>
            <a:off x="6476838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86" name="Bottom Step 8"/>
          <p:cNvSpPr txBox="1"/>
          <p:nvPr/>
        </p:nvSpPr>
        <p:spPr>
          <a:xfrm>
            <a:off x="7365815" y="6032499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