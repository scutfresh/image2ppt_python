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Rect_1"/>
          <p:cNvSpPr/>
          <p:nvPr/>
        </p:nvSpPr>
        <p:spPr>
          <a:xfrm>
            <a:off x="158746" y="889000"/>
            <a:ext cx="1142971" cy="1841500"/>
          </a:xfrm>
          <a:prstGeom prst="roundRect">
            <a:avLst/>
          </a:prstGeom>
          <a:solidFill>
            <a:srgbClr val="0A1A3F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Rect_2"/>
          <p:cNvSpPr/>
          <p:nvPr/>
        </p:nvSpPr>
        <p:spPr>
          <a:xfrm>
            <a:off x="1492212" y="889000"/>
            <a:ext cx="1142971" cy="1841500"/>
          </a:xfrm>
          <a:prstGeom prst="roundRect">
            <a:avLst/>
          </a:prstGeom>
          <a:solidFill>
            <a:srgbClr val="0A1A3F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Rect_3"/>
          <p:cNvSpPr/>
          <p:nvPr/>
        </p:nvSpPr>
        <p:spPr>
          <a:xfrm>
            <a:off x="2825679" y="889000"/>
            <a:ext cx="1142971" cy="1841500"/>
          </a:xfrm>
          <a:prstGeom prst="roundRect">
            <a:avLst/>
          </a:prstGeom>
          <a:solidFill>
            <a:srgbClr val="0A1A3F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Rect_4"/>
          <p:cNvSpPr/>
          <p:nvPr/>
        </p:nvSpPr>
        <p:spPr>
          <a:xfrm>
            <a:off x="4159146" y="889000"/>
            <a:ext cx="1142971" cy="1841500"/>
          </a:xfrm>
          <a:prstGeom prst="roundRect">
            <a:avLst/>
          </a:prstGeom>
          <a:solidFill>
            <a:srgbClr val="0A1A3F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Rect_5"/>
          <p:cNvSpPr/>
          <p:nvPr/>
        </p:nvSpPr>
        <p:spPr>
          <a:xfrm>
            <a:off x="5492612" y="889000"/>
            <a:ext cx="1142971" cy="1841500"/>
          </a:xfrm>
          <a:prstGeom prst="roundRect">
            <a:avLst/>
          </a:prstGeom>
          <a:solidFill>
            <a:srgbClr val="0A1A3F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Rect_6"/>
          <p:cNvSpPr/>
          <p:nvPr/>
        </p:nvSpPr>
        <p:spPr>
          <a:xfrm>
            <a:off x="6826079" y="889000"/>
            <a:ext cx="1142971" cy="1841500"/>
          </a:xfrm>
          <a:prstGeom prst="roundRect">
            <a:avLst/>
          </a:prstGeom>
          <a:solidFill>
            <a:srgbClr val="0A1A3F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Rect_7"/>
          <p:cNvSpPr/>
          <p:nvPr/>
        </p:nvSpPr>
        <p:spPr>
          <a:xfrm>
            <a:off x="8159546" y="889000"/>
            <a:ext cx="1142971" cy="1841500"/>
          </a:xfrm>
          <a:prstGeom prst="roundRect">
            <a:avLst/>
          </a:prstGeom>
          <a:solidFill>
            <a:srgbClr val="0A1A3F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Rect_8"/>
          <p:cNvSpPr/>
          <p:nvPr/>
        </p:nvSpPr>
        <p:spPr>
          <a:xfrm>
            <a:off x="9493012" y="889000"/>
            <a:ext cx="1142971" cy="1841500"/>
          </a:xfrm>
          <a:prstGeom prst="roundRect">
            <a:avLst/>
          </a:prstGeom>
          <a:solidFill>
            <a:srgbClr val="0A1A3F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Rect_9"/>
          <p:cNvSpPr/>
          <p:nvPr/>
        </p:nvSpPr>
        <p:spPr>
          <a:xfrm>
            <a:off x="222244" y="2889249"/>
            <a:ext cx="1142971" cy="412749"/>
          </a:xfrm>
          <a:prstGeom prst="roundRect">
            <a:avLst/>
          </a:prstGeom>
          <a:solidFill>
            <a:srgbClr val="0A1A3F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Rect_10"/>
          <p:cNvSpPr/>
          <p:nvPr/>
        </p:nvSpPr>
        <p:spPr>
          <a:xfrm>
            <a:off x="222244" y="3429000"/>
            <a:ext cx="1142971" cy="412749"/>
          </a:xfrm>
          <a:prstGeom prst="roundRect">
            <a:avLst/>
          </a:prstGeom>
          <a:solidFill>
            <a:srgbClr val="0A1A3F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Rect_11"/>
          <p:cNvSpPr/>
          <p:nvPr/>
        </p:nvSpPr>
        <p:spPr>
          <a:xfrm>
            <a:off x="8223044" y="2889249"/>
            <a:ext cx="1142971" cy="412749"/>
          </a:xfrm>
          <a:prstGeom prst="roundRect">
            <a:avLst/>
          </a:prstGeom>
          <a:solidFill>
            <a:srgbClr val="0A1A3F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Rect_12"/>
          <p:cNvSpPr/>
          <p:nvPr/>
        </p:nvSpPr>
        <p:spPr>
          <a:xfrm>
            <a:off x="8223044" y="3429000"/>
            <a:ext cx="1142971" cy="412749"/>
          </a:xfrm>
          <a:prstGeom prst="roundRect">
            <a:avLst/>
          </a:prstGeom>
          <a:solidFill>
            <a:srgbClr val="0A1A3F"/>
          </a:solidFill>
          <a:ln w="12699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llipse_1"/>
          <p:cNvSpPr/>
          <p:nvPr/>
        </p:nvSpPr>
        <p:spPr>
          <a:xfrm>
            <a:off x="666733" y="857250"/>
            <a:ext cx="253993" cy="254000"/>
          </a:xfrm>
          <a:prstGeom prst="ellipse">
            <a:avLst/>
          </a:prstGeom>
          <a:solidFill>
            <a:srgbClr val="00BFFF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llipse_2"/>
          <p:cNvSpPr/>
          <p:nvPr/>
        </p:nvSpPr>
        <p:spPr>
          <a:xfrm>
            <a:off x="1873203" y="857250"/>
            <a:ext cx="253993" cy="254000"/>
          </a:xfrm>
          <a:prstGeom prst="ellipse">
            <a:avLst/>
          </a:prstGeom>
          <a:solidFill>
            <a:srgbClr val="00BFFF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llipse_3"/>
          <p:cNvSpPr/>
          <p:nvPr/>
        </p:nvSpPr>
        <p:spPr>
          <a:xfrm>
            <a:off x="3079673" y="857250"/>
            <a:ext cx="253993" cy="254000"/>
          </a:xfrm>
          <a:prstGeom prst="ellipse">
            <a:avLst/>
          </a:prstGeom>
          <a:solidFill>
            <a:srgbClr val="00BFFF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llipse_4"/>
          <p:cNvSpPr/>
          <p:nvPr/>
        </p:nvSpPr>
        <p:spPr>
          <a:xfrm>
            <a:off x="4286142" y="857250"/>
            <a:ext cx="253993" cy="254000"/>
          </a:xfrm>
          <a:prstGeom prst="ellipse">
            <a:avLst/>
          </a:prstGeom>
          <a:solidFill>
            <a:srgbClr val="00BFFF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llipse_5"/>
          <p:cNvSpPr/>
          <p:nvPr/>
        </p:nvSpPr>
        <p:spPr>
          <a:xfrm>
            <a:off x="5492612" y="857250"/>
            <a:ext cx="253993" cy="254000"/>
          </a:xfrm>
          <a:prstGeom prst="ellipse">
            <a:avLst/>
          </a:prstGeom>
          <a:solidFill>
            <a:srgbClr val="00BFFF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llipse_6"/>
          <p:cNvSpPr/>
          <p:nvPr/>
        </p:nvSpPr>
        <p:spPr>
          <a:xfrm>
            <a:off x="6699082" y="857250"/>
            <a:ext cx="253993" cy="254000"/>
          </a:xfrm>
          <a:prstGeom prst="ellipse">
            <a:avLst/>
          </a:prstGeom>
          <a:solidFill>
            <a:srgbClr val="00BFFF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llipse_7"/>
          <p:cNvSpPr/>
          <p:nvPr/>
        </p:nvSpPr>
        <p:spPr>
          <a:xfrm>
            <a:off x="7905552" y="857250"/>
            <a:ext cx="253993" cy="254000"/>
          </a:xfrm>
          <a:prstGeom prst="ellipse">
            <a:avLst/>
          </a:prstGeom>
          <a:solidFill>
            <a:srgbClr val="00BFFF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llipse_8"/>
          <p:cNvSpPr/>
          <p:nvPr/>
        </p:nvSpPr>
        <p:spPr>
          <a:xfrm>
            <a:off x="9112022" y="857250"/>
            <a:ext cx="253993" cy="254000"/>
          </a:xfrm>
          <a:prstGeom prst="ellipse">
            <a:avLst/>
          </a:prstGeom>
          <a:solidFill>
            <a:srgbClr val="00BFFF"/>
          </a:solidFill>
          <a:ln w="12699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line_1"/>
          <p:cNvCxnSpPr/>
          <p:nvPr/>
        </p:nvCxnSpPr>
        <p:spPr>
          <a:xfrm>
            <a:off x="984225" y="984250"/>
            <a:ext cx="8318292" cy="0"/>
          </a:xfrm>
          <a:prstGeom prst="line">
            <a:avLst/>
          </a:prstGeom>
          <a:ln w="12699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icon_power_pl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44" y="1619250"/>
            <a:ext cx="317492" cy="317500"/>
          </a:xfrm>
          <a:prstGeom prst="rect">
            <a:avLst/>
          </a:prstGeom>
        </p:spPr>
      </p:pic>
      <p:pic>
        <p:nvPicPr>
          <p:cNvPr id="25" name="Picture 24" descr="icon_data_s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2212" y="1619250"/>
            <a:ext cx="317492" cy="317500"/>
          </a:xfrm>
          <a:prstGeom prst="rect">
            <a:avLst/>
          </a:prstGeom>
        </p:spPr>
      </p:pic>
      <p:pic>
        <p:nvPicPr>
          <p:cNvPr id="26" name="Picture 25" descr="icon_power_st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2180" y="1619250"/>
            <a:ext cx="317492" cy="317500"/>
          </a:xfrm>
          <a:prstGeom prst="rect">
            <a:avLst/>
          </a:prstGeom>
        </p:spPr>
      </p:pic>
      <p:pic>
        <p:nvPicPr>
          <p:cNvPr id="27" name="Picture 26" descr="icon_netwo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2149" y="1619250"/>
            <a:ext cx="317492" cy="317500"/>
          </a:xfrm>
          <a:prstGeom prst="rect">
            <a:avLst/>
          </a:prstGeom>
        </p:spPr>
      </p:pic>
      <p:pic>
        <p:nvPicPr>
          <p:cNvPr id="28" name="Picture 27" descr="icon_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2117" y="1619250"/>
            <a:ext cx="317492" cy="317500"/>
          </a:xfrm>
          <a:prstGeom prst="rect">
            <a:avLst/>
          </a:prstGeom>
        </p:spPr>
      </p:pic>
      <p:pic>
        <p:nvPicPr>
          <p:cNvPr id="29" name="Picture 28" descr="icon_bluepri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085" y="1619250"/>
            <a:ext cx="317492" cy="317500"/>
          </a:xfrm>
          <a:prstGeom prst="rect">
            <a:avLst/>
          </a:prstGeom>
        </p:spPr>
      </p:pic>
      <p:pic>
        <p:nvPicPr>
          <p:cNvPr id="30" name="Picture 29" descr="icon_grap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2053" y="1619250"/>
            <a:ext cx="317492" cy="317500"/>
          </a:xfrm>
          <a:prstGeom prst="rect">
            <a:avLst/>
          </a:prstGeom>
        </p:spPr>
      </p:pic>
      <p:pic>
        <p:nvPicPr>
          <p:cNvPr id="31" name="Picture 30" descr="icon_eart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12022" y="1619250"/>
            <a:ext cx="317492" cy="317500"/>
          </a:xfrm>
          <a:prstGeom prst="rect">
            <a:avLst/>
          </a:prstGeom>
        </p:spPr>
      </p:pic>
      <p:pic>
        <p:nvPicPr>
          <p:cNvPr id="32" name="Picture 31" descr="icon_peopl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5742" y="2952750"/>
            <a:ext cx="317492" cy="317500"/>
          </a:xfrm>
          <a:prstGeom prst="rect">
            <a:avLst/>
          </a:prstGeom>
        </p:spPr>
      </p:pic>
      <p:pic>
        <p:nvPicPr>
          <p:cNvPr id="33" name="Picture 32" descr="icon_cub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5742" y="3524250"/>
            <a:ext cx="317492" cy="317500"/>
          </a:xfrm>
          <a:prstGeom prst="rect">
            <a:avLst/>
          </a:prstGeom>
        </p:spPr>
      </p:pic>
      <p:pic>
        <p:nvPicPr>
          <p:cNvPr id="34" name="Picture 33" descr="icon_documen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86542" y="2952750"/>
            <a:ext cx="317492" cy="317500"/>
          </a:xfrm>
          <a:prstGeom prst="rect">
            <a:avLst/>
          </a:prstGeom>
        </p:spPr>
      </p:pic>
      <p:pic>
        <p:nvPicPr>
          <p:cNvPr id="35" name="Picture 34" descr="icon_wrench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86542" y="3524250"/>
            <a:ext cx="317492" cy="317500"/>
          </a:xfrm>
          <a:prstGeom prst="rect">
            <a:avLst/>
          </a:prstGeom>
        </p:spPr>
      </p:pic>
      <p:pic>
        <p:nvPicPr>
          <p:cNvPr id="36" name="Picture 35" descr="icon_mobil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7723" y="4286250"/>
            <a:ext cx="317492" cy="317500"/>
          </a:xfrm>
          <a:prstGeom prst="rect">
            <a:avLst/>
          </a:prstGeom>
        </p:spPr>
      </p:pic>
      <p:pic>
        <p:nvPicPr>
          <p:cNvPr id="37" name="Picture 36" descr="icon_char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36701" y="4286250"/>
            <a:ext cx="317492" cy="317500"/>
          </a:xfrm>
          <a:prstGeom prst="rect">
            <a:avLst/>
          </a:prstGeom>
        </p:spPr>
      </p:pic>
      <p:pic>
        <p:nvPicPr>
          <p:cNvPr id="38" name="Picture 37" descr="icon_power_tower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89177" y="4286250"/>
            <a:ext cx="317492" cy="317500"/>
          </a:xfrm>
          <a:prstGeom prst="rect">
            <a:avLst/>
          </a:prstGeom>
        </p:spPr>
      </p:pic>
      <p:pic>
        <p:nvPicPr>
          <p:cNvPr id="39" name="Picture 38" descr="icon_people_group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05152" y="4286250"/>
            <a:ext cx="317492" cy="317500"/>
          </a:xfrm>
          <a:prstGeom prst="rect">
            <a:avLst/>
          </a:prstGeom>
        </p:spPr>
      </p:pic>
      <p:pic>
        <p:nvPicPr>
          <p:cNvPr id="40" name="Picture 39" descr="icon_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628" y="4286250"/>
            <a:ext cx="317492" cy="317500"/>
          </a:xfrm>
          <a:prstGeom prst="rect">
            <a:avLst/>
          </a:prstGeom>
        </p:spPr>
      </p:pic>
      <p:pic>
        <p:nvPicPr>
          <p:cNvPr id="41" name="Picture 40" descr="icon_bluepri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599" y="4286250"/>
            <a:ext cx="317492" cy="317500"/>
          </a:xfrm>
          <a:prstGeom prst="rect">
            <a:avLst/>
          </a:prstGeom>
        </p:spPr>
      </p:pic>
      <p:pic>
        <p:nvPicPr>
          <p:cNvPr id="42" name="Picture 41" descr="icon_netwo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0072" y="4286250"/>
            <a:ext cx="317492" cy="317500"/>
          </a:xfrm>
          <a:prstGeom prst="rect">
            <a:avLst/>
          </a:prstGeom>
        </p:spPr>
      </p:pic>
      <p:pic>
        <p:nvPicPr>
          <p:cNvPr id="43" name="Picture 42" descr="icon_eart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6047" y="4286250"/>
            <a:ext cx="317492" cy="317500"/>
          </a:xfrm>
          <a:prstGeom prst="rect">
            <a:avLst/>
          </a:prstGeom>
        </p:spPr>
      </p:pic>
      <p:pic>
        <p:nvPicPr>
          <p:cNvPr id="44" name="Picture 43" descr="central_engin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381190" y="2762249"/>
            <a:ext cx="4889377" cy="1270000"/>
          </a:xfrm>
          <a:prstGeom prst="rect">
            <a:avLst/>
          </a:prstGeom>
        </p:spPr>
      </p:pic>
      <p:pic>
        <p:nvPicPr>
          <p:cNvPr id="45" name="Picture 44" descr="top_right_glob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23044" y="95249"/>
            <a:ext cx="1142971" cy="793749"/>
          </a:xfrm>
          <a:prstGeom prst="rect">
            <a:avLst/>
          </a:prstGeom>
        </p:spPr>
      </p:pic>
      <p:pic>
        <p:nvPicPr>
          <p:cNvPr id="46" name="Picture 45" descr="bottom_left_building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63698" y="3460749"/>
            <a:ext cx="634984" cy="380999"/>
          </a:xfrm>
          <a:prstGeom prst="rect">
            <a:avLst/>
          </a:prstGeom>
        </p:spPr>
      </p:pic>
      <p:pic>
        <p:nvPicPr>
          <p:cNvPr id="47" name="Picture 46" descr="bottom_right_factory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26079" y="3206750"/>
            <a:ext cx="634984" cy="635000"/>
          </a:xfrm>
          <a:prstGeom prst="rect">
            <a:avLst/>
          </a:prstGeom>
        </p:spPr>
      </p:pic>
      <p:sp>
        <p:nvSpPr>
          <p:cNvPr id="48" name="title_1"/>
          <p:cNvSpPr txBox="1"/>
          <p:nvPr/>
        </p:nvSpPr>
        <p:spPr>
          <a:xfrm>
            <a:off x="2698682" y="101600"/>
            <a:ext cx="6699082" cy="374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"大模型"演进路线图</a:t>
            </a:r>
          </a:p>
        </p:txBody>
      </p:sp>
      <p:sp>
        <p:nvSpPr>
          <p:cNvPr id="49" name="title_2"/>
          <p:cNvSpPr txBox="1"/>
          <p:nvPr/>
        </p:nvSpPr>
        <p:spPr>
          <a:xfrm>
            <a:off x="4000399" y="539750"/>
            <a:ext cx="5397365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路径标与核心要点</a:t>
            </a:r>
          </a:p>
        </p:txBody>
      </p:sp>
      <p:sp>
        <p:nvSpPr>
          <p:cNvPr id="50" name="title_3"/>
          <p:cNvSpPr txBox="1"/>
          <p:nvPr/>
        </p:nvSpPr>
        <p:spPr>
          <a:xfrm>
            <a:off x="3841653" y="730250"/>
            <a:ext cx="5556111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从多模态服务化推进向电力世界模型</a:t>
            </a:r>
          </a:p>
        </p:txBody>
      </p:sp>
      <p:sp>
        <p:nvSpPr>
          <p:cNvPr id="51" name="body_text_1"/>
          <p:cNvSpPr txBox="1"/>
          <p:nvPr/>
        </p:nvSpPr>
        <p:spPr>
          <a:xfrm>
            <a:off x="158746" y="889000"/>
            <a:ext cx="1142971" cy="184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1.0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定位：多模态服务化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建成南网首个，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电力多模态能力入口，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成功适配国产算力，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实现全自主安全可控。</a:t>
            </a:r>
          </a:p>
        </p:txBody>
      </p:sp>
      <p:sp>
        <p:nvSpPr>
          <p:cNvPr id="52" name="body_text_2"/>
          <p:cNvSpPr txBox="1"/>
          <p:nvPr/>
        </p:nvSpPr>
        <p:spPr>
          <a:xfrm>
            <a:off x="1492212" y="889000"/>
            <a:ext cx="1142971" cy="184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1.1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定位：能力规模化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底座全面迭代升级，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正式发布千亿参数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规模模型能力。</a:t>
            </a:r>
          </a:p>
        </p:txBody>
      </p:sp>
      <p:sp>
        <p:nvSpPr>
          <p:cNvPr id="53" name="body_text_3"/>
          <p:cNvSpPr txBox="1"/>
          <p:nvPr/>
        </p:nvSpPr>
        <p:spPr>
          <a:xfrm>
            <a:off x="2825679" y="889000"/>
            <a:ext cx="1142971" cy="184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2.0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定位：行业专业化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完成72B行业微调模型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全面升级，强化电力专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业能力，高效流转典型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业务场景。</a:t>
            </a:r>
          </a:p>
        </p:txBody>
      </p:sp>
      <p:sp>
        <p:nvSpPr>
          <p:cNvPr id="54" name="body_text_4"/>
          <p:cNvSpPr txBox="1"/>
          <p:nvPr/>
        </p:nvSpPr>
        <p:spPr>
          <a:xfrm>
            <a:off x="4159146" y="889000"/>
            <a:ext cx="1142971" cy="184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2.1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定位：架构协同化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上线 MoE 架构微调模型，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实现专家协同、任务分流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和多业务域协同，按需调用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专业能力。</a:t>
            </a:r>
          </a:p>
        </p:txBody>
      </p:sp>
      <p:sp>
        <p:nvSpPr>
          <p:cNvPr id="55" name="body_text_5"/>
          <p:cNvSpPr txBox="1"/>
          <p:nvPr/>
        </p:nvSpPr>
        <p:spPr>
          <a:xfrm>
            <a:off x="5492612" y="889000"/>
            <a:ext cx="1142971" cy="184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2.2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定位：推理原生化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引入强化学习与慢思考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机制，增强逻辑推理、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知识增强和工具调用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能力。</a:t>
            </a:r>
          </a:p>
        </p:txBody>
      </p:sp>
      <p:sp>
        <p:nvSpPr>
          <p:cNvPr id="56" name="body_text_6"/>
          <p:cNvSpPr txBox="1"/>
          <p:nvPr/>
        </p:nvSpPr>
        <p:spPr>
          <a:xfrm>
            <a:off x="6826079" y="889000"/>
            <a:ext cx="1142971" cy="184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3.0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定位：工业图纸化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行业首发电力多模态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工业图纸模型，具备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图纸解析、规则校核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和辅助设计能力。</a:t>
            </a:r>
          </a:p>
        </p:txBody>
      </p:sp>
      <p:sp>
        <p:nvSpPr>
          <p:cNvPr id="57" name="body_text_7"/>
          <p:cNvSpPr txBox="1"/>
          <p:nvPr/>
        </p:nvSpPr>
        <p:spPr>
          <a:xfrm>
            <a:off x="8159546" y="889000"/>
            <a:ext cx="1142971" cy="184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3.1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定位：拓展认知化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融合多源数据，构建“图像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一设备一空间一拓展”联合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推理能力，形成电力行业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结构化认知基座。</a:t>
            </a:r>
          </a:p>
        </p:txBody>
      </p:sp>
      <p:sp>
        <p:nvSpPr>
          <p:cNvPr id="58" name="body_text_8"/>
          <p:cNvSpPr txBox="1"/>
          <p:nvPr/>
        </p:nvSpPr>
        <p:spPr>
          <a:xfrm>
            <a:off x="9493012" y="889000"/>
            <a:ext cx="1142971" cy="184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4.0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定位：世界模型化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发布电力多模态世界模型，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实现物理仿真与智能推演，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从理解现场迈向推演现场、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辅助决策。</a:t>
            </a:r>
          </a:p>
        </p:txBody>
      </p:sp>
      <p:sp>
        <p:nvSpPr>
          <p:cNvPr id="59" name="body_text_9"/>
          <p:cNvSpPr txBox="1"/>
          <p:nvPr/>
        </p:nvSpPr>
        <p:spPr>
          <a:xfrm>
            <a:off x="3778155" y="2762249"/>
            <a:ext cx="4635384" cy="412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统一服务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电力专业多模态能力引擎</a:t>
            </a:r>
          </a:p>
        </p:txBody>
      </p:sp>
      <p:sp>
        <p:nvSpPr>
          <p:cNvPr id="60" name="body_text_10"/>
          <p:cNvSpPr txBox="1"/>
          <p:nvPr/>
        </p:nvSpPr>
        <p:spPr>
          <a:xfrm>
            <a:off x="2698682" y="3079750"/>
            <a:ext cx="1015974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统一业务底座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业务驱动·场景普适</a:t>
            </a:r>
          </a:p>
        </p:txBody>
      </p:sp>
      <p:sp>
        <p:nvSpPr>
          <p:cNvPr id="61" name="body_text_11"/>
          <p:cNvSpPr txBox="1"/>
          <p:nvPr/>
        </p:nvSpPr>
        <p:spPr>
          <a:xfrm>
            <a:off x="4159146" y="3079750"/>
            <a:ext cx="1015974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统一数据底座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数据融合·知识增强</a:t>
            </a:r>
          </a:p>
        </p:txBody>
      </p:sp>
      <p:sp>
        <p:nvSpPr>
          <p:cNvPr id="62" name="body_text_12"/>
          <p:cNvSpPr txBox="1"/>
          <p:nvPr/>
        </p:nvSpPr>
        <p:spPr>
          <a:xfrm>
            <a:off x="5873603" y="3079750"/>
            <a:ext cx="1015974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统一技术底座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算法领先·工程可靠</a:t>
            </a:r>
          </a:p>
        </p:txBody>
      </p:sp>
      <p:sp>
        <p:nvSpPr>
          <p:cNvPr id="63" name="body_text_13"/>
          <p:cNvSpPr txBox="1"/>
          <p:nvPr/>
        </p:nvSpPr>
        <p:spPr>
          <a:xfrm>
            <a:off x="4095647" y="3651250"/>
            <a:ext cx="400039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全域能源数据融合与知识沉淀</a:t>
            </a:r>
          </a:p>
        </p:txBody>
      </p:sp>
      <p:sp>
        <p:nvSpPr>
          <p:cNvPr id="64" name="body_text_14"/>
          <p:cNvSpPr txBox="1"/>
          <p:nvPr/>
        </p:nvSpPr>
        <p:spPr>
          <a:xfrm>
            <a:off x="2825679" y="3905249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电网生产域</a:t>
            </a:r>
          </a:p>
        </p:txBody>
      </p:sp>
      <p:sp>
        <p:nvSpPr>
          <p:cNvPr id="65" name="body_text_15"/>
          <p:cNvSpPr txBox="1"/>
          <p:nvPr/>
        </p:nvSpPr>
        <p:spPr>
          <a:xfrm>
            <a:off x="3651158" y="3905249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设备资产域</a:t>
            </a:r>
          </a:p>
        </p:txBody>
      </p:sp>
      <p:sp>
        <p:nvSpPr>
          <p:cNvPr id="66" name="body_text_16"/>
          <p:cNvSpPr txBox="1"/>
          <p:nvPr/>
        </p:nvSpPr>
        <p:spPr>
          <a:xfrm>
            <a:off x="4476638" y="3905249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营销服务域</a:t>
            </a:r>
          </a:p>
        </p:txBody>
      </p:sp>
      <p:sp>
        <p:nvSpPr>
          <p:cNvPr id="67" name="body_text_17"/>
          <p:cNvSpPr txBox="1"/>
          <p:nvPr/>
        </p:nvSpPr>
        <p:spPr>
          <a:xfrm>
            <a:off x="5302117" y="3905249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安全管理域</a:t>
            </a:r>
          </a:p>
        </p:txBody>
      </p:sp>
      <p:sp>
        <p:nvSpPr>
          <p:cNvPr id="68" name="body_text_18"/>
          <p:cNvSpPr txBox="1"/>
          <p:nvPr/>
        </p:nvSpPr>
        <p:spPr>
          <a:xfrm>
            <a:off x="6127596" y="3905249"/>
            <a:ext cx="634984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外部环境域</a:t>
            </a:r>
          </a:p>
        </p:txBody>
      </p:sp>
      <p:sp>
        <p:nvSpPr>
          <p:cNvPr id="69" name="body_text_19"/>
          <p:cNvSpPr txBox="1"/>
          <p:nvPr/>
        </p:nvSpPr>
        <p:spPr>
          <a:xfrm>
            <a:off x="222244" y="2889249"/>
            <a:ext cx="1142971" cy="412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业务生态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多业务域协同赋能</a:t>
            </a:r>
          </a:p>
        </p:txBody>
      </p:sp>
      <p:sp>
        <p:nvSpPr>
          <p:cNvPr id="70" name="body_text_20"/>
          <p:cNvSpPr txBox="1"/>
          <p:nvPr/>
        </p:nvSpPr>
        <p:spPr>
          <a:xfrm>
            <a:off x="222244" y="3429000"/>
            <a:ext cx="1142971" cy="412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模型生态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多模态模型协同演进</a:t>
            </a:r>
          </a:p>
        </p:txBody>
      </p:sp>
      <p:sp>
        <p:nvSpPr>
          <p:cNvPr id="71" name="body_text_21"/>
          <p:cNvSpPr txBox="1"/>
          <p:nvPr/>
        </p:nvSpPr>
        <p:spPr>
          <a:xfrm>
            <a:off x="8223044" y="2889249"/>
            <a:ext cx="1142971" cy="412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知识生态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电力专业知识体系</a:t>
            </a:r>
          </a:p>
        </p:txBody>
      </p:sp>
      <p:sp>
        <p:nvSpPr>
          <p:cNvPr id="72" name="body_text_22"/>
          <p:cNvSpPr txBox="1"/>
          <p:nvPr/>
        </p:nvSpPr>
        <p:spPr>
          <a:xfrm>
            <a:off x="8223044" y="3429000"/>
            <a:ext cx="1142971" cy="4127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工具生态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工具链与应用集成</a:t>
            </a:r>
          </a:p>
        </p:txBody>
      </p:sp>
      <p:sp>
        <p:nvSpPr>
          <p:cNvPr id="73" name="body_text_23"/>
          <p:cNvSpPr txBox="1"/>
          <p:nvPr/>
        </p:nvSpPr>
        <p:spPr>
          <a:xfrm>
            <a:off x="190495" y="4159249"/>
            <a:ext cx="53973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99" b="1" i="0">
                <a:solidFill>
                  <a:srgbClr val="FFD700"/>
                </a:solidFill>
                <a:latin typeface="Microsoft YaHei"/>
                <a:ea typeface="Microsoft YaHei"/>
                <a:cs typeface="Microsoft YaHei"/>
              </a:rPr>
              <a:t>演进路径</a:t>
            </a:r>
          </a:p>
        </p:txBody>
      </p:sp>
      <p:sp>
        <p:nvSpPr>
          <p:cNvPr id="74" name="body_text_24"/>
          <p:cNvSpPr txBox="1"/>
          <p:nvPr/>
        </p:nvSpPr>
        <p:spPr>
          <a:xfrm>
            <a:off x="793730" y="4667249"/>
            <a:ext cx="698482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服务化入口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打通能力入口</a:t>
            </a:r>
          </a:p>
        </p:txBody>
      </p:sp>
      <p:sp>
        <p:nvSpPr>
          <p:cNvPr id="75" name="body_text_25"/>
          <p:cNvSpPr txBox="1"/>
          <p:nvPr/>
        </p:nvSpPr>
        <p:spPr>
          <a:xfrm>
            <a:off x="1809704" y="4667249"/>
            <a:ext cx="698482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规模化跃升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提升模型规模</a:t>
            </a:r>
          </a:p>
        </p:txBody>
      </p:sp>
      <p:sp>
        <p:nvSpPr>
          <p:cNvPr id="76" name="body_text_26"/>
          <p:cNvSpPr txBox="1"/>
          <p:nvPr/>
        </p:nvSpPr>
        <p:spPr>
          <a:xfrm>
            <a:off x="2825679" y="4667249"/>
            <a:ext cx="698482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行业专业化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深耕电力场景</a:t>
            </a:r>
          </a:p>
        </p:txBody>
      </p:sp>
      <p:sp>
        <p:nvSpPr>
          <p:cNvPr id="77" name="body_text_27"/>
          <p:cNvSpPr txBox="1"/>
          <p:nvPr/>
        </p:nvSpPr>
        <p:spPr>
          <a:xfrm>
            <a:off x="3841653" y="4667249"/>
            <a:ext cx="698482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架构协同化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专家协同智能</a:t>
            </a:r>
          </a:p>
        </p:txBody>
      </p:sp>
      <p:sp>
        <p:nvSpPr>
          <p:cNvPr id="78" name="body_text_28"/>
          <p:cNvSpPr txBox="1"/>
          <p:nvPr/>
        </p:nvSpPr>
        <p:spPr>
          <a:xfrm>
            <a:off x="4857628" y="4667249"/>
            <a:ext cx="698482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推理原生化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强化推理能力</a:t>
            </a:r>
          </a:p>
        </p:txBody>
      </p:sp>
      <p:sp>
        <p:nvSpPr>
          <p:cNvPr id="79" name="body_text_29"/>
          <p:cNvSpPr txBox="1"/>
          <p:nvPr/>
        </p:nvSpPr>
        <p:spPr>
          <a:xfrm>
            <a:off x="5873603" y="4667249"/>
            <a:ext cx="698482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工业图纸化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理解工程图纸</a:t>
            </a:r>
          </a:p>
        </p:txBody>
      </p:sp>
      <p:sp>
        <p:nvSpPr>
          <p:cNvPr id="80" name="body_text_30"/>
          <p:cNvSpPr txBox="1"/>
          <p:nvPr/>
        </p:nvSpPr>
        <p:spPr>
          <a:xfrm>
            <a:off x="6889577" y="4667249"/>
            <a:ext cx="698482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拓展认知化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推理电网结构</a:t>
            </a:r>
          </a:p>
        </p:txBody>
      </p:sp>
      <p:sp>
        <p:nvSpPr>
          <p:cNvPr id="81" name="body_text_31"/>
          <p:cNvSpPr txBox="1"/>
          <p:nvPr/>
        </p:nvSpPr>
        <p:spPr>
          <a:xfrm>
            <a:off x="7905552" y="4667249"/>
            <a:ext cx="698482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世界模型化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9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仿真推演决策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Image2PPT Deck</dc:title>
  <dc:subject>Generated by bggg-creator-image2ppt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