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_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itle_1"/>
          <p:cNvSpPr txBox="1"/>
          <p:nvPr/>
        </p:nvSpPr>
        <p:spPr>
          <a:xfrm>
            <a:off x="2698682" y="101600"/>
            <a:ext cx="6699082" cy="463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7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“大模型”演进路线图</a:t>
            </a:r>
          </a:p>
        </p:txBody>
      </p:sp>
      <p:sp>
        <p:nvSpPr>
          <p:cNvPr id="4" name="title_2"/>
          <p:cNvSpPr txBox="1"/>
          <p:nvPr/>
        </p:nvSpPr>
        <p:spPr>
          <a:xfrm>
            <a:off x="3968650" y="558800"/>
            <a:ext cx="5429114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99" b="1" i="0">
                <a:solidFill>
                  <a:srgbClr val="FFD700"/>
                </a:solidFill>
                <a:latin typeface="Microsoft YaHei"/>
                <a:ea typeface="Microsoft YaHei"/>
                <a:cs typeface="Microsoft YaHei"/>
              </a:rPr>
              <a:t>路径与核心要点</a:t>
            </a:r>
          </a:p>
        </p:txBody>
      </p:sp>
      <p:sp>
        <p:nvSpPr>
          <p:cNvPr id="5" name="title_3"/>
          <p:cNvSpPr txBox="1"/>
          <p:nvPr/>
        </p:nvSpPr>
        <p:spPr>
          <a:xfrm>
            <a:off x="3809904" y="730250"/>
            <a:ext cx="558786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从多模态服务化推进到电力世界模型</a:t>
            </a:r>
          </a:p>
        </p:txBody>
      </p:sp>
      <p:sp>
        <p:nvSpPr>
          <p:cNvPr id="6" name="body_text_1"/>
          <p:cNvSpPr txBox="1"/>
          <p:nvPr/>
        </p:nvSpPr>
        <p:spPr>
          <a:xfrm>
            <a:off x="285742" y="1143000"/>
            <a:ext cx="76198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大模型 1.0</a:t>
            </a:r>
          </a:p>
        </p:txBody>
      </p:sp>
      <p:sp>
        <p:nvSpPr>
          <p:cNvPr id="7" name="body_text_2"/>
          <p:cNvSpPr txBox="1"/>
          <p:nvPr/>
        </p:nvSpPr>
        <p:spPr>
          <a:xfrm>
            <a:off x="285742" y="1397000"/>
            <a:ext cx="1142971" cy="1523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定位：多模态服务化</a:t>
            </a:r>
          </a:p>
        </p:txBody>
      </p:sp>
      <p:sp>
        <p:nvSpPr>
          <p:cNvPr id="8" name="body_text_3"/>
          <p:cNvSpPr txBox="1"/>
          <p:nvPr/>
        </p:nvSpPr>
        <p:spPr>
          <a:xfrm>
            <a:off x="285742" y="2063749"/>
            <a:ext cx="1142971" cy="2603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建成南网首个，电力多模态能力入口，成功适配国产算力，实现全自主安全可控。</a:t>
            </a:r>
          </a:p>
        </p:txBody>
      </p:sp>
      <p:sp>
        <p:nvSpPr>
          <p:cNvPr id="9" name="body_text_4"/>
          <p:cNvSpPr txBox="1"/>
          <p:nvPr/>
        </p:nvSpPr>
        <p:spPr>
          <a:xfrm>
            <a:off x="1523961" y="1143000"/>
            <a:ext cx="2000199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大模型 1.1</a:t>
            </a:r>
          </a:p>
        </p:txBody>
      </p:sp>
      <p:sp>
        <p:nvSpPr>
          <p:cNvPr id="10" name="body_text_5"/>
          <p:cNvSpPr txBox="1"/>
          <p:nvPr/>
        </p:nvSpPr>
        <p:spPr>
          <a:xfrm>
            <a:off x="1523961" y="1397000"/>
            <a:ext cx="2381190" cy="1523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定位：能力规模化</a:t>
            </a:r>
          </a:p>
        </p:txBody>
      </p:sp>
      <p:sp>
        <p:nvSpPr>
          <p:cNvPr id="11" name="body_text_6"/>
          <p:cNvSpPr txBox="1"/>
          <p:nvPr/>
        </p:nvSpPr>
        <p:spPr>
          <a:xfrm>
            <a:off x="1523961" y="2063749"/>
            <a:ext cx="2381190" cy="2476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底座全面迭代升级，正式发布千亿级参数规模模型能力。</a:t>
            </a:r>
          </a:p>
        </p:txBody>
      </p:sp>
      <p:sp>
        <p:nvSpPr>
          <p:cNvPr id="12" name="body_text_7"/>
          <p:cNvSpPr txBox="1"/>
          <p:nvPr/>
        </p:nvSpPr>
        <p:spPr>
          <a:xfrm>
            <a:off x="2666933" y="1143000"/>
            <a:ext cx="3143171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大模型 2.0</a:t>
            </a:r>
          </a:p>
        </p:txBody>
      </p:sp>
      <p:sp>
        <p:nvSpPr>
          <p:cNvPr id="13" name="body_text_8"/>
          <p:cNvSpPr txBox="1"/>
          <p:nvPr/>
        </p:nvSpPr>
        <p:spPr>
          <a:xfrm>
            <a:off x="2666933" y="1397000"/>
            <a:ext cx="3524161" cy="1523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定位：行业专业化</a:t>
            </a:r>
          </a:p>
        </p:txBody>
      </p:sp>
      <p:sp>
        <p:nvSpPr>
          <p:cNvPr id="14" name="body_text_9"/>
          <p:cNvSpPr txBox="1"/>
          <p:nvPr/>
        </p:nvSpPr>
        <p:spPr>
          <a:xfrm>
            <a:off x="2666933" y="2063749"/>
            <a:ext cx="3524161" cy="2476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完成72B行业微调模型全面升级，强化电力专业能力，高效流转典型业务场景。</a:t>
            </a:r>
          </a:p>
        </p:txBody>
      </p:sp>
      <p:sp>
        <p:nvSpPr>
          <p:cNvPr id="15" name="body_text_10"/>
          <p:cNvSpPr txBox="1"/>
          <p:nvPr/>
        </p:nvSpPr>
        <p:spPr>
          <a:xfrm>
            <a:off x="3809904" y="1143000"/>
            <a:ext cx="4286142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大模型 2.1</a:t>
            </a:r>
          </a:p>
        </p:txBody>
      </p:sp>
      <p:sp>
        <p:nvSpPr>
          <p:cNvPr id="16" name="body_text_11"/>
          <p:cNvSpPr txBox="1"/>
          <p:nvPr/>
        </p:nvSpPr>
        <p:spPr>
          <a:xfrm>
            <a:off x="3809904" y="1397000"/>
            <a:ext cx="4667133" cy="1523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定位：架构协同化</a:t>
            </a:r>
          </a:p>
        </p:txBody>
      </p:sp>
      <p:sp>
        <p:nvSpPr>
          <p:cNvPr id="17" name="body_text_12"/>
          <p:cNvSpPr txBox="1"/>
          <p:nvPr/>
        </p:nvSpPr>
        <p:spPr>
          <a:xfrm>
            <a:off x="3809904" y="2063749"/>
            <a:ext cx="4667133" cy="2476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上线 MoE 架构微调模型，实现专家协同、任务分流和多业务域协同，按需调用专业能力。</a:t>
            </a:r>
          </a:p>
        </p:txBody>
      </p:sp>
      <p:sp>
        <p:nvSpPr>
          <p:cNvPr id="18" name="body_text_13"/>
          <p:cNvSpPr txBox="1"/>
          <p:nvPr/>
        </p:nvSpPr>
        <p:spPr>
          <a:xfrm>
            <a:off x="4952876" y="1143000"/>
            <a:ext cx="5429114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大模型 2.2</a:t>
            </a:r>
          </a:p>
        </p:txBody>
      </p:sp>
      <p:sp>
        <p:nvSpPr>
          <p:cNvPr id="19" name="body_text_14"/>
          <p:cNvSpPr txBox="1"/>
          <p:nvPr/>
        </p:nvSpPr>
        <p:spPr>
          <a:xfrm>
            <a:off x="4952876" y="1397000"/>
            <a:ext cx="5810104" cy="1523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定位：推理原生化</a:t>
            </a:r>
          </a:p>
        </p:txBody>
      </p:sp>
      <p:sp>
        <p:nvSpPr>
          <p:cNvPr id="20" name="body_text_15"/>
          <p:cNvSpPr txBox="1"/>
          <p:nvPr/>
        </p:nvSpPr>
        <p:spPr>
          <a:xfrm>
            <a:off x="4952876" y="2063749"/>
            <a:ext cx="5810104" cy="2476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引入强化学习与慢思考机制，增强逻辑推理、知识增强和工具调用能力。</a:t>
            </a:r>
          </a:p>
        </p:txBody>
      </p:sp>
      <p:sp>
        <p:nvSpPr>
          <p:cNvPr id="21" name="body_text_16"/>
          <p:cNvSpPr txBox="1"/>
          <p:nvPr/>
        </p:nvSpPr>
        <p:spPr>
          <a:xfrm>
            <a:off x="6095847" y="1143000"/>
            <a:ext cx="6572085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大模型 3.0</a:t>
            </a:r>
          </a:p>
        </p:txBody>
      </p:sp>
      <p:sp>
        <p:nvSpPr>
          <p:cNvPr id="22" name="body_text_17"/>
          <p:cNvSpPr txBox="1"/>
          <p:nvPr/>
        </p:nvSpPr>
        <p:spPr>
          <a:xfrm>
            <a:off x="6095847" y="1397000"/>
            <a:ext cx="6953076" cy="1523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定位：工业图纸化</a:t>
            </a:r>
          </a:p>
        </p:txBody>
      </p:sp>
      <p:sp>
        <p:nvSpPr>
          <p:cNvPr id="23" name="body_text_18"/>
          <p:cNvSpPr txBox="1"/>
          <p:nvPr/>
        </p:nvSpPr>
        <p:spPr>
          <a:xfrm>
            <a:off x="6095847" y="2063749"/>
            <a:ext cx="6953076" cy="2476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行业首发电力多模态工业图纸模型，具备图纸解析、规则校核和辅助设计能力。</a:t>
            </a:r>
          </a:p>
        </p:txBody>
      </p:sp>
      <p:sp>
        <p:nvSpPr>
          <p:cNvPr id="24" name="body_text_19"/>
          <p:cNvSpPr txBox="1"/>
          <p:nvPr/>
        </p:nvSpPr>
        <p:spPr>
          <a:xfrm>
            <a:off x="7238819" y="1143000"/>
            <a:ext cx="7715057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大模型 3.1</a:t>
            </a:r>
          </a:p>
        </p:txBody>
      </p:sp>
      <p:sp>
        <p:nvSpPr>
          <p:cNvPr id="25" name="body_text_20"/>
          <p:cNvSpPr txBox="1"/>
          <p:nvPr/>
        </p:nvSpPr>
        <p:spPr>
          <a:xfrm>
            <a:off x="7238819" y="1397000"/>
            <a:ext cx="8096047" cy="1523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定位：推演认知化</a:t>
            </a:r>
          </a:p>
        </p:txBody>
      </p:sp>
      <p:sp>
        <p:nvSpPr>
          <p:cNvPr id="26" name="body_text_21"/>
          <p:cNvSpPr txBox="1"/>
          <p:nvPr/>
        </p:nvSpPr>
        <p:spPr>
          <a:xfrm>
            <a:off x="7238819" y="2063749"/>
            <a:ext cx="8096047" cy="2476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融合多源数据，构建“图像—设备—空间—推演”联合推理能力，形成电力行业结构化认知基座。</a:t>
            </a:r>
          </a:p>
        </p:txBody>
      </p:sp>
      <p:sp>
        <p:nvSpPr>
          <p:cNvPr id="27" name="body_text_22"/>
          <p:cNvSpPr txBox="1"/>
          <p:nvPr/>
        </p:nvSpPr>
        <p:spPr>
          <a:xfrm>
            <a:off x="8381790" y="1143000"/>
            <a:ext cx="8858028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大模型 4.0</a:t>
            </a:r>
          </a:p>
        </p:txBody>
      </p:sp>
      <p:sp>
        <p:nvSpPr>
          <p:cNvPr id="28" name="body_text_23"/>
          <p:cNvSpPr txBox="1"/>
          <p:nvPr/>
        </p:nvSpPr>
        <p:spPr>
          <a:xfrm>
            <a:off x="8381790" y="1397000"/>
            <a:ext cx="9239019" cy="1523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定位：世界模型化</a:t>
            </a:r>
          </a:p>
        </p:txBody>
      </p:sp>
      <p:sp>
        <p:nvSpPr>
          <p:cNvPr id="29" name="body_text_24"/>
          <p:cNvSpPr txBox="1"/>
          <p:nvPr/>
        </p:nvSpPr>
        <p:spPr>
          <a:xfrm>
            <a:off x="8381790" y="2063749"/>
            <a:ext cx="9239019" cy="2476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发布电力多模态世界模型，实现物理仿真与智能推演，从理解现场迈向推演现场、辅助决策。</a:t>
            </a:r>
          </a:p>
        </p:txBody>
      </p:sp>
      <p:sp>
        <p:nvSpPr>
          <p:cNvPr id="30" name="body_text_25"/>
          <p:cNvSpPr txBox="1"/>
          <p:nvPr/>
        </p:nvSpPr>
        <p:spPr>
          <a:xfrm>
            <a:off x="4508387" y="2730500"/>
            <a:ext cx="5111622" cy="285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统一服务</a:t>
            </a:r>
          </a:p>
        </p:txBody>
      </p:sp>
      <p:sp>
        <p:nvSpPr>
          <p:cNvPr id="31" name="body_text_26"/>
          <p:cNvSpPr txBox="1"/>
          <p:nvPr/>
        </p:nvSpPr>
        <p:spPr>
          <a:xfrm>
            <a:off x="3873403" y="2921000"/>
            <a:ext cx="5714857" cy="311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电力专业多模态能力引擎</a:t>
            </a:r>
          </a:p>
        </p:txBody>
      </p:sp>
      <p:sp>
        <p:nvSpPr>
          <p:cNvPr id="32" name="body_text_27"/>
          <p:cNvSpPr txBox="1"/>
          <p:nvPr/>
        </p:nvSpPr>
        <p:spPr>
          <a:xfrm>
            <a:off x="2762180" y="3143250"/>
            <a:ext cx="3524161" cy="327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统一业务底座</a:t>
            </a:r>
          </a:p>
        </p:txBody>
      </p:sp>
      <p:sp>
        <p:nvSpPr>
          <p:cNvPr id="33" name="body_text_28"/>
          <p:cNvSpPr txBox="1"/>
          <p:nvPr/>
        </p:nvSpPr>
        <p:spPr>
          <a:xfrm>
            <a:off x="2762180" y="3301999"/>
            <a:ext cx="3524161" cy="339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业务驱动·场景普适</a:t>
            </a:r>
          </a:p>
        </p:txBody>
      </p:sp>
      <p:sp>
        <p:nvSpPr>
          <p:cNvPr id="34" name="body_text_29"/>
          <p:cNvSpPr txBox="1"/>
          <p:nvPr/>
        </p:nvSpPr>
        <p:spPr>
          <a:xfrm>
            <a:off x="4190895" y="3174999"/>
            <a:ext cx="4952876" cy="330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统一数据底座</a:t>
            </a:r>
          </a:p>
        </p:txBody>
      </p:sp>
      <p:sp>
        <p:nvSpPr>
          <p:cNvPr id="35" name="body_text_30"/>
          <p:cNvSpPr txBox="1"/>
          <p:nvPr/>
        </p:nvSpPr>
        <p:spPr>
          <a:xfrm>
            <a:off x="4190895" y="3333749"/>
            <a:ext cx="4952876" cy="3429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数据融合·知识增强</a:t>
            </a:r>
          </a:p>
        </p:txBody>
      </p:sp>
      <p:sp>
        <p:nvSpPr>
          <p:cNvPr id="36" name="body_text_31"/>
          <p:cNvSpPr txBox="1"/>
          <p:nvPr/>
        </p:nvSpPr>
        <p:spPr>
          <a:xfrm>
            <a:off x="6000599" y="3143250"/>
            <a:ext cx="6762580" cy="327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统一技术底座</a:t>
            </a:r>
          </a:p>
        </p:txBody>
      </p:sp>
      <p:sp>
        <p:nvSpPr>
          <p:cNvPr id="37" name="body_text_32"/>
          <p:cNvSpPr txBox="1"/>
          <p:nvPr/>
        </p:nvSpPr>
        <p:spPr>
          <a:xfrm>
            <a:off x="6000599" y="3301999"/>
            <a:ext cx="6762580" cy="339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算法领先·工程可靠</a:t>
            </a:r>
          </a:p>
        </p:txBody>
      </p:sp>
      <p:sp>
        <p:nvSpPr>
          <p:cNvPr id="38" name="body_text_33"/>
          <p:cNvSpPr txBox="1"/>
          <p:nvPr/>
        </p:nvSpPr>
        <p:spPr>
          <a:xfrm>
            <a:off x="4095647" y="3683000"/>
            <a:ext cx="5524361" cy="3809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全域能源融合与知识沉淀</a:t>
            </a:r>
          </a:p>
        </p:txBody>
      </p:sp>
      <p:sp>
        <p:nvSpPr>
          <p:cNvPr id="39" name="body_text_34"/>
          <p:cNvSpPr txBox="1"/>
          <p:nvPr/>
        </p:nvSpPr>
        <p:spPr>
          <a:xfrm>
            <a:off x="2857428" y="3905249"/>
            <a:ext cx="3333666" cy="400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电网生产域</a:t>
            </a:r>
          </a:p>
        </p:txBody>
      </p:sp>
      <p:sp>
        <p:nvSpPr>
          <p:cNvPr id="40" name="body_text_35"/>
          <p:cNvSpPr txBox="1"/>
          <p:nvPr/>
        </p:nvSpPr>
        <p:spPr>
          <a:xfrm>
            <a:off x="3619409" y="3905249"/>
            <a:ext cx="4095647" cy="400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设备资产域</a:t>
            </a:r>
          </a:p>
        </p:txBody>
      </p:sp>
      <p:sp>
        <p:nvSpPr>
          <p:cNvPr id="41" name="body_text_36"/>
          <p:cNvSpPr txBox="1"/>
          <p:nvPr/>
        </p:nvSpPr>
        <p:spPr>
          <a:xfrm>
            <a:off x="4476638" y="3905249"/>
            <a:ext cx="4952876" cy="400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营销服务域</a:t>
            </a:r>
          </a:p>
        </p:txBody>
      </p:sp>
      <p:sp>
        <p:nvSpPr>
          <p:cNvPr id="42" name="body_text_37"/>
          <p:cNvSpPr txBox="1"/>
          <p:nvPr/>
        </p:nvSpPr>
        <p:spPr>
          <a:xfrm>
            <a:off x="5429114" y="3905249"/>
            <a:ext cx="5905352" cy="400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安全管理域</a:t>
            </a:r>
          </a:p>
        </p:txBody>
      </p:sp>
      <p:sp>
        <p:nvSpPr>
          <p:cNvPr id="43" name="body_text_38"/>
          <p:cNvSpPr txBox="1"/>
          <p:nvPr/>
        </p:nvSpPr>
        <p:spPr>
          <a:xfrm>
            <a:off x="6286342" y="3905249"/>
            <a:ext cx="6762580" cy="400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外部环境域</a:t>
            </a:r>
          </a:p>
        </p:txBody>
      </p:sp>
      <p:sp>
        <p:nvSpPr>
          <p:cNvPr id="44" name="body_text_39"/>
          <p:cNvSpPr txBox="1"/>
          <p:nvPr/>
        </p:nvSpPr>
        <p:spPr>
          <a:xfrm>
            <a:off x="476238" y="2952750"/>
            <a:ext cx="1047723" cy="3079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业务生态</a:t>
            </a:r>
          </a:p>
        </p:txBody>
      </p:sp>
      <p:sp>
        <p:nvSpPr>
          <p:cNvPr id="45" name="body_text_40"/>
          <p:cNvSpPr txBox="1"/>
          <p:nvPr/>
        </p:nvSpPr>
        <p:spPr>
          <a:xfrm>
            <a:off x="476238" y="3111500"/>
            <a:ext cx="1047723" cy="320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多业务域协同赋能</a:t>
            </a:r>
          </a:p>
        </p:txBody>
      </p:sp>
      <p:sp>
        <p:nvSpPr>
          <p:cNvPr id="46" name="body_text_41"/>
          <p:cNvSpPr txBox="1"/>
          <p:nvPr/>
        </p:nvSpPr>
        <p:spPr>
          <a:xfrm>
            <a:off x="476238" y="3492500"/>
            <a:ext cx="1047723" cy="3619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模型生态</a:t>
            </a:r>
          </a:p>
        </p:txBody>
      </p:sp>
      <p:sp>
        <p:nvSpPr>
          <p:cNvPr id="47" name="body_text_42"/>
          <p:cNvSpPr txBox="1"/>
          <p:nvPr/>
        </p:nvSpPr>
        <p:spPr>
          <a:xfrm>
            <a:off x="476238" y="3651250"/>
            <a:ext cx="1047723" cy="3746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多模态模型协同演进</a:t>
            </a:r>
          </a:p>
        </p:txBody>
      </p:sp>
      <p:sp>
        <p:nvSpPr>
          <p:cNvPr id="48" name="body_text_43"/>
          <p:cNvSpPr txBox="1"/>
          <p:nvPr/>
        </p:nvSpPr>
        <p:spPr>
          <a:xfrm>
            <a:off x="8508787" y="2952750"/>
            <a:ext cx="9080272" cy="3079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知识生态</a:t>
            </a:r>
          </a:p>
        </p:txBody>
      </p:sp>
      <p:sp>
        <p:nvSpPr>
          <p:cNvPr id="49" name="body_text_44"/>
          <p:cNvSpPr txBox="1"/>
          <p:nvPr/>
        </p:nvSpPr>
        <p:spPr>
          <a:xfrm>
            <a:off x="8508787" y="3111500"/>
            <a:ext cx="9080272" cy="320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电力专业知识体系</a:t>
            </a:r>
          </a:p>
        </p:txBody>
      </p:sp>
      <p:sp>
        <p:nvSpPr>
          <p:cNvPr id="50" name="body_text_45"/>
          <p:cNvSpPr txBox="1"/>
          <p:nvPr/>
        </p:nvSpPr>
        <p:spPr>
          <a:xfrm>
            <a:off x="8508787" y="3492500"/>
            <a:ext cx="9080272" cy="3619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工具生态</a:t>
            </a:r>
          </a:p>
        </p:txBody>
      </p:sp>
      <p:sp>
        <p:nvSpPr>
          <p:cNvPr id="51" name="body_text_46"/>
          <p:cNvSpPr txBox="1"/>
          <p:nvPr/>
        </p:nvSpPr>
        <p:spPr>
          <a:xfrm>
            <a:off x="8508787" y="3651250"/>
            <a:ext cx="9080272" cy="3746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工具链与应用集成</a:t>
            </a:r>
          </a:p>
        </p:txBody>
      </p:sp>
      <p:sp>
        <p:nvSpPr>
          <p:cNvPr id="52" name="body_text_47"/>
          <p:cNvSpPr txBox="1"/>
          <p:nvPr/>
        </p:nvSpPr>
        <p:spPr>
          <a:xfrm>
            <a:off x="190495" y="4159249"/>
            <a:ext cx="666733" cy="4381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9" b="1" i="0">
                <a:solidFill>
                  <a:srgbClr val="FFD700"/>
                </a:solidFill>
                <a:latin typeface="Microsoft YaHei"/>
                <a:ea typeface="Microsoft YaHei"/>
                <a:cs typeface="Microsoft YaHei"/>
              </a:rPr>
              <a:t>演进路径</a:t>
            </a:r>
          </a:p>
        </p:txBody>
      </p:sp>
      <p:sp>
        <p:nvSpPr>
          <p:cNvPr id="53" name="body_text_48"/>
          <p:cNvSpPr txBox="1"/>
          <p:nvPr/>
        </p:nvSpPr>
        <p:spPr>
          <a:xfrm>
            <a:off x="761980" y="4794250"/>
            <a:ext cx="1333466" cy="49212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服务化入口</a:t>
            </a:r>
          </a:p>
        </p:txBody>
      </p:sp>
      <p:sp>
        <p:nvSpPr>
          <p:cNvPr id="54" name="body_text_49"/>
          <p:cNvSpPr txBox="1"/>
          <p:nvPr/>
        </p:nvSpPr>
        <p:spPr>
          <a:xfrm>
            <a:off x="761980" y="4952999"/>
            <a:ext cx="1333466" cy="504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打通能力入口</a:t>
            </a:r>
          </a:p>
        </p:txBody>
      </p:sp>
      <p:sp>
        <p:nvSpPr>
          <p:cNvPr id="55" name="body_text_50"/>
          <p:cNvSpPr txBox="1"/>
          <p:nvPr/>
        </p:nvSpPr>
        <p:spPr>
          <a:xfrm>
            <a:off x="1809704" y="4794250"/>
            <a:ext cx="2381190" cy="49212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规模化跃升</a:t>
            </a:r>
          </a:p>
        </p:txBody>
      </p:sp>
      <p:sp>
        <p:nvSpPr>
          <p:cNvPr id="56" name="body_text_51"/>
          <p:cNvSpPr txBox="1"/>
          <p:nvPr/>
        </p:nvSpPr>
        <p:spPr>
          <a:xfrm>
            <a:off x="1809704" y="4952999"/>
            <a:ext cx="2381190" cy="504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提升模型规模</a:t>
            </a:r>
          </a:p>
        </p:txBody>
      </p:sp>
      <p:sp>
        <p:nvSpPr>
          <p:cNvPr id="57" name="body_text_52"/>
          <p:cNvSpPr txBox="1"/>
          <p:nvPr/>
        </p:nvSpPr>
        <p:spPr>
          <a:xfrm>
            <a:off x="2857428" y="4794250"/>
            <a:ext cx="3428914" cy="49212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行业专业化</a:t>
            </a:r>
          </a:p>
        </p:txBody>
      </p:sp>
      <p:sp>
        <p:nvSpPr>
          <p:cNvPr id="58" name="body_text_53"/>
          <p:cNvSpPr txBox="1"/>
          <p:nvPr/>
        </p:nvSpPr>
        <p:spPr>
          <a:xfrm>
            <a:off x="2857428" y="4952999"/>
            <a:ext cx="3428914" cy="504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深耕电力场景</a:t>
            </a:r>
          </a:p>
        </p:txBody>
      </p:sp>
      <p:sp>
        <p:nvSpPr>
          <p:cNvPr id="59" name="body_text_54"/>
          <p:cNvSpPr txBox="1"/>
          <p:nvPr/>
        </p:nvSpPr>
        <p:spPr>
          <a:xfrm>
            <a:off x="3905152" y="4794250"/>
            <a:ext cx="4476638" cy="49212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架构协同化</a:t>
            </a:r>
          </a:p>
        </p:txBody>
      </p:sp>
      <p:sp>
        <p:nvSpPr>
          <p:cNvPr id="60" name="body_text_55"/>
          <p:cNvSpPr txBox="1"/>
          <p:nvPr/>
        </p:nvSpPr>
        <p:spPr>
          <a:xfrm>
            <a:off x="3905152" y="4952999"/>
            <a:ext cx="4476638" cy="504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专家协同智能</a:t>
            </a:r>
          </a:p>
        </p:txBody>
      </p:sp>
      <p:sp>
        <p:nvSpPr>
          <p:cNvPr id="61" name="body_text_56"/>
          <p:cNvSpPr txBox="1"/>
          <p:nvPr/>
        </p:nvSpPr>
        <p:spPr>
          <a:xfrm>
            <a:off x="4952876" y="4794250"/>
            <a:ext cx="5524361" cy="49212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推理原生化</a:t>
            </a:r>
          </a:p>
        </p:txBody>
      </p:sp>
      <p:sp>
        <p:nvSpPr>
          <p:cNvPr id="62" name="body_text_57"/>
          <p:cNvSpPr txBox="1"/>
          <p:nvPr/>
        </p:nvSpPr>
        <p:spPr>
          <a:xfrm>
            <a:off x="4952876" y="4952999"/>
            <a:ext cx="5524361" cy="504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强化推理能力</a:t>
            </a:r>
          </a:p>
        </p:txBody>
      </p:sp>
      <p:sp>
        <p:nvSpPr>
          <p:cNvPr id="63" name="body_text_58"/>
          <p:cNvSpPr txBox="1"/>
          <p:nvPr/>
        </p:nvSpPr>
        <p:spPr>
          <a:xfrm>
            <a:off x="6000599" y="4794250"/>
            <a:ext cx="6572085" cy="49212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工业图纸化</a:t>
            </a:r>
          </a:p>
        </p:txBody>
      </p:sp>
      <p:sp>
        <p:nvSpPr>
          <p:cNvPr id="64" name="body_text_59"/>
          <p:cNvSpPr txBox="1"/>
          <p:nvPr/>
        </p:nvSpPr>
        <p:spPr>
          <a:xfrm>
            <a:off x="6000599" y="4952999"/>
            <a:ext cx="6572085" cy="504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理解工程图纸</a:t>
            </a:r>
          </a:p>
        </p:txBody>
      </p:sp>
      <p:sp>
        <p:nvSpPr>
          <p:cNvPr id="65" name="body_text_60"/>
          <p:cNvSpPr txBox="1"/>
          <p:nvPr/>
        </p:nvSpPr>
        <p:spPr>
          <a:xfrm>
            <a:off x="7048323" y="4794250"/>
            <a:ext cx="7619809" cy="49212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推演认知化</a:t>
            </a:r>
          </a:p>
        </p:txBody>
      </p:sp>
      <p:sp>
        <p:nvSpPr>
          <p:cNvPr id="66" name="body_text_61"/>
          <p:cNvSpPr txBox="1"/>
          <p:nvPr/>
        </p:nvSpPr>
        <p:spPr>
          <a:xfrm>
            <a:off x="7048323" y="4952999"/>
            <a:ext cx="7619809" cy="504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推演电网结构</a:t>
            </a:r>
          </a:p>
        </p:txBody>
      </p:sp>
      <p:sp>
        <p:nvSpPr>
          <p:cNvPr id="67" name="body_text_62"/>
          <p:cNvSpPr txBox="1"/>
          <p:nvPr/>
        </p:nvSpPr>
        <p:spPr>
          <a:xfrm>
            <a:off x="8096047" y="4794250"/>
            <a:ext cx="8667533" cy="49212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世界模型化</a:t>
            </a:r>
          </a:p>
        </p:txBody>
      </p:sp>
      <p:sp>
        <p:nvSpPr>
          <p:cNvPr id="68" name="body_text_63"/>
          <p:cNvSpPr txBox="1"/>
          <p:nvPr/>
        </p:nvSpPr>
        <p:spPr>
          <a:xfrm>
            <a:off x="0" y="0"/>
            <a:ext cx="12191695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仿真推演决策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Image2PPT Deck</dc:title>
  <dc:subject>Generated by bggg-creator-image2ppt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