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1474"/>
          </a:xfrm>
          <a:prstGeom prst="rect">
            <a:avLst/>
          </a:prstGeom>
        </p:spPr>
      </p:pic>
      <p:sp>
        <p:nvSpPr>
          <p:cNvPr id="3" name="Timeline Number Circles"/>
          <p:cNvSpPr/>
          <p:nvPr/>
        </p:nvSpPr>
        <p:spPr>
          <a:xfrm>
            <a:off x="729168" y="1166669"/>
            <a:ext cx="291667" cy="291667"/>
          </a:xfrm>
          <a:prstGeom prst="ellipse">
            <a:avLst/>
          </a:prstGeom>
          <a:solidFill>
            <a:srgbClr val="0055AA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ttom Path Nodes"/>
          <p:cNvSpPr/>
          <p:nvPr/>
        </p:nvSpPr>
        <p:spPr>
          <a:xfrm>
            <a:off x="1458336" y="6125014"/>
            <a:ext cx="145833" cy="145833"/>
          </a:xfrm>
          <a:prstGeom prst="ellipse">
            <a:avLst/>
          </a:prstGeom>
          <a:solidFill>
            <a:srgbClr val="0055AA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ower_tower_silhouette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58336" cy="2187505"/>
          </a:xfrm>
          <a:prstGeom prst="rect">
            <a:avLst/>
          </a:prstGeom>
        </p:spPr>
      </p:pic>
      <p:pic>
        <p:nvPicPr>
          <p:cNvPr id="6" name="Picture 5" descr="power_tower_silhouette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8357" y="0"/>
            <a:ext cx="1983337" cy="2187505"/>
          </a:xfrm>
          <a:prstGeom prst="rect">
            <a:avLst/>
          </a:prstGeom>
        </p:spPr>
      </p:pic>
      <p:pic>
        <p:nvPicPr>
          <p:cNvPr id="7" name="Picture 6" descr="globe_wirefra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941" y="145833"/>
            <a:ext cx="1458336" cy="1093752"/>
          </a:xfrm>
          <a:prstGeom prst="rect">
            <a:avLst/>
          </a:prstGeom>
        </p:spPr>
      </p:pic>
      <p:pic>
        <p:nvPicPr>
          <p:cNvPr id="8" name="Picture 7" descr="central_engine_graph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8336" y="3281257"/>
            <a:ext cx="9275021" cy="2187505"/>
          </a:xfrm>
          <a:prstGeom prst="rect">
            <a:avLst/>
          </a:prstGeom>
        </p:spPr>
      </p:pic>
      <p:pic>
        <p:nvPicPr>
          <p:cNvPr id="9" name="Picture 8" descr="icon_plu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334" y="2187505"/>
            <a:ext cx="583334" cy="583334"/>
          </a:xfrm>
          <a:prstGeom prst="rect">
            <a:avLst/>
          </a:prstGeom>
        </p:spPr>
      </p:pic>
      <p:pic>
        <p:nvPicPr>
          <p:cNvPr id="10" name="Picture 9" descr="icon_sta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41671" y="2187505"/>
            <a:ext cx="583334" cy="583334"/>
          </a:xfrm>
          <a:prstGeom prst="rect">
            <a:avLst/>
          </a:prstGeom>
        </p:spPr>
      </p:pic>
      <p:pic>
        <p:nvPicPr>
          <p:cNvPr id="11" name="Picture 10" descr="icon_transform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0008" y="2187505"/>
            <a:ext cx="583334" cy="583334"/>
          </a:xfrm>
          <a:prstGeom prst="rect">
            <a:avLst/>
          </a:prstGeom>
        </p:spPr>
      </p:pic>
      <p:pic>
        <p:nvPicPr>
          <p:cNvPr id="12" name="Picture 11" descr="icon_networ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8344" y="2187505"/>
            <a:ext cx="583334" cy="583334"/>
          </a:xfrm>
          <a:prstGeom prst="rect">
            <a:avLst/>
          </a:prstGeom>
        </p:spPr>
      </p:pic>
      <p:pic>
        <p:nvPicPr>
          <p:cNvPr id="13" name="Picture 12" descr="icon_brai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6681" y="2187505"/>
            <a:ext cx="583334" cy="583334"/>
          </a:xfrm>
          <a:prstGeom prst="rect">
            <a:avLst/>
          </a:prstGeom>
        </p:spPr>
      </p:pic>
      <p:pic>
        <p:nvPicPr>
          <p:cNvPr id="14" name="Picture 13" descr="icon_blueprin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75018" y="2187505"/>
            <a:ext cx="583334" cy="583334"/>
          </a:xfrm>
          <a:prstGeom prst="rect">
            <a:avLst/>
          </a:prstGeom>
        </p:spPr>
      </p:pic>
      <p:pic>
        <p:nvPicPr>
          <p:cNvPr id="15" name="Picture 14" descr="icon_molecul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33355" y="2187505"/>
            <a:ext cx="583334" cy="583334"/>
          </a:xfrm>
          <a:prstGeom prst="rect">
            <a:avLst/>
          </a:prstGeom>
        </p:spPr>
      </p:pic>
      <p:pic>
        <p:nvPicPr>
          <p:cNvPr id="16" name="Picture 15" descr="icon_glob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791691" y="2187505"/>
            <a:ext cx="583334" cy="583334"/>
          </a:xfrm>
          <a:prstGeom prst="rect">
            <a:avLst/>
          </a:prstGeom>
        </p:spPr>
      </p:pic>
      <p:pic>
        <p:nvPicPr>
          <p:cNvPr id="17" name="Picture 16" descr="bottom_icon_arrow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12503" y="5833346"/>
            <a:ext cx="291667" cy="291667"/>
          </a:xfrm>
          <a:prstGeom prst="rect">
            <a:avLst/>
          </a:prstGeom>
        </p:spPr>
      </p:pic>
      <p:pic>
        <p:nvPicPr>
          <p:cNvPr id="18" name="Picture 17" descr="bottom_icon_chart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06255" y="5833346"/>
            <a:ext cx="291667" cy="291667"/>
          </a:xfrm>
          <a:prstGeom prst="rect">
            <a:avLst/>
          </a:prstGeom>
        </p:spPr>
      </p:pic>
      <p:pic>
        <p:nvPicPr>
          <p:cNvPr id="19" name="Picture 18" descr="bottom_icon_towers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00008" y="5833346"/>
            <a:ext cx="291667" cy="291667"/>
          </a:xfrm>
          <a:prstGeom prst="rect">
            <a:avLst/>
          </a:prstGeom>
        </p:spPr>
      </p:pic>
      <p:pic>
        <p:nvPicPr>
          <p:cNvPr id="20" name="Picture 19" descr="bottom_icon_peopl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93760" y="5833346"/>
            <a:ext cx="291667" cy="291667"/>
          </a:xfrm>
          <a:prstGeom prst="rect">
            <a:avLst/>
          </a:prstGeom>
        </p:spPr>
      </p:pic>
      <p:pic>
        <p:nvPicPr>
          <p:cNvPr id="21" name="Picture 20" descr="bottom_icon_brain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87513" y="5833346"/>
            <a:ext cx="291667" cy="291667"/>
          </a:xfrm>
          <a:prstGeom prst="rect">
            <a:avLst/>
          </a:prstGeom>
        </p:spPr>
      </p:pic>
      <p:pic>
        <p:nvPicPr>
          <p:cNvPr id="22" name="Picture 21" descr="bottom_icon_blueprint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81265" y="5833346"/>
            <a:ext cx="291667" cy="291667"/>
          </a:xfrm>
          <a:prstGeom prst="rect">
            <a:avLst/>
          </a:prstGeom>
        </p:spPr>
      </p:pic>
      <p:pic>
        <p:nvPicPr>
          <p:cNvPr id="23" name="Picture 22" descr="bottom_icon_network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75018" y="5833346"/>
            <a:ext cx="291667" cy="291667"/>
          </a:xfrm>
          <a:prstGeom prst="rect">
            <a:avLst/>
          </a:prstGeom>
        </p:spPr>
      </p:pic>
      <p:pic>
        <p:nvPicPr>
          <p:cNvPr id="24" name="Picture 23" descr="bottom_icon_glob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68770" y="5833346"/>
            <a:ext cx="291667" cy="291667"/>
          </a:xfrm>
          <a:prstGeom prst="rect">
            <a:avLst/>
          </a:prstGeom>
        </p:spPr>
      </p:pic>
      <p:sp>
        <p:nvSpPr>
          <p:cNvPr id="25" name="titles"/>
          <p:cNvSpPr txBox="1"/>
          <p:nvPr/>
        </p:nvSpPr>
        <p:spPr>
          <a:xfrm>
            <a:off x="3281257" y="255208"/>
            <a:ext cx="5629179" cy="6197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1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“大瓦特”演进路线图</a:t>
            </a:r>
          </a:p>
        </p:txBody>
      </p:sp>
      <p:sp>
        <p:nvSpPr>
          <p:cNvPr id="26" name="titles"/>
          <p:cNvSpPr txBox="1"/>
          <p:nvPr/>
        </p:nvSpPr>
        <p:spPr>
          <a:xfrm>
            <a:off x="4739594" y="947918"/>
            <a:ext cx="2712506" cy="32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37" b="1" i="0">
                <a:solidFill>
                  <a:srgbClr val="F2A900"/>
                </a:solidFill>
                <a:latin typeface="Microsoft YaHei"/>
                <a:ea typeface="Microsoft YaHei"/>
                <a:cs typeface="Microsoft YaHei"/>
              </a:rPr>
              <a:t>路标与核心亮点</a:t>
            </a:r>
          </a:p>
        </p:txBody>
      </p:sp>
      <p:sp>
        <p:nvSpPr>
          <p:cNvPr id="27" name="titles"/>
          <p:cNvSpPr txBox="1"/>
          <p:nvPr/>
        </p:nvSpPr>
        <p:spPr>
          <a:xfrm>
            <a:off x="4375010" y="1312503"/>
            <a:ext cx="3441674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3" b="0" i="0">
                <a:solidFill>
                  <a:srgbClr val="A0CFFF"/>
                </a:solidFill>
                <a:latin typeface="Microsoft YaHei"/>
                <a:ea typeface="Microsoft YaHei"/>
                <a:cs typeface="Microsoft YaHei"/>
              </a:rPr>
              <a:t>从多模态服务化迈向电力世界模型</a:t>
            </a:r>
          </a:p>
        </p:txBody>
      </p:sp>
      <p:sp>
        <p:nvSpPr>
          <p:cNvPr id="28" name="body_text"/>
          <p:cNvSpPr txBox="1"/>
          <p:nvPr/>
        </p:nvSpPr>
        <p:spPr>
          <a:xfrm>
            <a:off x="729168" y="1166669"/>
            <a:ext cx="291667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" name="body_text"/>
          <p:cNvSpPr txBox="1"/>
          <p:nvPr/>
        </p:nvSpPr>
        <p:spPr>
          <a:xfrm>
            <a:off x="291667" y="1531253"/>
            <a:ext cx="729168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1.0</a:t>
            </a:r>
          </a:p>
        </p:txBody>
      </p:sp>
      <p:sp>
        <p:nvSpPr>
          <p:cNvPr id="30" name="body_text"/>
          <p:cNvSpPr txBox="1"/>
          <p:nvPr/>
        </p:nvSpPr>
        <p:spPr>
          <a:xfrm>
            <a:off x="1057294" y="1545836"/>
            <a:ext cx="437501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A0CFFF"/>
                </a:solidFill>
                <a:latin typeface="Arial"/>
                <a:ea typeface="Arial"/>
                <a:cs typeface="Arial"/>
              </a:rPr>
              <a:t>2025.05</a:t>
            </a:r>
          </a:p>
        </p:txBody>
      </p:sp>
      <p:sp>
        <p:nvSpPr>
          <p:cNvPr id="31" name="body_text"/>
          <p:cNvSpPr txBox="1"/>
          <p:nvPr/>
        </p:nvSpPr>
        <p:spPr>
          <a:xfrm>
            <a:off x="291667" y="1786462"/>
            <a:ext cx="1166669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定位：多模态服务化</a:t>
            </a:r>
          </a:p>
        </p:txBody>
      </p:sp>
      <p:sp>
        <p:nvSpPr>
          <p:cNvPr id="32" name="body_text"/>
          <p:cNvSpPr txBox="1"/>
          <p:nvPr/>
        </p:nvSpPr>
        <p:spPr>
          <a:xfrm>
            <a:off x="291667" y="3062507"/>
            <a:ext cx="1166669" cy="729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建成南网首个，电力多模态能力入口，成功适配国产算力，实现全自主安全可控。</a:t>
            </a:r>
          </a:p>
        </p:txBody>
      </p:sp>
      <p:sp>
        <p:nvSpPr>
          <p:cNvPr id="33" name="body_text"/>
          <p:cNvSpPr txBox="1"/>
          <p:nvPr/>
        </p:nvSpPr>
        <p:spPr>
          <a:xfrm>
            <a:off x="2187505" y="1166669"/>
            <a:ext cx="291667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4" name="body_text"/>
          <p:cNvSpPr txBox="1"/>
          <p:nvPr/>
        </p:nvSpPr>
        <p:spPr>
          <a:xfrm>
            <a:off x="1750004" y="1531253"/>
            <a:ext cx="729168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1.1</a:t>
            </a:r>
          </a:p>
        </p:txBody>
      </p:sp>
      <p:sp>
        <p:nvSpPr>
          <p:cNvPr id="35" name="body_text"/>
          <p:cNvSpPr txBox="1"/>
          <p:nvPr/>
        </p:nvSpPr>
        <p:spPr>
          <a:xfrm>
            <a:off x="2515630" y="1545836"/>
            <a:ext cx="437501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A0CFFF"/>
                </a:solidFill>
                <a:latin typeface="Arial"/>
                <a:ea typeface="Arial"/>
                <a:cs typeface="Arial"/>
              </a:rPr>
              <a:t>2025.12</a:t>
            </a:r>
          </a:p>
        </p:txBody>
      </p:sp>
      <p:sp>
        <p:nvSpPr>
          <p:cNvPr id="36" name="body_text"/>
          <p:cNvSpPr txBox="1"/>
          <p:nvPr/>
        </p:nvSpPr>
        <p:spPr>
          <a:xfrm>
            <a:off x="1750004" y="1786462"/>
            <a:ext cx="1166669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定位：能力规模化</a:t>
            </a:r>
          </a:p>
        </p:txBody>
      </p:sp>
      <p:sp>
        <p:nvSpPr>
          <p:cNvPr id="37" name="body_text"/>
          <p:cNvSpPr txBox="1"/>
          <p:nvPr/>
        </p:nvSpPr>
        <p:spPr>
          <a:xfrm>
            <a:off x="1750004" y="3062507"/>
            <a:ext cx="1166669" cy="58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底座全面迭代升级，正式备千亿级参规模型能力。</a:t>
            </a:r>
          </a:p>
        </p:txBody>
      </p:sp>
      <p:sp>
        <p:nvSpPr>
          <p:cNvPr id="38" name="body_text"/>
          <p:cNvSpPr txBox="1"/>
          <p:nvPr/>
        </p:nvSpPr>
        <p:spPr>
          <a:xfrm>
            <a:off x="3645841" y="1166669"/>
            <a:ext cx="291667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9" name="body_text"/>
          <p:cNvSpPr txBox="1"/>
          <p:nvPr/>
        </p:nvSpPr>
        <p:spPr>
          <a:xfrm>
            <a:off x="3208340" y="1531253"/>
            <a:ext cx="729168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2.0</a:t>
            </a:r>
          </a:p>
        </p:txBody>
      </p:sp>
      <p:sp>
        <p:nvSpPr>
          <p:cNvPr id="40" name="body_text"/>
          <p:cNvSpPr txBox="1"/>
          <p:nvPr/>
        </p:nvSpPr>
        <p:spPr>
          <a:xfrm>
            <a:off x="3973967" y="1545836"/>
            <a:ext cx="437501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A0CFFF"/>
                </a:solidFill>
                <a:latin typeface="Arial"/>
                <a:ea typeface="Arial"/>
                <a:cs typeface="Arial"/>
              </a:rPr>
              <a:t>2026.04</a:t>
            </a:r>
          </a:p>
        </p:txBody>
      </p:sp>
      <p:sp>
        <p:nvSpPr>
          <p:cNvPr id="41" name="body_text"/>
          <p:cNvSpPr txBox="1"/>
          <p:nvPr/>
        </p:nvSpPr>
        <p:spPr>
          <a:xfrm>
            <a:off x="3208340" y="1786462"/>
            <a:ext cx="1166669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定位：行业专业化</a:t>
            </a:r>
          </a:p>
        </p:txBody>
      </p:sp>
      <p:sp>
        <p:nvSpPr>
          <p:cNvPr id="42" name="body_text"/>
          <p:cNvSpPr txBox="1"/>
          <p:nvPr/>
        </p:nvSpPr>
        <p:spPr>
          <a:xfrm>
            <a:off x="3208340" y="3062507"/>
            <a:ext cx="1166669" cy="729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完成72B行业微调模型全面升级，强化电力专业能力，高效流转典型业务场景。</a:t>
            </a:r>
          </a:p>
        </p:txBody>
      </p:sp>
      <p:sp>
        <p:nvSpPr>
          <p:cNvPr id="43" name="body_text"/>
          <p:cNvSpPr txBox="1"/>
          <p:nvPr/>
        </p:nvSpPr>
        <p:spPr>
          <a:xfrm>
            <a:off x="5104178" y="1166669"/>
            <a:ext cx="291667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4" name="body_text"/>
          <p:cNvSpPr txBox="1"/>
          <p:nvPr/>
        </p:nvSpPr>
        <p:spPr>
          <a:xfrm>
            <a:off x="4666677" y="1531253"/>
            <a:ext cx="729168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2.1</a:t>
            </a:r>
          </a:p>
        </p:txBody>
      </p:sp>
      <p:sp>
        <p:nvSpPr>
          <p:cNvPr id="45" name="body_text"/>
          <p:cNvSpPr txBox="1"/>
          <p:nvPr/>
        </p:nvSpPr>
        <p:spPr>
          <a:xfrm>
            <a:off x="5432304" y="1545836"/>
            <a:ext cx="437501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A0CFFF"/>
                </a:solidFill>
                <a:latin typeface="Arial"/>
                <a:ea typeface="Arial"/>
                <a:cs typeface="Arial"/>
              </a:rPr>
              <a:t>2026.06</a:t>
            </a:r>
          </a:p>
        </p:txBody>
      </p:sp>
      <p:sp>
        <p:nvSpPr>
          <p:cNvPr id="46" name="body_text"/>
          <p:cNvSpPr txBox="1"/>
          <p:nvPr/>
        </p:nvSpPr>
        <p:spPr>
          <a:xfrm>
            <a:off x="4666677" y="1786462"/>
            <a:ext cx="1166669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定位：架构协同化</a:t>
            </a:r>
          </a:p>
        </p:txBody>
      </p:sp>
      <p:sp>
        <p:nvSpPr>
          <p:cNvPr id="47" name="body_text"/>
          <p:cNvSpPr txBox="1"/>
          <p:nvPr/>
        </p:nvSpPr>
        <p:spPr>
          <a:xfrm>
            <a:off x="4666677" y="3062507"/>
            <a:ext cx="1166669" cy="802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上线 MoE 架构微调模型，实现专家协同、任务分流和多业务域协同，按需调用专业能力。</a:t>
            </a:r>
          </a:p>
        </p:txBody>
      </p:sp>
      <p:sp>
        <p:nvSpPr>
          <p:cNvPr id="48" name="body_text"/>
          <p:cNvSpPr txBox="1"/>
          <p:nvPr/>
        </p:nvSpPr>
        <p:spPr>
          <a:xfrm>
            <a:off x="6562515" y="1166669"/>
            <a:ext cx="291667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9" name="body_text"/>
          <p:cNvSpPr txBox="1"/>
          <p:nvPr/>
        </p:nvSpPr>
        <p:spPr>
          <a:xfrm>
            <a:off x="6125014" y="1531253"/>
            <a:ext cx="729168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2.2</a:t>
            </a:r>
          </a:p>
        </p:txBody>
      </p:sp>
      <p:sp>
        <p:nvSpPr>
          <p:cNvPr id="50" name="body_text"/>
          <p:cNvSpPr txBox="1"/>
          <p:nvPr/>
        </p:nvSpPr>
        <p:spPr>
          <a:xfrm>
            <a:off x="6890641" y="1545836"/>
            <a:ext cx="437501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A0CFFF"/>
                </a:solidFill>
                <a:latin typeface="Arial"/>
                <a:ea typeface="Arial"/>
                <a:cs typeface="Arial"/>
              </a:rPr>
              <a:t>2026.08</a:t>
            </a:r>
          </a:p>
        </p:txBody>
      </p:sp>
      <p:sp>
        <p:nvSpPr>
          <p:cNvPr id="51" name="body_text"/>
          <p:cNvSpPr txBox="1"/>
          <p:nvPr/>
        </p:nvSpPr>
        <p:spPr>
          <a:xfrm>
            <a:off x="6125014" y="1786462"/>
            <a:ext cx="1166669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定位：推理原生化</a:t>
            </a:r>
          </a:p>
        </p:txBody>
      </p:sp>
      <p:sp>
        <p:nvSpPr>
          <p:cNvPr id="52" name="body_text"/>
          <p:cNvSpPr txBox="1"/>
          <p:nvPr/>
        </p:nvSpPr>
        <p:spPr>
          <a:xfrm>
            <a:off x="6125014" y="3062507"/>
            <a:ext cx="1166669" cy="729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引入强化学习与慢思考机制，增强逻辑推理、知识增强和工具调用能力。</a:t>
            </a:r>
          </a:p>
        </p:txBody>
      </p:sp>
      <p:sp>
        <p:nvSpPr>
          <p:cNvPr id="53" name="body_text"/>
          <p:cNvSpPr txBox="1"/>
          <p:nvPr/>
        </p:nvSpPr>
        <p:spPr>
          <a:xfrm>
            <a:off x="8020852" y="1166669"/>
            <a:ext cx="291667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4" name="body_text"/>
          <p:cNvSpPr txBox="1"/>
          <p:nvPr/>
        </p:nvSpPr>
        <p:spPr>
          <a:xfrm>
            <a:off x="7583351" y="1531253"/>
            <a:ext cx="729168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3.0</a:t>
            </a:r>
          </a:p>
        </p:txBody>
      </p:sp>
      <p:sp>
        <p:nvSpPr>
          <p:cNvPr id="55" name="body_text"/>
          <p:cNvSpPr txBox="1"/>
          <p:nvPr/>
        </p:nvSpPr>
        <p:spPr>
          <a:xfrm>
            <a:off x="8348977" y="1545836"/>
            <a:ext cx="437501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A0CFFF"/>
                </a:solidFill>
                <a:latin typeface="Arial"/>
                <a:ea typeface="Arial"/>
                <a:cs typeface="Arial"/>
              </a:rPr>
              <a:t>2026.01</a:t>
            </a:r>
          </a:p>
        </p:txBody>
      </p:sp>
      <p:sp>
        <p:nvSpPr>
          <p:cNvPr id="56" name="body_text"/>
          <p:cNvSpPr txBox="1"/>
          <p:nvPr/>
        </p:nvSpPr>
        <p:spPr>
          <a:xfrm>
            <a:off x="7583351" y="1786462"/>
            <a:ext cx="1166669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定位：工业图纸化</a:t>
            </a:r>
          </a:p>
        </p:txBody>
      </p:sp>
      <p:sp>
        <p:nvSpPr>
          <p:cNvPr id="57" name="body_text"/>
          <p:cNvSpPr txBox="1"/>
          <p:nvPr/>
        </p:nvSpPr>
        <p:spPr>
          <a:xfrm>
            <a:off x="7583351" y="3062507"/>
            <a:ext cx="1166669" cy="729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行业首发电力多模态工业图纸模型，具备图纸解析、规则校核和辅助设计能力。</a:t>
            </a:r>
          </a:p>
        </p:txBody>
      </p:sp>
      <p:sp>
        <p:nvSpPr>
          <p:cNvPr id="58" name="body_text"/>
          <p:cNvSpPr txBox="1"/>
          <p:nvPr/>
        </p:nvSpPr>
        <p:spPr>
          <a:xfrm>
            <a:off x="9479188" y="1166669"/>
            <a:ext cx="291667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9" name="body_text"/>
          <p:cNvSpPr txBox="1"/>
          <p:nvPr/>
        </p:nvSpPr>
        <p:spPr>
          <a:xfrm>
            <a:off x="9041687" y="1531253"/>
            <a:ext cx="729168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3.1</a:t>
            </a:r>
          </a:p>
        </p:txBody>
      </p:sp>
      <p:sp>
        <p:nvSpPr>
          <p:cNvPr id="60" name="body_text"/>
          <p:cNvSpPr txBox="1"/>
          <p:nvPr/>
        </p:nvSpPr>
        <p:spPr>
          <a:xfrm>
            <a:off x="9807314" y="1545836"/>
            <a:ext cx="437501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A0CFFF"/>
                </a:solidFill>
                <a:latin typeface="Arial"/>
                <a:ea typeface="Arial"/>
                <a:cs typeface="Arial"/>
              </a:rPr>
              <a:t>2027.04</a:t>
            </a:r>
          </a:p>
        </p:txBody>
      </p:sp>
      <p:sp>
        <p:nvSpPr>
          <p:cNvPr id="61" name="body_text"/>
          <p:cNvSpPr txBox="1"/>
          <p:nvPr/>
        </p:nvSpPr>
        <p:spPr>
          <a:xfrm>
            <a:off x="9041687" y="1786462"/>
            <a:ext cx="1166669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定位：拓扑认知化</a:t>
            </a:r>
          </a:p>
        </p:txBody>
      </p:sp>
      <p:sp>
        <p:nvSpPr>
          <p:cNvPr id="62" name="body_text"/>
          <p:cNvSpPr txBox="1"/>
          <p:nvPr/>
        </p:nvSpPr>
        <p:spPr>
          <a:xfrm>
            <a:off x="9041687" y="3062507"/>
            <a:ext cx="1166669" cy="802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融合多源数据，构建“图像—设备—空间—拓扑”联合推理能力，形成电力行业结构化认知壁垒。</a:t>
            </a:r>
          </a:p>
        </p:txBody>
      </p:sp>
      <p:sp>
        <p:nvSpPr>
          <p:cNvPr id="63" name="body_text"/>
          <p:cNvSpPr txBox="1"/>
          <p:nvPr/>
        </p:nvSpPr>
        <p:spPr>
          <a:xfrm>
            <a:off x="10937525" y="1166669"/>
            <a:ext cx="291667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4" name="body_text"/>
          <p:cNvSpPr txBox="1"/>
          <p:nvPr/>
        </p:nvSpPr>
        <p:spPr>
          <a:xfrm>
            <a:off x="10500024" y="1531253"/>
            <a:ext cx="729168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4.0</a:t>
            </a:r>
          </a:p>
        </p:txBody>
      </p:sp>
      <p:sp>
        <p:nvSpPr>
          <p:cNvPr id="65" name="body_text"/>
          <p:cNvSpPr txBox="1"/>
          <p:nvPr/>
        </p:nvSpPr>
        <p:spPr>
          <a:xfrm>
            <a:off x="11265651" y="1545836"/>
            <a:ext cx="437501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A0CFFF"/>
                </a:solidFill>
                <a:latin typeface="Arial"/>
                <a:ea typeface="Arial"/>
                <a:cs typeface="Arial"/>
              </a:rPr>
              <a:t>2027.12</a:t>
            </a:r>
          </a:p>
        </p:txBody>
      </p:sp>
      <p:sp>
        <p:nvSpPr>
          <p:cNvPr id="66" name="body_text"/>
          <p:cNvSpPr txBox="1"/>
          <p:nvPr/>
        </p:nvSpPr>
        <p:spPr>
          <a:xfrm>
            <a:off x="10500024" y="1786462"/>
            <a:ext cx="1166669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定位：世界模型化</a:t>
            </a:r>
          </a:p>
        </p:txBody>
      </p:sp>
      <p:sp>
        <p:nvSpPr>
          <p:cNvPr id="67" name="body_text"/>
          <p:cNvSpPr txBox="1"/>
          <p:nvPr/>
        </p:nvSpPr>
        <p:spPr>
          <a:xfrm>
            <a:off x="10500024" y="3062507"/>
            <a:ext cx="1166669" cy="802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发布电力多模态世界模型，实现物理仿真与智能推演、从理解现场迈向推演现场、辅助决策。</a:t>
            </a:r>
          </a:p>
        </p:txBody>
      </p:sp>
      <p:sp>
        <p:nvSpPr>
          <p:cNvPr id="68" name="body_text"/>
          <p:cNvSpPr txBox="1"/>
          <p:nvPr/>
        </p:nvSpPr>
        <p:spPr>
          <a:xfrm>
            <a:off x="5687513" y="3500008"/>
            <a:ext cx="729168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统一服务</a:t>
            </a:r>
          </a:p>
        </p:txBody>
      </p:sp>
      <p:sp>
        <p:nvSpPr>
          <p:cNvPr id="69" name="body_text"/>
          <p:cNvSpPr txBox="1"/>
          <p:nvPr/>
        </p:nvSpPr>
        <p:spPr>
          <a:xfrm>
            <a:off x="4958344" y="3718758"/>
            <a:ext cx="2187505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7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电力专业多模态能力引擎</a:t>
            </a:r>
          </a:p>
        </p:txBody>
      </p:sp>
      <p:sp>
        <p:nvSpPr>
          <p:cNvPr id="70" name="body_text"/>
          <p:cNvSpPr txBox="1"/>
          <p:nvPr/>
        </p:nvSpPr>
        <p:spPr>
          <a:xfrm>
            <a:off x="4010426" y="4083342"/>
            <a:ext cx="1093752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统一业务底座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业务驱动·场景普惠</a:t>
            </a:r>
          </a:p>
        </p:txBody>
      </p:sp>
      <p:sp>
        <p:nvSpPr>
          <p:cNvPr id="71" name="body_text"/>
          <p:cNvSpPr txBox="1"/>
          <p:nvPr/>
        </p:nvSpPr>
        <p:spPr>
          <a:xfrm>
            <a:off x="5468762" y="4083342"/>
            <a:ext cx="1093752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统一数据底座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数据融合·知识增强</a:t>
            </a:r>
          </a:p>
        </p:txBody>
      </p:sp>
      <p:sp>
        <p:nvSpPr>
          <p:cNvPr id="72" name="body_text"/>
          <p:cNvSpPr txBox="1"/>
          <p:nvPr/>
        </p:nvSpPr>
        <p:spPr>
          <a:xfrm>
            <a:off x="6927099" y="4083342"/>
            <a:ext cx="1093752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统一技术底座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算法领先·工程可靠</a:t>
            </a:r>
          </a:p>
        </p:txBody>
      </p:sp>
      <p:sp>
        <p:nvSpPr>
          <p:cNvPr id="73" name="body_text"/>
          <p:cNvSpPr txBox="1"/>
          <p:nvPr/>
        </p:nvSpPr>
        <p:spPr>
          <a:xfrm>
            <a:off x="4739594" y="4593760"/>
            <a:ext cx="2552089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3" b="0" i="0">
                <a:solidFill>
                  <a:srgbClr val="A0CFFF"/>
                </a:solidFill>
                <a:latin typeface="Microsoft YaHei"/>
                <a:ea typeface="Microsoft YaHei"/>
                <a:cs typeface="Microsoft YaHei"/>
              </a:rPr>
              <a:t>全域数据融合与知识沉淀</a:t>
            </a:r>
          </a:p>
        </p:txBody>
      </p:sp>
      <p:sp>
        <p:nvSpPr>
          <p:cNvPr id="74" name="body_text"/>
          <p:cNvSpPr txBox="1"/>
          <p:nvPr/>
        </p:nvSpPr>
        <p:spPr>
          <a:xfrm>
            <a:off x="2552089" y="5104178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0CFFF"/>
                </a:solidFill>
                <a:latin typeface="Microsoft YaHei"/>
                <a:ea typeface="Microsoft YaHei"/>
                <a:cs typeface="Microsoft YaHei"/>
              </a:rPr>
              <a:t>电网生产域</a:t>
            </a:r>
          </a:p>
        </p:txBody>
      </p:sp>
      <p:sp>
        <p:nvSpPr>
          <p:cNvPr id="75" name="body_text"/>
          <p:cNvSpPr txBox="1"/>
          <p:nvPr/>
        </p:nvSpPr>
        <p:spPr>
          <a:xfrm>
            <a:off x="4010426" y="5104178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0CFFF"/>
                </a:solidFill>
                <a:latin typeface="Microsoft YaHei"/>
                <a:ea typeface="Microsoft YaHei"/>
                <a:cs typeface="Microsoft YaHei"/>
              </a:rPr>
              <a:t>设备资产域</a:t>
            </a:r>
          </a:p>
        </p:txBody>
      </p:sp>
      <p:sp>
        <p:nvSpPr>
          <p:cNvPr id="76" name="body_text"/>
          <p:cNvSpPr txBox="1"/>
          <p:nvPr/>
        </p:nvSpPr>
        <p:spPr>
          <a:xfrm>
            <a:off x="5468762" y="5104178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0CFFF"/>
                </a:solidFill>
                <a:latin typeface="Microsoft YaHei"/>
                <a:ea typeface="Microsoft YaHei"/>
                <a:cs typeface="Microsoft YaHei"/>
              </a:rPr>
              <a:t>营销服务域</a:t>
            </a:r>
          </a:p>
        </p:txBody>
      </p:sp>
      <p:sp>
        <p:nvSpPr>
          <p:cNvPr id="77" name="body_text"/>
          <p:cNvSpPr txBox="1"/>
          <p:nvPr/>
        </p:nvSpPr>
        <p:spPr>
          <a:xfrm>
            <a:off x="6927099" y="5104178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0CFFF"/>
                </a:solidFill>
                <a:latin typeface="Microsoft YaHei"/>
                <a:ea typeface="Microsoft YaHei"/>
                <a:cs typeface="Microsoft YaHei"/>
              </a:rPr>
              <a:t>安全管理域</a:t>
            </a:r>
          </a:p>
        </p:txBody>
      </p:sp>
      <p:sp>
        <p:nvSpPr>
          <p:cNvPr id="78" name="body_text"/>
          <p:cNvSpPr txBox="1"/>
          <p:nvPr/>
        </p:nvSpPr>
        <p:spPr>
          <a:xfrm>
            <a:off x="8385436" y="5104178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0CFFF"/>
                </a:solidFill>
                <a:latin typeface="Microsoft YaHei"/>
                <a:ea typeface="Microsoft YaHei"/>
                <a:cs typeface="Microsoft YaHei"/>
              </a:rPr>
              <a:t>外部环境域</a:t>
            </a:r>
          </a:p>
        </p:txBody>
      </p:sp>
      <p:sp>
        <p:nvSpPr>
          <p:cNvPr id="79" name="body_text"/>
          <p:cNvSpPr txBox="1"/>
          <p:nvPr/>
        </p:nvSpPr>
        <p:spPr>
          <a:xfrm>
            <a:off x="291667" y="4010426"/>
            <a:ext cx="875002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业务生态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多业务域协同赋能</a:t>
            </a:r>
          </a:p>
        </p:txBody>
      </p:sp>
      <p:sp>
        <p:nvSpPr>
          <p:cNvPr id="80" name="body_text"/>
          <p:cNvSpPr txBox="1"/>
          <p:nvPr/>
        </p:nvSpPr>
        <p:spPr>
          <a:xfrm>
            <a:off x="291667" y="4593760"/>
            <a:ext cx="875002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模型生态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多模态模型协同演进</a:t>
            </a:r>
          </a:p>
        </p:txBody>
      </p:sp>
      <p:sp>
        <p:nvSpPr>
          <p:cNvPr id="81" name="body_text"/>
          <p:cNvSpPr txBox="1"/>
          <p:nvPr/>
        </p:nvSpPr>
        <p:spPr>
          <a:xfrm>
            <a:off x="10937525" y="4010426"/>
            <a:ext cx="875002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知识生态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电力专业知识体系</a:t>
            </a:r>
          </a:p>
        </p:txBody>
      </p:sp>
      <p:sp>
        <p:nvSpPr>
          <p:cNvPr id="82" name="body_text"/>
          <p:cNvSpPr txBox="1"/>
          <p:nvPr/>
        </p:nvSpPr>
        <p:spPr>
          <a:xfrm>
            <a:off x="10937525" y="4593760"/>
            <a:ext cx="875002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工具生态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工具链与应用集成</a:t>
            </a:r>
          </a:p>
        </p:txBody>
      </p:sp>
      <p:sp>
        <p:nvSpPr>
          <p:cNvPr id="83" name="body_text"/>
          <p:cNvSpPr txBox="1"/>
          <p:nvPr/>
        </p:nvSpPr>
        <p:spPr>
          <a:xfrm>
            <a:off x="291667" y="5687513"/>
            <a:ext cx="583334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77" b="1" i="0">
                <a:solidFill>
                  <a:srgbClr val="F2A900"/>
                </a:solidFill>
                <a:latin typeface="Microsoft YaHei"/>
                <a:ea typeface="Microsoft YaHei"/>
                <a:cs typeface="Microsoft YaHei"/>
              </a:rPr>
              <a:t>演进路径</a:t>
            </a:r>
          </a:p>
        </p:txBody>
      </p:sp>
      <p:sp>
        <p:nvSpPr>
          <p:cNvPr id="84" name="body_text"/>
          <p:cNvSpPr txBox="1"/>
          <p:nvPr/>
        </p:nvSpPr>
        <p:spPr>
          <a:xfrm>
            <a:off x="1093752" y="6416681"/>
            <a:ext cx="729168" cy="36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服务化入口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打通能力入口</a:t>
            </a:r>
          </a:p>
        </p:txBody>
      </p:sp>
      <p:sp>
        <p:nvSpPr>
          <p:cNvPr id="85" name="body_text"/>
          <p:cNvSpPr txBox="1"/>
          <p:nvPr/>
        </p:nvSpPr>
        <p:spPr>
          <a:xfrm>
            <a:off x="2187505" y="6416681"/>
            <a:ext cx="729168" cy="36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规模化跃升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提升模型规模</a:t>
            </a:r>
          </a:p>
        </p:txBody>
      </p:sp>
      <p:sp>
        <p:nvSpPr>
          <p:cNvPr id="86" name="body_text"/>
          <p:cNvSpPr txBox="1"/>
          <p:nvPr/>
        </p:nvSpPr>
        <p:spPr>
          <a:xfrm>
            <a:off x="3281257" y="6416681"/>
            <a:ext cx="729168" cy="36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行业专业化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深耕电力场景</a:t>
            </a:r>
          </a:p>
        </p:txBody>
      </p:sp>
      <p:sp>
        <p:nvSpPr>
          <p:cNvPr id="87" name="body_text"/>
          <p:cNvSpPr txBox="1"/>
          <p:nvPr/>
        </p:nvSpPr>
        <p:spPr>
          <a:xfrm>
            <a:off x="4375010" y="6416681"/>
            <a:ext cx="729168" cy="36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架构协同化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专家协同智能</a:t>
            </a:r>
          </a:p>
        </p:txBody>
      </p:sp>
      <p:sp>
        <p:nvSpPr>
          <p:cNvPr id="88" name="body_text"/>
          <p:cNvSpPr txBox="1"/>
          <p:nvPr/>
        </p:nvSpPr>
        <p:spPr>
          <a:xfrm>
            <a:off x="5468762" y="6416681"/>
            <a:ext cx="729168" cy="36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推理原生化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强化推理能力</a:t>
            </a:r>
          </a:p>
        </p:txBody>
      </p:sp>
      <p:sp>
        <p:nvSpPr>
          <p:cNvPr id="89" name="body_text"/>
          <p:cNvSpPr txBox="1"/>
          <p:nvPr/>
        </p:nvSpPr>
        <p:spPr>
          <a:xfrm>
            <a:off x="6562515" y="6416681"/>
            <a:ext cx="729168" cy="36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工业图纸化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理解工程图纸</a:t>
            </a:r>
          </a:p>
        </p:txBody>
      </p:sp>
      <p:sp>
        <p:nvSpPr>
          <p:cNvPr id="90" name="body_text"/>
          <p:cNvSpPr txBox="1"/>
          <p:nvPr/>
        </p:nvSpPr>
        <p:spPr>
          <a:xfrm>
            <a:off x="7656267" y="6416681"/>
            <a:ext cx="729168" cy="36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拓扑认知化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推理电网结构</a:t>
            </a:r>
          </a:p>
        </p:txBody>
      </p:sp>
      <p:sp>
        <p:nvSpPr>
          <p:cNvPr id="91" name="body_text"/>
          <p:cNvSpPr txBox="1"/>
          <p:nvPr/>
        </p:nvSpPr>
        <p:spPr>
          <a:xfrm>
            <a:off x="8750020" y="6416681"/>
            <a:ext cx="729168" cy="36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世界模型化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仿真推演决策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Image2PPT Deck</dc:title>
  <dc:subject>Generated by bggg-creator-image2ppt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