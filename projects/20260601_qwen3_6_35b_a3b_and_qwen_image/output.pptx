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sp>
        <p:nvSpPr>
          <p:cNvPr id="3" name="Background Shape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meline Line"/>
          <p:cNvCxnSpPr/>
          <p:nvPr/>
        </p:nvCxnSpPr>
        <p:spPr>
          <a:xfrm>
            <a:off x="947918" y="1203127"/>
            <a:ext cx="11229193" cy="0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 1"/>
          <p:cNvSpPr/>
          <p:nvPr/>
        </p:nvSpPr>
        <p:spPr>
          <a:xfrm>
            <a:off x="182292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2"/>
          <p:cNvSpPr/>
          <p:nvPr/>
        </p:nvSpPr>
        <p:spPr>
          <a:xfrm>
            <a:off x="1677087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3"/>
          <p:cNvSpPr/>
          <p:nvPr/>
        </p:nvSpPr>
        <p:spPr>
          <a:xfrm>
            <a:off x="3171882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4"/>
          <p:cNvSpPr/>
          <p:nvPr/>
        </p:nvSpPr>
        <p:spPr>
          <a:xfrm>
            <a:off x="4666677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5"/>
          <p:cNvSpPr/>
          <p:nvPr/>
        </p:nvSpPr>
        <p:spPr>
          <a:xfrm>
            <a:off x="6161472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6"/>
          <p:cNvSpPr/>
          <p:nvPr/>
        </p:nvSpPr>
        <p:spPr>
          <a:xfrm>
            <a:off x="7656267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7"/>
          <p:cNvSpPr/>
          <p:nvPr/>
        </p:nvSpPr>
        <p:spPr>
          <a:xfrm>
            <a:off x="9151063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8"/>
          <p:cNvSpPr/>
          <p:nvPr/>
        </p:nvSpPr>
        <p:spPr>
          <a:xfrm>
            <a:off x="10645858" y="1312503"/>
            <a:ext cx="1312503" cy="1604170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gine Outer Ring"/>
          <p:cNvSpPr/>
          <p:nvPr/>
        </p:nvSpPr>
        <p:spPr>
          <a:xfrm>
            <a:off x="3908342" y="3281257"/>
            <a:ext cx="4375010" cy="1458336"/>
          </a:xfrm>
          <a:prstGeom prst="ellipse">
            <a:avLst/>
          </a:prstGeom>
          <a:solidFill>
            <a:srgbClr val="0D1F40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ngine Inner Ring"/>
          <p:cNvSpPr/>
          <p:nvPr/>
        </p:nvSpPr>
        <p:spPr>
          <a:xfrm>
            <a:off x="4272926" y="3500008"/>
            <a:ext cx="3645841" cy="1020835"/>
          </a:xfrm>
          <a:prstGeom prst="ellipse">
            <a:avLst/>
          </a:prstGeom>
          <a:solidFill>
            <a:srgbClr val="0A15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 Layer"/>
          <p:cNvSpPr/>
          <p:nvPr/>
        </p:nvSpPr>
        <p:spPr>
          <a:xfrm>
            <a:off x="3645841" y="4229176"/>
            <a:ext cx="4885428" cy="437501"/>
          </a:xfrm>
          <a:prstGeom prst="ellipse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usiness Base"/>
          <p:cNvSpPr/>
          <p:nvPr/>
        </p:nvSpPr>
        <p:spPr>
          <a:xfrm>
            <a:off x="4010426" y="3791675"/>
            <a:ext cx="1312503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 Base"/>
          <p:cNvSpPr/>
          <p:nvPr/>
        </p:nvSpPr>
        <p:spPr>
          <a:xfrm>
            <a:off x="5468762" y="3791675"/>
            <a:ext cx="1312503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ch Base"/>
          <p:cNvSpPr/>
          <p:nvPr/>
        </p:nvSpPr>
        <p:spPr>
          <a:xfrm>
            <a:off x="6927099" y="3791675"/>
            <a:ext cx="1312503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rvice Button"/>
          <p:cNvSpPr/>
          <p:nvPr/>
        </p:nvSpPr>
        <p:spPr>
          <a:xfrm>
            <a:off x="5468762" y="3062507"/>
            <a:ext cx="1239586" cy="21875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usiness Eco Box"/>
          <p:cNvSpPr/>
          <p:nvPr/>
        </p:nvSpPr>
        <p:spPr>
          <a:xfrm>
            <a:off x="218750" y="3645841"/>
            <a:ext cx="1093752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odel Eco Box"/>
          <p:cNvSpPr/>
          <p:nvPr/>
        </p:nvSpPr>
        <p:spPr>
          <a:xfrm>
            <a:off x="218750" y="4229176"/>
            <a:ext cx="1093752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nowledge Eco Box"/>
          <p:cNvSpPr/>
          <p:nvPr/>
        </p:nvSpPr>
        <p:spPr>
          <a:xfrm>
            <a:off x="10864608" y="3645841"/>
            <a:ext cx="1093752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ol Eco Box"/>
          <p:cNvSpPr/>
          <p:nvPr/>
        </p:nvSpPr>
        <p:spPr>
          <a:xfrm>
            <a:off x="10864608" y="4229176"/>
            <a:ext cx="1093752" cy="437501"/>
          </a:xfrm>
          <a:prstGeom prst="roundRect">
            <a:avLst/>
          </a:prstGeom>
          <a:solidFill>
            <a:srgbClr val="0D1F4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Bottom Path Curve"/>
          <p:cNvCxnSpPr/>
          <p:nvPr/>
        </p:nvCxnSpPr>
        <p:spPr>
          <a:xfrm>
            <a:off x="729168" y="6197931"/>
            <a:ext cx="10718775" cy="0"/>
          </a:xfrm>
          <a:prstGeom prst="line">
            <a:avLst/>
          </a:prstGeom>
          <a:ln w="21875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ottom Arrow"/>
          <p:cNvCxnSpPr/>
          <p:nvPr/>
        </p:nvCxnSpPr>
        <p:spPr>
          <a:xfrm flipV="1">
            <a:off x="10937525" y="5833346"/>
            <a:ext cx="729168" cy="364585"/>
          </a:xfrm>
          <a:prstGeom prst="line">
            <a:avLst/>
          </a:prstGeom>
          <a:ln w="21875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timeline_circ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68" y="1093752"/>
            <a:ext cx="218750" cy="218750"/>
          </a:xfrm>
          <a:prstGeom prst="rect">
            <a:avLst/>
          </a:prstGeom>
        </p:spPr>
      </p:pic>
      <p:pic>
        <p:nvPicPr>
          <p:cNvPr id="27" name="Picture 26" descr="timeline_circl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505" y="1093752"/>
            <a:ext cx="218750" cy="218750"/>
          </a:xfrm>
          <a:prstGeom prst="rect">
            <a:avLst/>
          </a:prstGeom>
        </p:spPr>
      </p:pic>
      <p:pic>
        <p:nvPicPr>
          <p:cNvPr id="28" name="Picture 27" descr="timeline_circl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841" y="1093752"/>
            <a:ext cx="218750" cy="218750"/>
          </a:xfrm>
          <a:prstGeom prst="rect">
            <a:avLst/>
          </a:prstGeom>
        </p:spPr>
      </p:pic>
      <p:pic>
        <p:nvPicPr>
          <p:cNvPr id="29" name="Picture 28" descr="timeline_circl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4178" y="1093752"/>
            <a:ext cx="218750" cy="218750"/>
          </a:xfrm>
          <a:prstGeom prst="rect">
            <a:avLst/>
          </a:prstGeom>
        </p:spPr>
      </p:pic>
      <p:pic>
        <p:nvPicPr>
          <p:cNvPr id="30" name="Picture 29" descr="timeline_circl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515" y="1093752"/>
            <a:ext cx="218750" cy="218750"/>
          </a:xfrm>
          <a:prstGeom prst="rect">
            <a:avLst/>
          </a:prstGeom>
        </p:spPr>
      </p:pic>
      <p:pic>
        <p:nvPicPr>
          <p:cNvPr id="31" name="Picture 30" descr="timeline_circle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0852" y="1093752"/>
            <a:ext cx="218750" cy="218750"/>
          </a:xfrm>
          <a:prstGeom prst="rect">
            <a:avLst/>
          </a:prstGeom>
        </p:spPr>
      </p:pic>
      <p:pic>
        <p:nvPicPr>
          <p:cNvPr id="32" name="Picture 31" descr="timeline_circle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9188" y="1093752"/>
            <a:ext cx="218750" cy="218750"/>
          </a:xfrm>
          <a:prstGeom prst="rect">
            <a:avLst/>
          </a:prstGeom>
        </p:spPr>
      </p:pic>
      <p:pic>
        <p:nvPicPr>
          <p:cNvPr id="33" name="Picture 32" descr="timeline_circle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7525" y="1093752"/>
            <a:ext cx="218750" cy="218750"/>
          </a:xfrm>
          <a:prstGeom prst="rect">
            <a:avLst/>
          </a:prstGeom>
        </p:spPr>
      </p:pic>
      <p:pic>
        <p:nvPicPr>
          <p:cNvPr id="34" name="Picture 33" descr="icon_card_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334" y="1822920"/>
            <a:ext cx="437501" cy="437501"/>
          </a:xfrm>
          <a:prstGeom prst="rect">
            <a:avLst/>
          </a:prstGeom>
        </p:spPr>
      </p:pic>
      <p:pic>
        <p:nvPicPr>
          <p:cNvPr id="35" name="Picture 34" descr="icon_card_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41671" y="1822920"/>
            <a:ext cx="437501" cy="437501"/>
          </a:xfrm>
          <a:prstGeom prst="rect">
            <a:avLst/>
          </a:prstGeom>
        </p:spPr>
      </p:pic>
      <p:pic>
        <p:nvPicPr>
          <p:cNvPr id="36" name="Picture 35" descr="icon_card_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0008" y="1822920"/>
            <a:ext cx="437501" cy="437501"/>
          </a:xfrm>
          <a:prstGeom prst="rect">
            <a:avLst/>
          </a:prstGeom>
        </p:spPr>
      </p:pic>
      <p:pic>
        <p:nvPicPr>
          <p:cNvPr id="37" name="Picture 36" descr="icon_card_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8344" y="1822920"/>
            <a:ext cx="437501" cy="437501"/>
          </a:xfrm>
          <a:prstGeom prst="rect">
            <a:avLst/>
          </a:prstGeom>
        </p:spPr>
      </p:pic>
      <p:pic>
        <p:nvPicPr>
          <p:cNvPr id="38" name="Picture 37" descr="icon_card_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6681" y="1822920"/>
            <a:ext cx="437501" cy="437501"/>
          </a:xfrm>
          <a:prstGeom prst="rect">
            <a:avLst/>
          </a:prstGeom>
        </p:spPr>
      </p:pic>
      <p:pic>
        <p:nvPicPr>
          <p:cNvPr id="39" name="Picture 38" descr="icon_card_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75018" y="1822920"/>
            <a:ext cx="437501" cy="437501"/>
          </a:xfrm>
          <a:prstGeom prst="rect">
            <a:avLst/>
          </a:prstGeom>
        </p:spPr>
      </p:pic>
      <p:pic>
        <p:nvPicPr>
          <p:cNvPr id="40" name="Picture 39" descr="icon_card_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3355" y="1822920"/>
            <a:ext cx="437501" cy="437501"/>
          </a:xfrm>
          <a:prstGeom prst="rect">
            <a:avLst/>
          </a:prstGeom>
        </p:spPr>
      </p:pic>
      <p:pic>
        <p:nvPicPr>
          <p:cNvPr id="41" name="Picture 40" descr="icon_card_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91691" y="1822920"/>
            <a:ext cx="437501" cy="437501"/>
          </a:xfrm>
          <a:prstGeom prst="rect">
            <a:avLst/>
          </a:prstGeom>
        </p:spPr>
      </p:pic>
      <p:pic>
        <p:nvPicPr>
          <p:cNvPr id="42" name="Picture 41" descr="icon_business_ecosyste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1667" y="3718758"/>
            <a:ext cx="291667" cy="291667"/>
          </a:xfrm>
          <a:prstGeom prst="rect">
            <a:avLst/>
          </a:prstGeom>
        </p:spPr>
      </p:pic>
      <p:pic>
        <p:nvPicPr>
          <p:cNvPr id="43" name="Picture 42" descr="icon_model_ecosystem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1667" y="4302093"/>
            <a:ext cx="291667" cy="291667"/>
          </a:xfrm>
          <a:prstGeom prst="rect">
            <a:avLst/>
          </a:prstGeom>
        </p:spPr>
      </p:pic>
      <p:pic>
        <p:nvPicPr>
          <p:cNvPr id="44" name="Picture 43" descr="icon_knowledge_ecosyste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37525" y="3718758"/>
            <a:ext cx="291667" cy="291667"/>
          </a:xfrm>
          <a:prstGeom prst="rect">
            <a:avLst/>
          </a:prstGeom>
        </p:spPr>
      </p:pic>
      <p:pic>
        <p:nvPicPr>
          <p:cNvPr id="45" name="Picture 44" descr="icon_tool_ecosystem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37525" y="4302093"/>
            <a:ext cx="291667" cy="291667"/>
          </a:xfrm>
          <a:prstGeom prst="rect">
            <a:avLst/>
          </a:prstGeom>
        </p:spPr>
      </p:pic>
      <p:pic>
        <p:nvPicPr>
          <p:cNvPr id="46" name="Picture 45" descr="icon_bottom_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7918" y="5833346"/>
            <a:ext cx="364584" cy="364584"/>
          </a:xfrm>
          <a:prstGeom prst="rect">
            <a:avLst/>
          </a:prstGeom>
        </p:spPr>
      </p:pic>
      <p:pic>
        <p:nvPicPr>
          <p:cNvPr id="47" name="Picture 46" descr="icon_bottom_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41671" y="5833346"/>
            <a:ext cx="364584" cy="364584"/>
          </a:xfrm>
          <a:prstGeom prst="rect">
            <a:avLst/>
          </a:prstGeom>
        </p:spPr>
      </p:pic>
      <p:pic>
        <p:nvPicPr>
          <p:cNvPr id="48" name="Picture 47" descr="icon_bottom_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35424" y="5833346"/>
            <a:ext cx="364584" cy="364584"/>
          </a:xfrm>
          <a:prstGeom prst="rect">
            <a:avLst/>
          </a:prstGeom>
        </p:spPr>
      </p:pic>
      <p:pic>
        <p:nvPicPr>
          <p:cNvPr id="49" name="Picture 48" descr="icon_bottom_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9176" y="5833346"/>
            <a:ext cx="364584" cy="364584"/>
          </a:xfrm>
          <a:prstGeom prst="rect">
            <a:avLst/>
          </a:prstGeom>
        </p:spPr>
      </p:pic>
      <p:pic>
        <p:nvPicPr>
          <p:cNvPr id="50" name="Picture 49" descr="icon_bottom_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22929" y="5833346"/>
            <a:ext cx="364584" cy="364584"/>
          </a:xfrm>
          <a:prstGeom prst="rect">
            <a:avLst/>
          </a:prstGeom>
        </p:spPr>
      </p:pic>
      <p:pic>
        <p:nvPicPr>
          <p:cNvPr id="51" name="Picture 50" descr="icon_bottom_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16681" y="5833346"/>
            <a:ext cx="364584" cy="364584"/>
          </a:xfrm>
          <a:prstGeom prst="rect">
            <a:avLst/>
          </a:prstGeom>
        </p:spPr>
      </p:pic>
      <p:pic>
        <p:nvPicPr>
          <p:cNvPr id="52" name="Picture 51" descr="icon_bottom_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10434" y="5833346"/>
            <a:ext cx="364584" cy="364584"/>
          </a:xfrm>
          <a:prstGeom prst="rect">
            <a:avLst/>
          </a:prstGeom>
        </p:spPr>
      </p:pic>
      <p:pic>
        <p:nvPicPr>
          <p:cNvPr id="53" name="Picture 52" descr="icon_bottom_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04186" y="5833346"/>
            <a:ext cx="364584" cy="364584"/>
          </a:xfrm>
          <a:prstGeom prst="rect">
            <a:avLst/>
          </a:prstGeom>
        </p:spPr>
      </p:pic>
      <p:sp>
        <p:nvSpPr>
          <p:cNvPr id="54" name="titles"/>
          <p:cNvSpPr txBox="1"/>
          <p:nvPr/>
        </p:nvSpPr>
        <p:spPr>
          <a:xfrm>
            <a:off x="4010426" y="218750"/>
            <a:ext cx="4156259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5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 演进路线图</a:t>
            </a:r>
          </a:p>
        </p:txBody>
      </p:sp>
      <p:sp>
        <p:nvSpPr>
          <p:cNvPr id="55" name="titles"/>
          <p:cNvSpPr txBox="1"/>
          <p:nvPr/>
        </p:nvSpPr>
        <p:spPr>
          <a:xfrm>
            <a:off x="4739594" y="729168"/>
            <a:ext cx="2697922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CC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56" name="titles"/>
          <p:cNvSpPr txBox="1"/>
          <p:nvPr/>
        </p:nvSpPr>
        <p:spPr>
          <a:xfrm>
            <a:off x="4375010" y="1020835"/>
            <a:ext cx="342709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182292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亮点：建成南网首个，电力多模态能力入口，成功适配国产算力，实现全自主安全可控。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1677087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亮点：底座全面迭代升级，正式备千亿级参数量规模模型能力。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3171882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亮点：完成72B行业微调模型全面升级，强化电力专业能力，高效流转典型业务场景。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4666677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亮点：上线 MoE 架构微调模型，实现专家协同、任务分流和多业务域协同，按需调用专业能力。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6161472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亮点：引入强化学习与慢思考机制，增强逻辑推理、知识增强和工具调用能力。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7656267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亮点：行业首发电力多模态工业图纸模型，具备图纸解析、规则校核和辅助设计能力。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9151063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亮点：融合多源数据，构建“图像—设备—空间—拓扑”联合推理能力，形成电力行业结构化认知壁垒。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10645858" y="1312503"/>
            <a:ext cx="1312503" cy="1604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亮点：发布电力多模态世界模型，实现物理仿真与智能推演、从理解现场迈向推演现场、辅助决策。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5468762" y="3062507"/>
            <a:ext cx="1239586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4375010" y="3354174"/>
            <a:ext cx="3427091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4010426" y="3791675"/>
            <a:ext cx="1312503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 · 场景普惠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5468762" y="3791675"/>
            <a:ext cx="1312503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 · 知识增强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6927099" y="3791675"/>
            <a:ext cx="1312503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 · 工程可靠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4375010" y="4375010"/>
            <a:ext cx="3427091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218750" y="3645841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218750" y="4229176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10864608" y="3645841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10864608" y="4229176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218750" y="5687513"/>
            <a:ext cx="583334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CC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729168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1822920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2916673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4010426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5104178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6197931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7291683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8385436" y="6197931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