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op_right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272" y="109319"/>
            <a:ext cx="1239586" cy="983878"/>
          </a:xfrm>
          <a:prstGeom prst="rect">
            <a:avLst/>
          </a:prstGeom>
        </p:spPr>
      </p:pic>
      <p:pic>
        <p:nvPicPr>
          <p:cNvPr id="4" name="Picture 3" descr="bottom_left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338" y="3935515"/>
            <a:ext cx="729168" cy="473719"/>
          </a:xfrm>
          <a:prstGeom prst="rect">
            <a:avLst/>
          </a:prstGeom>
        </p:spPr>
      </p:pic>
      <p:pic>
        <p:nvPicPr>
          <p:cNvPr id="5" name="Picture 4" descr="bottom_right_fa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6267" y="3716875"/>
            <a:ext cx="875002" cy="692359"/>
          </a:xfrm>
          <a:prstGeom prst="rect">
            <a:avLst/>
          </a:prstGeom>
        </p:spPr>
      </p:pic>
      <p:pic>
        <p:nvPicPr>
          <p:cNvPr id="6" name="Picture 5" descr="central_eng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922" y="3133836"/>
            <a:ext cx="5687513" cy="1494038"/>
          </a:xfrm>
          <a:prstGeom prst="rect">
            <a:avLst/>
          </a:prstGeom>
        </p:spPr>
      </p:pic>
      <p:cxnSp>
        <p:nvCxnSpPr>
          <p:cNvPr id="7" name="timeline_arrows"/>
          <p:cNvCxnSpPr/>
          <p:nvPr/>
        </p:nvCxnSpPr>
        <p:spPr>
          <a:xfrm>
            <a:off x="729168" y="1020318"/>
            <a:ext cx="9843773" cy="291520"/>
          </a:xfrm>
          <a:prstGeom prst="line">
            <a:avLst/>
          </a:prstGeom>
          <a:ln w="14583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highlight_line"/>
          <p:cNvCxnSpPr/>
          <p:nvPr/>
        </p:nvCxnSpPr>
        <p:spPr>
          <a:xfrm>
            <a:off x="2697922" y="619479"/>
            <a:ext cx="8604187" cy="182200"/>
          </a:xfrm>
          <a:prstGeom prst="line">
            <a:avLst/>
          </a:prstGeom>
          <a:ln w="14583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_path"/>
          <p:cNvCxnSpPr/>
          <p:nvPr/>
        </p:nvCxnSpPr>
        <p:spPr>
          <a:xfrm>
            <a:off x="875002" y="4919394"/>
            <a:ext cx="9770856" cy="400839"/>
          </a:xfrm>
          <a:prstGeom prst="line">
            <a:avLst/>
          </a:prstGeom>
          <a:ln w="14583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Rect_1"/>
          <p:cNvSpPr/>
          <p:nvPr/>
        </p:nvSpPr>
        <p:spPr>
          <a:xfrm>
            <a:off x="182292" y="1238958"/>
            <a:ext cx="1348961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Rect_2"/>
          <p:cNvSpPr/>
          <p:nvPr/>
        </p:nvSpPr>
        <p:spPr>
          <a:xfrm>
            <a:off x="1640628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Rect_3"/>
          <p:cNvSpPr/>
          <p:nvPr/>
        </p:nvSpPr>
        <p:spPr>
          <a:xfrm>
            <a:off x="2953131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Rect_4"/>
          <p:cNvSpPr/>
          <p:nvPr/>
        </p:nvSpPr>
        <p:spPr>
          <a:xfrm>
            <a:off x="4265634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Rect_5"/>
          <p:cNvSpPr/>
          <p:nvPr/>
        </p:nvSpPr>
        <p:spPr>
          <a:xfrm>
            <a:off x="5578138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Rect_6"/>
          <p:cNvSpPr/>
          <p:nvPr/>
        </p:nvSpPr>
        <p:spPr>
          <a:xfrm>
            <a:off x="6890641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Rect_7"/>
          <p:cNvSpPr/>
          <p:nvPr/>
        </p:nvSpPr>
        <p:spPr>
          <a:xfrm>
            <a:off x="8203144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Rect_8"/>
          <p:cNvSpPr/>
          <p:nvPr/>
        </p:nvSpPr>
        <p:spPr>
          <a:xfrm>
            <a:off x="9515647" y="1238958"/>
            <a:ext cx="1239586" cy="1894877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Rect_9"/>
          <p:cNvSpPr/>
          <p:nvPr/>
        </p:nvSpPr>
        <p:spPr>
          <a:xfrm>
            <a:off x="255208" y="3316036"/>
            <a:ext cx="1239586" cy="473719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Rect_10"/>
          <p:cNvSpPr/>
          <p:nvPr/>
        </p:nvSpPr>
        <p:spPr>
          <a:xfrm>
            <a:off x="255208" y="3935515"/>
            <a:ext cx="1239586" cy="473719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Rect_11"/>
          <p:cNvSpPr/>
          <p:nvPr/>
        </p:nvSpPr>
        <p:spPr>
          <a:xfrm>
            <a:off x="9406272" y="3316036"/>
            <a:ext cx="1239586" cy="473719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Rect_12"/>
          <p:cNvSpPr/>
          <p:nvPr/>
        </p:nvSpPr>
        <p:spPr>
          <a:xfrm>
            <a:off x="9406272" y="3935515"/>
            <a:ext cx="1239586" cy="473719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llipse_1"/>
          <p:cNvSpPr/>
          <p:nvPr/>
        </p:nvSpPr>
        <p:spPr>
          <a:xfrm>
            <a:off x="802085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llipse_2"/>
          <p:cNvSpPr/>
          <p:nvPr/>
        </p:nvSpPr>
        <p:spPr>
          <a:xfrm>
            <a:off x="2114588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llipse_3"/>
          <p:cNvSpPr/>
          <p:nvPr/>
        </p:nvSpPr>
        <p:spPr>
          <a:xfrm>
            <a:off x="3427091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llipse_4"/>
          <p:cNvSpPr/>
          <p:nvPr/>
        </p:nvSpPr>
        <p:spPr>
          <a:xfrm>
            <a:off x="4739594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llipse_5"/>
          <p:cNvSpPr/>
          <p:nvPr/>
        </p:nvSpPr>
        <p:spPr>
          <a:xfrm>
            <a:off x="6052097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llipse_6"/>
          <p:cNvSpPr/>
          <p:nvPr/>
        </p:nvSpPr>
        <p:spPr>
          <a:xfrm>
            <a:off x="7364600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llipse_7"/>
          <p:cNvSpPr/>
          <p:nvPr/>
        </p:nvSpPr>
        <p:spPr>
          <a:xfrm>
            <a:off x="8677103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llipse_8"/>
          <p:cNvSpPr/>
          <p:nvPr/>
        </p:nvSpPr>
        <p:spPr>
          <a:xfrm>
            <a:off x="9989606" y="983878"/>
            <a:ext cx="218750" cy="218639"/>
          </a:xfrm>
          <a:prstGeom prst="ellipse">
            <a:avLst/>
          </a:prstGeom>
          <a:solidFill>
            <a:srgbClr val="FFFFFF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line_1"/>
          <p:cNvCxnSpPr/>
          <p:nvPr/>
        </p:nvCxnSpPr>
        <p:spPr>
          <a:xfrm>
            <a:off x="1020835" y="1093198"/>
            <a:ext cx="9406272" cy="0"/>
          </a:xfrm>
          <a:prstGeom prst="line">
            <a:avLst/>
          </a:prstGeom>
          <a:ln w="14583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icon_power_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208" y="1858437"/>
            <a:ext cx="401042" cy="400839"/>
          </a:xfrm>
          <a:prstGeom prst="rect">
            <a:avLst/>
          </a:prstGeom>
        </p:spPr>
      </p:pic>
      <p:pic>
        <p:nvPicPr>
          <p:cNvPr id="32" name="Picture 31" descr="icon_st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3545" y="1858437"/>
            <a:ext cx="401042" cy="400839"/>
          </a:xfrm>
          <a:prstGeom prst="rect">
            <a:avLst/>
          </a:prstGeom>
        </p:spPr>
      </p:pic>
      <p:pic>
        <p:nvPicPr>
          <p:cNvPr id="33" name="Picture 32" descr="icon_fac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6048" y="1858437"/>
            <a:ext cx="401042" cy="400839"/>
          </a:xfrm>
          <a:prstGeom prst="rect">
            <a:avLst/>
          </a:prstGeom>
        </p:spPr>
      </p:pic>
      <p:pic>
        <p:nvPicPr>
          <p:cNvPr id="34" name="Picture 33" descr="icon_net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8551" y="1858437"/>
            <a:ext cx="401042" cy="400839"/>
          </a:xfrm>
          <a:prstGeom prst="rect">
            <a:avLst/>
          </a:prstGeom>
        </p:spPr>
      </p:pic>
      <p:pic>
        <p:nvPicPr>
          <p:cNvPr id="35" name="Picture 34" descr="icon_bra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1054" y="1858437"/>
            <a:ext cx="401042" cy="400839"/>
          </a:xfrm>
          <a:prstGeom prst="rect">
            <a:avLst/>
          </a:prstGeom>
        </p:spPr>
      </p:pic>
      <p:pic>
        <p:nvPicPr>
          <p:cNvPr id="36" name="Picture 35" descr="icon_bluepri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3557" y="1858437"/>
            <a:ext cx="401042" cy="400839"/>
          </a:xfrm>
          <a:prstGeom prst="rect">
            <a:avLst/>
          </a:prstGeom>
        </p:spPr>
      </p:pic>
      <p:pic>
        <p:nvPicPr>
          <p:cNvPr id="37" name="Picture 36" descr="icon_grap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6061" y="1858437"/>
            <a:ext cx="401042" cy="400839"/>
          </a:xfrm>
          <a:prstGeom prst="rect">
            <a:avLst/>
          </a:prstGeom>
        </p:spPr>
      </p:pic>
      <p:pic>
        <p:nvPicPr>
          <p:cNvPr id="38" name="Picture 37" descr="icon_eart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88564" y="1858437"/>
            <a:ext cx="401042" cy="400839"/>
          </a:xfrm>
          <a:prstGeom prst="rect">
            <a:avLst/>
          </a:prstGeom>
        </p:spPr>
      </p:pic>
      <p:pic>
        <p:nvPicPr>
          <p:cNvPr id="39" name="Picture 38" descr="icon_peop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125" y="3388916"/>
            <a:ext cx="328125" cy="327959"/>
          </a:xfrm>
          <a:prstGeom prst="rect">
            <a:avLst/>
          </a:prstGeom>
        </p:spPr>
      </p:pic>
      <p:pic>
        <p:nvPicPr>
          <p:cNvPr id="40" name="Picture 39" descr="icon_cub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125" y="4008395"/>
            <a:ext cx="328125" cy="327959"/>
          </a:xfrm>
          <a:prstGeom prst="rect">
            <a:avLst/>
          </a:prstGeom>
        </p:spPr>
      </p:pic>
      <p:pic>
        <p:nvPicPr>
          <p:cNvPr id="41" name="Picture 40" descr="icon_documen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15647" y="3388916"/>
            <a:ext cx="328125" cy="327959"/>
          </a:xfrm>
          <a:prstGeom prst="rect">
            <a:avLst/>
          </a:prstGeom>
        </p:spPr>
      </p:pic>
      <p:pic>
        <p:nvPicPr>
          <p:cNvPr id="42" name="Picture 41" descr="icon_wrenc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5647" y="4008395"/>
            <a:ext cx="328125" cy="327959"/>
          </a:xfrm>
          <a:prstGeom prst="rect">
            <a:avLst/>
          </a:prstGeom>
        </p:spPr>
      </p:pic>
      <p:pic>
        <p:nvPicPr>
          <p:cNvPr id="43" name="Picture 42" descr="icon_phon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3127" y="4919394"/>
            <a:ext cx="291667" cy="364399"/>
          </a:xfrm>
          <a:prstGeom prst="rect">
            <a:avLst/>
          </a:prstGeom>
        </p:spPr>
      </p:pic>
      <p:pic>
        <p:nvPicPr>
          <p:cNvPr id="44" name="Picture 43" descr="icon_char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23963" y="4919394"/>
            <a:ext cx="437501" cy="364399"/>
          </a:xfrm>
          <a:prstGeom prst="rect">
            <a:avLst/>
          </a:prstGeom>
        </p:spPr>
      </p:pic>
      <p:pic>
        <p:nvPicPr>
          <p:cNvPr id="45" name="Picture 44" descr="icon_power_tow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44799" y="4919394"/>
            <a:ext cx="437501" cy="364399"/>
          </a:xfrm>
          <a:prstGeom prst="rect">
            <a:avLst/>
          </a:prstGeom>
        </p:spPr>
      </p:pic>
      <p:pic>
        <p:nvPicPr>
          <p:cNvPr id="46" name="Picture 45" descr="icon_people_group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57302" y="4919394"/>
            <a:ext cx="437501" cy="364399"/>
          </a:xfrm>
          <a:prstGeom prst="rect">
            <a:avLst/>
          </a:prstGeom>
        </p:spPr>
      </p:pic>
      <p:pic>
        <p:nvPicPr>
          <p:cNvPr id="47" name="Picture 46" descr="icon_brain_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78138" y="4919394"/>
            <a:ext cx="437501" cy="364399"/>
          </a:xfrm>
          <a:prstGeom prst="rect">
            <a:avLst/>
          </a:prstGeom>
        </p:spPr>
      </p:pic>
      <p:pic>
        <p:nvPicPr>
          <p:cNvPr id="48" name="Picture 47" descr="icon_equa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90641" y="4919394"/>
            <a:ext cx="437501" cy="364399"/>
          </a:xfrm>
          <a:prstGeom prst="rect">
            <a:avLst/>
          </a:prstGeom>
        </p:spPr>
      </p:pic>
      <p:pic>
        <p:nvPicPr>
          <p:cNvPr id="49" name="Picture 48" descr="icon_network_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57310" y="4919394"/>
            <a:ext cx="437501" cy="364399"/>
          </a:xfrm>
          <a:prstGeom prst="rect">
            <a:avLst/>
          </a:prstGeom>
        </p:spPr>
      </p:pic>
      <p:pic>
        <p:nvPicPr>
          <p:cNvPr id="50" name="Picture 49" descr="icon_earth_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23979" y="4919394"/>
            <a:ext cx="437501" cy="364399"/>
          </a:xfrm>
          <a:prstGeom prst="rect">
            <a:avLst/>
          </a:prstGeom>
        </p:spPr>
      </p:pic>
      <p:sp>
        <p:nvSpPr>
          <p:cNvPr id="51" name="title_1"/>
          <p:cNvSpPr txBox="1"/>
          <p:nvPr/>
        </p:nvSpPr>
        <p:spPr>
          <a:xfrm>
            <a:off x="3098965" y="116607"/>
            <a:ext cx="7692726" cy="415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1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"大模型"演进路线图</a:t>
            </a:r>
          </a:p>
        </p:txBody>
      </p:sp>
      <p:sp>
        <p:nvSpPr>
          <p:cNvPr id="52" name="title_2"/>
          <p:cNvSpPr txBox="1"/>
          <p:nvPr/>
        </p:nvSpPr>
        <p:spPr>
          <a:xfrm>
            <a:off x="4520843" y="619479"/>
            <a:ext cx="6234389" cy="167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路径标与核心要点</a:t>
            </a:r>
          </a:p>
        </p:txBody>
      </p:sp>
      <p:sp>
        <p:nvSpPr>
          <p:cNvPr id="53" name="title_3"/>
          <p:cNvSpPr txBox="1"/>
          <p:nvPr/>
        </p:nvSpPr>
        <p:spPr>
          <a:xfrm>
            <a:off x="4375010" y="838119"/>
            <a:ext cx="6380223" cy="14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从多模态服务化推进向电力世界模型</a:t>
            </a:r>
          </a:p>
        </p:txBody>
      </p:sp>
      <p:sp>
        <p:nvSpPr>
          <p:cNvPr id="54" name="body_text_1"/>
          <p:cNvSpPr txBox="1"/>
          <p:nvPr/>
        </p:nvSpPr>
        <p:spPr>
          <a:xfrm>
            <a:off x="218750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55" name="body_text_2"/>
          <p:cNvSpPr txBox="1"/>
          <p:nvPr/>
        </p:nvSpPr>
        <p:spPr>
          <a:xfrm>
            <a:off x="218750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电力多模态能力入口，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成功适配国产算力，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实现全自主安全可控。</a:t>
            </a:r>
          </a:p>
        </p:txBody>
      </p:sp>
      <p:sp>
        <p:nvSpPr>
          <p:cNvPr id="56" name="body_text_3"/>
          <p:cNvSpPr txBox="1"/>
          <p:nvPr/>
        </p:nvSpPr>
        <p:spPr>
          <a:xfrm>
            <a:off x="1677087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57" name="body_text_4"/>
          <p:cNvSpPr txBox="1"/>
          <p:nvPr/>
        </p:nvSpPr>
        <p:spPr>
          <a:xfrm>
            <a:off x="1677087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正式备案千亿级参数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规模模型能力。</a:t>
            </a:r>
          </a:p>
        </p:txBody>
      </p:sp>
      <p:sp>
        <p:nvSpPr>
          <p:cNvPr id="58" name="body_text_5"/>
          <p:cNvSpPr txBox="1"/>
          <p:nvPr/>
        </p:nvSpPr>
        <p:spPr>
          <a:xfrm>
            <a:off x="2989590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59" name="body_text_6"/>
          <p:cNvSpPr txBox="1"/>
          <p:nvPr/>
        </p:nvSpPr>
        <p:spPr>
          <a:xfrm>
            <a:off x="2989590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全面升级，强化电力专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业能力，高效流转典型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业务场景。</a:t>
            </a:r>
          </a:p>
        </p:txBody>
      </p:sp>
      <p:sp>
        <p:nvSpPr>
          <p:cNvPr id="60" name="body_text_7"/>
          <p:cNvSpPr txBox="1"/>
          <p:nvPr/>
        </p:nvSpPr>
        <p:spPr>
          <a:xfrm>
            <a:off x="4302093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61" name="body_text_8"/>
          <p:cNvSpPr txBox="1"/>
          <p:nvPr/>
        </p:nvSpPr>
        <p:spPr>
          <a:xfrm>
            <a:off x="4302093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实现专家协同、任务分流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和多业务域协同，按需调用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专业能力。</a:t>
            </a:r>
          </a:p>
        </p:txBody>
      </p:sp>
      <p:sp>
        <p:nvSpPr>
          <p:cNvPr id="62" name="body_text_9"/>
          <p:cNvSpPr txBox="1"/>
          <p:nvPr/>
        </p:nvSpPr>
        <p:spPr>
          <a:xfrm>
            <a:off x="5614596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63" name="body_text_10"/>
          <p:cNvSpPr txBox="1"/>
          <p:nvPr/>
        </p:nvSpPr>
        <p:spPr>
          <a:xfrm>
            <a:off x="5614596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机制，增强逻辑推理、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知识增强和工具调用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能力。</a:t>
            </a:r>
          </a:p>
        </p:txBody>
      </p:sp>
      <p:sp>
        <p:nvSpPr>
          <p:cNvPr id="64" name="body_text_11"/>
          <p:cNvSpPr txBox="1"/>
          <p:nvPr/>
        </p:nvSpPr>
        <p:spPr>
          <a:xfrm>
            <a:off x="6927099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65" name="body_text_12"/>
          <p:cNvSpPr txBox="1"/>
          <p:nvPr/>
        </p:nvSpPr>
        <p:spPr>
          <a:xfrm>
            <a:off x="6927099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工业图纸模型，具备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图纸解析、规则校核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和辅助设计能力。</a:t>
            </a:r>
          </a:p>
        </p:txBody>
      </p:sp>
      <p:sp>
        <p:nvSpPr>
          <p:cNvPr id="66" name="body_text_13"/>
          <p:cNvSpPr txBox="1"/>
          <p:nvPr/>
        </p:nvSpPr>
        <p:spPr>
          <a:xfrm>
            <a:off x="8239602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定位：推演认知化</a:t>
            </a:r>
          </a:p>
        </p:txBody>
      </p:sp>
      <p:sp>
        <p:nvSpPr>
          <p:cNvPr id="67" name="body_text_14"/>
          <p:cNvSpPr txBox="1"/>
          <p:nvPr/>
        </p:nvSpPr>
        <p:spPr>
          <a:xfrm>
            <a:off x="8239602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一设备一空间一推演”联合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推理能力，形成电力行业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结构化认知基座。</a:t>
            </a:r>
          </a:p>
        </p:txBody>
      </p:sp>
      <p:sp>
        <p:nvSpPr>
          <p:cNvPr id="68" name="body_text_15"/>
          <p:cNvSpPr txBox="1"/>
          <p:nvPr/>
        </p:nvSpPr>
        <p:spPr>
          <a:xfrm>
            <a:off x="9552105" y="1275398"/>
            <a:ext cx="1312503" cy="400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69" name="body_text_16"/>
          <p:cNvSpPr txBox="1"/>
          <p:nvPr/>
        </p:nvSpPr>
        <p:spPr>
          <a:xfrm>
            <a:off x="9552105" y="2295717"/>
            <a:ext cx="1312503" cy="7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实现物理仿真与智能推演，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从理解现场迈向推演现场、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辅助决策。</a:t>
            </a:r>
          </a:p>
        </p:txBody>
      </p:sp>
      <p:sp>
        <p:nvSpPr>
          <p:cNvPr id="70" name="body_text_17"/>
          <p:cNvSpPr txBox="1"/>
          <p:nvPr/>
        </p:nvSpPr>
        <p:spPr>
          <a:xfrm>
            <a:off x="5177095" y="3133836"/>
            <a:ext cx="947918" cy="18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71" name="body_text_18"/>
          <p:cNvSpPr txBox="1"/>
          <p:nvPr/>
        </p:nvSpPr>
        <p:spPr>
          <a:xfrm>
            <a:off x="4375010" y="3352476"/>
            <a:ext cx="2552089" cy="255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6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72" name="body_text_19"/>
          <p:cNvSpPr txBox="1"/>
          <p:nvPr/>
        </p:nvSpPr>
        <p:spPr>
          <a:xfrm>
            <a:off x="3098965" y="3607555"/>
            <a:ext cx="1093752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业务驱动·场景普适</a:t>
            </a:r>
          </a:p>
        </p:txBody>
      </p:sp>
      <p:sp>
        <p:nvSpPr>
          <p:cNvPr id="73" name="body_text_20"/>
          <p:cNvSpPr txBox="1"/>
          <p:nvPr/>
        </p:nvSpPr>
        <p:spPr>
          <a:xfrm>
            <a:off x="4776052" y="3643995"/>
            <a:ext cx="1093752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74" name="body_text_21"/>
          <p:cNvSpPr txBox="1"/>
          <p:nvPr/>
        </p:nvSpPr>
        <p:spPr>
          <a:xfrm>
            <a:off x="6817724" y="3607555"/>
            <a:ext cx="1093752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75" name="body_text_22"/>
          <p:cNvSpPr txBox="1"/>
          <p:nvPr/>
        </p:nvSpPr>
        <p:spPr>
          <a:xfrm>
            <a:off x="4666677" y="4227035"/>
            <a:ext cx="1750004" cy="182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全域能源数据融合与知识沉淀</a:t>
            </a:r>
          </a:p>
        </p:txBody>
      </p:sp>
      <p:sp>
        <p:nvSpPr>
          <p:cNvPr id="76" name="body_text_23"/>
          <p:cNvSpPr txBox="1"/>
          <p:nvPr/>
        </p:nvSpPr>
        <p:spPr>
          <a:xfrm>
            <a:off x="3208340" y="4482114"/>
            <a:ext cx="583334" cy="14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77" name="body_text_24"/>
          <p:cNvSpPr txBox="1"/>
          <p:nvPr/>
        </p:nvSpPr>
        <p:spPr>
          <a:xfrm>
            <a:off x="4083342" y="4482114"/>
            <a:ext cx="583334" cy="14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78" name="body_text_25"/>
          <p:cNvSpPr txBox="1"/>
          <p:nvPr/>
        </p:nvSpPr>
        <p:spPr>
          <a:xfrm>
            <a:off x="5104178" y="4482114"/>
            <a:ext cx="583334" cy="14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79" name="body_text_26"/>
          <p:cNvSpPr txBox="1"/>
          <p:nvPr/>
        </p:nvSpPr>
        <p:spPr>
          <a:xfrm>
            <a:off x="6125014" y="4482114"/>
            <a:ext cx="583334" cy="14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80" name="body_text_27"/>
          <p:cNvSpPr txBox="1"/>
          <p:nvPr/>
        </p:nvSpPr>
        <p:spPr>
          <a:xfrm>
            <a:off x="7145850" y="4482114"/>
            <a:ext cx="583334" cy="14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81" name="body_text_28"/>
          <p:cNvSpPr txBox="1"/>
          <p:nvPr/>
        </p:nvSpPr>
        <p:spPr>
          <a:xfrm>
            <a:off x="255208" y="3316036"/>
            <a:ext cx="1239586" cy="473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82" name="body_text_29"/>
          <p:cNvSpPr txBox="1"/>
          <p:nvPr/>
        </p:nvSpPr>
        <p:spPr>
          <a:xfrm>
            <a:off x="255208" y="3935515"/>
            <a:ext cx="1239586" cy="473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83" name="body_text_30"/>
          <p:cNvSpPr txBox="1"/>
          <p:nvPr/>
        </p:nvSpPr>
        <p:spPr>
          <a:xfrm>
            <a:off x="9406272" y="3316036"/>
            <a:ext cx="1239586" cy="473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84" name="body_text_31"/>
          <p:cNvSpPr txBox="1"/>
          <p:nvPr/>
        </p:nvSpPr>
        <p:spPr>
          <a:xfrm>
            <a:off x="9406272" y="3935515"/>
            <a:ext cx="1239586" cy="473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85" name="body_text_32"/>
          <p:cNvSpPr txBox="1"/>
          <p:nvPr/>
        </p:nvSpPr>
        <p:spPr>
          <a:xfrm>
            <a:off x="218750" y="4773634"/>
            <a:ext cx="583334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6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86" name="body_text_33"/>
          <p:cNvSpPr txBox="1"/>
          <p:nvPr/>
        </p:nvSpPr>
        <p:spPr>
          <a:xfrm>
            <a:off x="875002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7" name="body_text_34"/>
          <p:cNvSpPr txBox="1"/>
          <p:nvPr/>
        </p:nvSpPr>
        <p:spPr>
          <a:xfrm>
            <a:off x="2041671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88" name="body_text_35"/>
          <p:cNvSpPr txBox="1"/>
          <p:nvPr/>
        </p:nvSpPr>
        <p:spPr>
          <a:xfrm>
            <a:off x="3208340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89" name="body_text_36"/>
          <p:cNvSpPr txBox="1"/>
          <p:nvPr/>
        </p:nvSpPr>
        <p:spPr>
          <a:xfrm>
            <a:off x="4375010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90" name="body_text_37"/>
          <p:cNvSpPr txBox="1"/>
          <p:nvPr/>
        </p:nvSpPr>
        <p:spPr>
          <a:xfrm>
            <a:off x="5541679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91" name="body_text_38"/>
          <p:cNvSpPr txBox="1"/>
          <p:nvPr/>
        </p:nvSpPr>
        <p:spPr>
          <a:xfrm>
            <a:off x="6708349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92" name="body_text_39"/>
          <p:cNvSpPr txBox="1"/>
          <p:nvPr/>
        </p:nvSpPr>
        <p:spPr>
          <a:xfrm>
            <a:off x="7875018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推演认知化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推演电网结构</a:t>
            </a:r>
          </a:p>
        </p:txBody>
      </p:sp>
      <p:sp>
        <p:nvSpPr>
          <p:cNvPr id="93" name="body_text_40"/>
          <p:cNvSpPr txBox="1"/>
          <p:nvPr/>
        </p:nvSpPr>
        <p:spPr>
          <a:xfrm>
            <a:off x="9041687" y="5465993"/>
            <a:ext cx="729168" cy="327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