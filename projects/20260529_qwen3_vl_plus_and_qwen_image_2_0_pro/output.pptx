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_1"/>
          <p:cNvSpPr/>
          <p:nvPr/>
        </p:nvSpPr>
        <p:spPr>
          <a:xfrm>
            <a:off x="126996" y="1320800"/>
            <a:ext cx="787380" cy="1981199"/>
          </a:xfrm>
          <a:prstGeom prst="rect">
            <a:avLst/>
          </a:prstGeom>
          <a:noFill/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_2"/>
          <p:cNvSpPr/>
          <p:nvPr/>
        </p:nvSpPr>
        <p:spPr>
          <a:xfrm>
            <a:off x="927076" y="1320800"/>
            <a:ext cx="787380" cy="1981199"/>
          </a:xfrm>
          <a:prstGeom prst="rect">
            <a:avLst/>
          </a:prstGeom>
          <a:noFill/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_3"/>
          <p:cNvSpPr/>
          <p:nvPr/>
        </p:nvSpPr>
        <p:spPr>
          <a:xfrm>
            <a:off x="1727156" y="1320800"/>
            <a:ext cx="787380" cy="1981199"/>
          </a:xfrm>
          <a:prstGeom prst="rect">
            <a:avLst/>
          </a:prstGeom>
          <a:noFill/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_4"/>
          <p:cNvSpPr/>
          <p:nvPr/>
        </p:nvSpPr>
        <p:spPr>
          <a:xfrm>
            <a:off x="2527236" y="1320800"/>
            <a:ext cx="787380" cy="1981199"/>
          </a:xfrm>
          <a:prstGeom prst="rect">
            <a:avLst/>
          </a:prstGeom>
          <a:noFill/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_5"/>
          <p:cNvSpPr/>
          <p:nvPr/>
        </p:nvSpPr>
        <p:spPr>
          <a:xfrm>
            <a:off x="3327316" y="1320800"/>
            <a:ext cx="787380" cy="1981199"/>
          </a:xfrm>
          <a:prstGeom prst="rect">
            <a:avLst/>
          </a:prstGeom>
          <a:noFill/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_6"/>
          <p:cNvSpPr/>
          <p:nvPr/>
        </p:nvSpPr>
        <p:spPr>
          <a:xfrm>
            <a:off x="4127396" y="1320800"/>
            <a:ext cx="787380" cy="1981199"/>
          </a:xfrm>
          <a:prstGeom prst="rect">
            <a:avLst/>
          </a:prstGeom>
          <a:noFill/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_7"/>
          <p:cNvSpPr/>
          <p:nvPr/>
        </p:nvSpPr>
        <p:spPr>
          <a:xfrm>
            <a:off x="4927476" y="1320800"/>
            <a:ext cx="787380" cy="1981199"/>
          </a:xfrm>
          <a:prstGeom prst="rect">
            <a:avLst/>
          </a:prstGeom>
          <a:noFill/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_8"/>
          <p:cNvSpPr/>
          <p:nvPr/>
        </p:nvSpPr>
        <p:spPr>
          <a:xfrm>
            <a:off x="5727556" y="1320800"/>
            <a:ext cx="787380" cy="1981199"/>
          </a:xfrm>
          <a:prstGeom prst="rect">
            <a:avLst/>
          </a:prstGeom>
          <a:noFill/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_rect_1"/>
          <p:cNvSpPr/>
          <p:nvPr/>
        </p:nvSpPr>
        <p:spPr>
          <a:xfrm>
            <a:off x="1777955" y="3746500"/>
            <a:ext cx="888977" cy="380999"/>
          </a:xfrm>
          <a:prstGeom prst="roundRect">
            <a:avLst/>
          </a:prstGeom>
          <a:solidFill>
            <a:srgbClr val="002B5B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_rect_2"/>
          <p:cNvSpPr/>
          <p:nvPr/>
        </p:nvSpPr>
        <p:spPr>
          <a:xfrm>
            <a:off x="2730431" y="3746500"/>
            <a:ext cx="888977" cy="380999"/>
          </a:xfrm>
          <a:prstGeom prst="roundRect">
            <a:avLst/>
          </a:prstGeom>
          <a:solidFill>
            <a:srgbClr val="002B5B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_rect_3"/>
          <p:cNvSpPr/>
          <p:nvPr/>
        </p:nvSpPr>
        <p:spPr>
          <a:xfrm>
            <a:off x="3809904" y="3746500"/>
            <a:ext cx="888977" cy="380999"/>
          </a:xfrm>
          <a:prstGeom prst="roundRect">
            <a:avLst/>
          </a:prstGeom>
          <a:solidFill>
            <a:srgbClr val="002B5B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llipse_center"/>
          <p:cNvSpPr/>
          <p:nvPr/>
        </p:nvSpPr>
        <p:spPr>
          <a:xfrm>
            <a:off x="1142971" y="3429000"/>
            <a:ext cx="4825879" cy="1143000"/>
          </a:xfrm>
          <a:prstGeom prst="ellipse">
            <a:avLst/>
          </a:prstGeom>
          <a:noFill/>
          <a:ln w="1904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line_1"/>
          <p:cNvCxnSpPr/>
          <p:nvPr/>
        </p:nvCxnSpPr>
        <p:spPr>
          <a:xfrm>
            <a:off x="634984" y="2540000"/>
            <a:ext cx="507987" cy="0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ne_2"/>
          <p:cNvCxnSpPr/>
          <p:nvPr/>
        </p:nvCxnSpPr>
        <p:spPr>
          <a:xfrm>
            <a:off x="1435064" y="2540000"/>
            <a:ext cx="507987" cy="0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_3"/>
          <p:cNvCxnSpPr/>
          <p:nvPr/>
        </p:nvCxnSpPr>
        <p:spPr>
          <a:xfrm>
            <a:off x="2235144" y="2540000"/>
            <a:ext cx="507987" cy="0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ne_4"/>
          <p:cNvCxnSpPr/>
          <p:nvPr/>
        </p:nvCxnSpPr>
        <p:spPr>
          <a:xfrm>
            <a:off x="3035224" y="2540000"/>
            <a:ext cx="507987" cy="0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ine_5"/>
          <p:cNvCxnSpPr/>
          <p:nvPr/>
        </p:nvCxnSpPr>
        <p:spPr>
          <a:xfrm>
            <a:off x="3835304" y="2540000"/>
            <a:ext cx="507987" cy="0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ne_6"/>
          <p:cNvCxnSpPr/>
          <p:nvPr/>
        </p:nvCxnSpPr>
        <p:spPr>
          <a:xfrm>
            <a:off x="4635384" y="2540000"/>
            <a:ext cx="507987" cy="0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tle_main"/>
          <p:cNvSpPr txBox="1"/>
          <p:nvPr/>
        </p:nvSpPr>
        <p:spPr>
          <a:xfrm>
            <a:off x="1746206" y="152400"/>
            <a:ext cx="4432189" cy="4952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"大瓦特" 演进路线图</a:t>
            </a:r>
          </a:p>
        </p:txBody>
      </p:sp>
      <p:sp>
        <p:nvSpPr>
          <p:cNvPr id="22" name="subtitle_1"/>
          <p:cNvSpPr txBox="1"/>
          <p:nvPr/>
        </p:nvSpPr>
        <p:spPr>
          <a:xfrm>
            <a:off x="2698682" y="685800"/>
            <a:ext cx="939776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路标与核心亮点</a:t>
            </a:r>
          </a:p>
        </p:txBody>
      </p:sp>
      <p:sp>
        <p:nvSpPr>
          <p:cNvPr id="23" name="subtitle_2"/>
          <p:cNvSpPr txBox="1"/>
          <p:nvPr/>
        </p:nvSpPr>
        <p:spPr>
          <a:xfrm>
            <a:off x="2603434" y="939799"/>
            <a:ext cx="113027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从多模态服务化迈向电力世界模型</a:t>
            </a:r>
          </a:p>
        </p:txBody>
      </p:sp>
      <p:sp>
        <p:nvSpPr>
          <p:cNvPr id="24" name="section_header_1"/>
          <p:cNvSpPr txBox="1"/>
          <p:nvPr/>
        </p:nvSpPr>
        <p:spPr>
          <a:xfrm>
            <a:off x="2933626" y="3289299"/>
            <a:ext cx="469888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25" name="section_header_2"/>
          <p:cNvSpPr txBox="1"/>
          <p:nvPr/>
        </p:nvSpPr>
        <p:spPr>
          <a:xfrm>
            <a:off x="2571685" y="3505199"/>
            <a:ext cx="119377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26" name="section_header_3"/>
          <p:cNvSpPr txBox="1"/>
          <p:nvPr/>
        </p:nvSpPr>
        <p:spPr>
          <a:xfrm>
            <a:off x="2603434" y="4394200"/>
            <a:ext cx="1130271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全域数据融合与知识沉淀</a:t>
            </a:r>
          </a:p>
        </p:txBody>
      </p:sp>
      <p:sp>
        <p:nvSpPr>
          <p:cNvPr id="27" name="timeline_label"/>
          <p:cNvSpPr txBox="1"/>
          <p:nvPr/>
        </p:nvSpPr>
        <p:spPr>
          <a:xfrm>
            <a:off x="139696" y="5054600"/>
            <a:ext cx="546086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99" b="1" i="0">
                <a:solidFill>
                  <a:srgbClr val="FFA5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28" name="step_1_title"/>
          <p:cNvSpPr txBox="1"/>
          <p:nvPr/>
        </p:nvSpPr>
        <p:spPr>
          <a:xfrm>
            <a:off x="203194" y="1409699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大瓦特 1.0</a:t>
            </a:r>
          </a:p>
        </p:txBody>
      </p:sp>
      <p:sp>
        <p:nvSpPr>
          <p:cNvPr id="29" name="step_1_desc"/>
          <p:cNvSpPr txBox="1"/>
          <p:nvPr/>
        </p:nvSpPr>
        <p:spPr>
          <a:xfrm>
            <a:off x="203194" y="1638299"/>
            <a:ext cx="6857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30" name="step_1_detail"/>
          <p:cNvSpPr txBox="1"/>
          <p:nvPr/>
        </p:nvSpPr>
        <p:spPr>
          <a:xfrm>
            <a:off x="203194" y="2667000"/>
            <a:ext cx="68578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E0F7FA"/>
                </a:solidFill>
                <a:latin typeface="Microsoft YaHei"/>
                <a:ea typeface="Microsoft YaHei"/>
                <a:cs typeface="Microsoft YaHei"/>
              </a:rPr>
              <a:t>建成南网首个，电力多模态能力入口，成功适配国产算力，实现全自主安全可控。</a:t>
            </a:r>
          </a:p>
        </p:txBody>
      </p:sp>
      <p:sp>
        <p:nvSpPr>
          <p:cNvPr id="31" name="step_2_title"/>
          <p:cNvSpPr txBox="1"/>
          <p:nvPr/>
        </p:nvSpPr>
        <p:spPr>
          <a:xfrm>
            <a:off x="1003274" y="1409699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大瓦特 1.1</a:t>
            </a:r>
          </a:p>
        </p:txBody>
      </p:sp>
      <p:sp>
        <p:nvSpPr>
          <p:cNvPr id="32" name="step_2_desc"/>
          <p:cNvSpPr txBox="1"/>
          <p:nvPr/>
        </p:nvSpPr>
        <p:spPr>
          <a:xfrm>
            <a:off x="1003274" y="1638299"/>
            <a:ext cx="6857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33" name="step_2_detail"/>
          <p:cNvSpPr txBox="1"/>
          <p:nvPr/>
        </p:nvSpPr>
        <p:spPr>
          <a:xfrm>
            <a:off x="1003274" y="2667000"/>
            <a:ext cx="685782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E0F7FA"/>
                </a:solidFill>
                <a:latin typeface="Microsoft YaHei"/>
                <a:ea typeface="Microsoft YaHei"/>
                <a:cs typeface="Microsoft YaHei"/>
              </a:rPr>
              <a:t>底座全面迭代升级，正式备千亿级参数规模模型能力。</a:t>
            </a:r>
          </a:p>
        </p:txBody>
      </p:sp>
      <p:sp>
        <p:nvSpPr>
          <p:cNvPr id="34" name="step_3_title"/>
          <p:cNvSpPr txBox="1"/>
          <p:nvPr/>
        </p:nvSpPr>
        <p:spPr>
          <a:xfrm>
            <a:off x="1803354" y="1409699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大瓦特 2.0</a:t>
            </a:r>
          </a:p>
        </p:txBody>
      </p:sp>
      <p:sp>
        <p:nvSpPr>
          <p:cNvPr id="35" name="step_3_desc"/>
          <p:cNvSpPr txBox="1"/>
          <p:nvPr/>
        </p:nvSpPr>
        <p:spPr>
          <a:xfrm>
            <a:off x="1803354" y="1638299"/>
            <a:ext cx="6857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36" name="step_3_detail"/>
          <p:cNvSpPr txBox="1"/>
          <p:nvPr/>
        </p:nvSpPr>
        <p:spPr>
          <a:xfrm>
            <a:off x="1803354" y="2667000"/>
            <a:ext cx="68578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E0F7FA"/>
                </a:solidFill>
                <a:latin typeface="Microsoft YaHei"/>
                <a:ea typeface="Microsoft YaHei"/>
                <a:cs typeface="Microsoft YaHei"/>
              </a:rPr>
              <a:t>完成72B行业微调模型全面升级，强化电力专业能力，高效流转典型业务场景。</a:t>
            </a:r>
          </a:p>
        </p:txBody>
      </p:sp>
      <p:sp>
        <p:nvSpPr>
          <p:cNvPr id="37" name="step_4_title"/>
          <p:cNvSpPr txBox="1"/>
          <p:nvPr/>
        </p:nvSpPr>
        <p:spPr>
          <a:xfrm>
            <a:off x="2603434" y="1409699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大瓦特 2.1</a:t>
            </a:r>
          </a:p>
        </p:txBody>
      </p:sp>
      <p:sp>
        <p:nvSpPr>
          <p:cNvPr id="38" name="step_4_desc"/>
          <p:cNvSpPr txBox="1"/>
          <p:nvPr/>
        </p:nvSpPr>
        <p:spPr>
          <a:xfrm>
            <a:off x="2603434" y="1638299"/>
            <a:ext cx="6857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39" name="step_4_detail"/>
          <p:cNvSpPr txBox="1"/>
          <p:nvPr/>
        </p:nvSpPr>
        <p:spPr>
          <a:xfrm>
            <a:off x="2603434" y="2667000"/>
            <a:ext cx="68578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E0F7FA"/>
                </a:solidFill>
                <a:latin typeface="Microsoft YaHei"/>
                <a:ea typeface="Microsoft YaHei"/>
                <a:cs typeface="Microsoft YaHei"/>
              </a:rPr>
              <a:t>上线 MoE 架构微调模型，实现专家协同、任务分流和多业务域协同，按需调度用专业能力。</a:t>
            </a:r>
          </a:p>
        </p:txBody>
      </p:sp>
      <p:sp>
        <p:nvSpPr>
          <p:cNvPr id="40" name="step_5_title"/>
          <p:cNvSpPr txBox="1"/>
          <p:nvPr/>
        </p:nvSpPr>
        <p:spPr>
          <a:xfrm>
            <a:off x="3403514" y="1409699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大瓦特 2.2</a:t>
            </a:r>
          </a:p>
        </p:txBody>
      </p:sp>
      <p:sp>
        <p:nvSpPr>
          <p:cNvPr id="41" name="step_5_desc"/>
          <p:cNvSpPr txBox="1"/>
          <p:nvPr/>
        </p:nvSpPr>
        <p:spPr>
          <a:xfrm>
            <a:off x="3403514" y="1638299"/>
            <a:ext cx="6857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42" name="step_5_detail"/>
          <p:cNvSpPr txBox="1"/>
          <p:nvPr/>
        </p:nvSpPr>
        <p:spPr>
          <a:xfrm>
            <a:off x="3403514" y="2667000"/>
            <a:ext cx="68578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E0F7FA"/>
                </a:solidFill>
                <a:latin typeface="Microsoft YaHei"/>
                <a:ea typeface="Microsoft YaHei"/>
                <a:cs typeface="Microsoft YaHei"/>
              </a:rPr>
              <a:t>引入强化学习与慢思考机制，增强逻辑推理、知识增强和工具调用能力。</a:t>
            </a:r>
          </a:p>
        </p:txBody>
      </p:sp>
      <p:sp>
        <p:nvSpPr>
          <p:cNvPr id="43" name="step_6_title"/>
          <p:cNvSpPr txBox="1"/>
          <p:nvPr/>
        </p:nvSpPr>
        <p:spPr>
          <a:xfrm>
            <a:off x="4203594" y="1409699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大瓦特 3.0</a:t>
            </a:r>
          </a:p>
        </p:txBody>
      </p:sp>
      <p:sp>
        <p:nvSpPr>
          <p:cNvPr id="44" name="step_6_desc"/>
          <p:cNvSpPr txBox="1"/>
          <p:nvPr/>
        </p:nvSpPr>
        <p:spPr>
          <a:xfrm>
            <a:off x="4203594" y="1638299"/>
            <a:ext cx="6857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45" name="step_6_detail"/>
          <p:cNvSpPr txBox="1"/>
          <p:nvPr/>
        </p:nvSpPr>
        <p:spPr>
          <a:xfrm>
            <a:off x="4203594" y="2667000"/>
            <a:ext cx="68578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E0F7FA"/>
                </a:solidFill>
                <a:latin typeface="Microsoft YaHei"/>
                <a:ea typeface="Microsoft YaHei"/>
                <a:cs typeface="Microsoft YaHei"/>
              </a:rPr>
              <a:t>行业首发电力多模态工业图纸模型，具备图纸解析、规则校核和辅助设计能力。</a:t>
            </a:r>
          </a:p>
        </p:txBody>
      </p:sp>
      <p:sp>
        <p:nvSpPr>
          <p:cNvPr id="46" name="step_7_title"/>
          <p:cNvSpPr txBox="1"/>
          <p:nvPr/>
        </p:nvSpPr>
        <p:spPr>
          <a:xfrm>
            <a:off x="5003674" y="1409699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大瓦特 3.1</a:t>
            </a:r>
          </a:p>
        </p:txBody>
      </p:sp>
      <p:sp>
        <p:nvSpPr>
          <p:cNvPr id="47" name="step_7_desc"/>
          <p:cNvSpPr txBox="1"/>
          <p:nvPr/>
        </p:nvSpPr>
        <p:spPr>
          <a:xfrm>
            <a:off x="5003674" y="1638299"/>
            <a:ext cx="6857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定位：拓扑认知化</a:t>
            </a:r>
          </a:p>
        </p:txBody>
      </p:sp>
      <p:sp>
        <p:nvSpPr>
          <p:cNvPr id="48" name="step_7_detail"/>
          <p:cNvSpPr txBox="1"/>
          <p:nvPr/>
        </p:nvSpPr>
        <p:spPr>
          <a:xfrm>
            <a:off x="5003674" y="2667000"/>
            <a:ext cx="68578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E0F7FA"/>
                </a:solidFill>
                <a:latin typeface="Microsoft YaHei"/>
                <a:ea typeface="Microsoft YaHei"/>
                <a:cs typeface="Microsoft YaHei"/>
              </a:rPr>
              <a:t>融合多源数据，构建“图像—设备—空间—拓扑”联合推理能力，形成电力行业结构化认知壁垒。</a:t>
            </a:r>
          </a:p>
        </p:txBody>
      </p:sp>
      <p:sp>
        <p:nvSpPr>
          <p:cNvPr id="49" name="step_8_title"/>
          <p:cNvSpPr txBox="1"/>
          <p:nvPr/>
        </p:nvSpPr>
        <p:spPr>
          <a:xfrm>
            <a:off x="5803754" y="1409699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大瓦特 4.0</a:t>
            </a:r>
          </a:p>
        </p:txBody>
      </p:sp>
      <p:sp>
        <p:nvSpPr>
          <p:cNvPr id="50" name="step_8_desc"/>
          <p:cNvSpPr txBox="1"/>
          <p:nvPr/>
        </p:nvSpPr>
        <p:spPr>
          <a:xfrm>
            <a:off x="5803754" y="1638299"/>
            <a:ext cx="6857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51" name="step_8_detail"/>
          <p:cNvSpPr txBox="1"/>
          <p:nvPr/>
        </p:nvSpPr>
        <p:spPr>
          <a:xfrm>
            <a:off x="5803754" y="2667000"/>
            <a:ext cx="685782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E0F7FA"/>
                </a:solidFill>
                <a:latin typeface="Microsoft YaHei"/>
                <a:ea typeface="Microsoft YaHei"/>
                <a:cs typeface="Microsoft YaHei"/>
              </a:rPr>
              <a:t>发布电力多模态世界模型，实现物理仿真与智能推演，从理解现场迈向推演现场、辅助决策。</a:t>
            </a:r>
          </a:p>
        </p:txBody>
      </p:sp>
      <p:sp>
        <p:nvSpPr>
          <p:cNvPr id="52" name="ecosystem_1_title"/>
          <p:cNvSpPr txBox="1"/>
          <p:nvPr/>
        </p:nvSpPr>
        <p:spPr>
          <a:xfrm>
            <a:off x="393690" y="3606800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</p:txBody>
      </p:sp>
      <p:sp>
        <p:nvSpPr>
          <p:cNvPr id="53" name="ecosystem_1_desc"/>
          <p:cNvSpPr txBox="1"/>
          <p:nvPr/>
        </p:nvSpPr>
        <p:spPr>
          <a:xfrm>
            <a:off x="393690" y="3797300"/>
            <a:ext cx="685782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54" name="ecosystem_2_title"/>
          <p:cNvSpPr txBox="1"/>
          <p:nvPr/>
        </p:nvSpPr>
        <p:spPr>
          <a:xfrm>
            <a:off x="393690" y="4241800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</p:txBody>
      </p:sp>
      <p:sp>
        <p:nvSpPr>
          <p:cNvPr id="55" name="ecosystem_2_desc"/>
          <p:cNvSpPr txBox="1"/>
          <p:nvPr/>
        </p:nvSpPr>
        <p:spPr>
          <a:xfrm>
            <a:off x="393690" y="4432300"/>
            <a:ext cx="685782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56" name="ecosystem_3_title"/>
          <p:cNvSpPr txBox="1"/>
          <p:nvPr/>
        </p:nvSpPr>
        <p:spPr>
          <a:xfrm>
            <a:off x="5600559" y="3606800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</p:txBody>
      </p:sp>
      <p:sp>
        <p:nvSpPr>
          <p:cNvPr id="57" name="ecosystem_3_desc"/>
          <p:cNvSpPr txBox="1"/>
          <p:nvPr/>
        </p:nvSpPr>
        <p:spPr>
          <a:xfrm>
            <a:off x="5600559" y="3797300"/>
            <a:ext cx="685782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58" name="ecosystem_4_title"/>
          <p:cNvSpPr txBox="1"/>
          <p:nvPr/>
        </p:nvSpPr>
        <p:spPr>
          <a:xfrm>
            <a:off x="5600559" y="4241800"/>
            <a:ext cx="444488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00B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</p:txBody>
      </p:sp>
      <p:sp>
        <p:nvSpPr>
          <p:cNvPr id="59" name="ecosystem_4_desc"/>
          <p:cNvSpPr txBox="1"/>
          <p:nvPr/>
        </p:nvSpPr>
        <p:spPr>
          <a:xfrm>
            <a:off x="5600559" y="4432300"/>
            <a:ext cx="685782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60" name="platform_1"/>
          <p:cNvSpPr txBox="1"/>
          <p:nvPr/>
        </p:nvSpPr>
        <p:spPr>
          <a:xfrm>
            <a:off x="1904952" y="3797300"/>
            <a:ext cx="634984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</p:txBody>
      </p:sp>
      <p:sp>
        <p:nvSpPr>
          <p:cNvPr id="61" name="platform_1_sub"/>
          <p:cNvSpPr txBox="1"/>
          <p:nvPr/>
        </p:nvSpPr>
        <p:spPr>
          <a:xfrm>
            <a:off x="1904952" y="39877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业务驱动·场景普惠</a:t>
            </a:r>
          </a:p>
        </p:txBody>
      </p:sp>
      <p:sp>
        <p:nvSpPr>
          <p:cNvPr id="62" name="platform_2"/>
          <p:cNvSpPr txBox="1"/>
          <p:nvPr/>
        </p:nvSpPr>
        <p:spPr>
          <a:xfrm>
            <a:off x="2857428" y="3797300"/>
            <a:ext cx="634984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</p:txBody>
      </p:sp>
      <p:sp>
        <p:nvSpPr>
          <p:cNvPr id="63" name="platform_2_sub"/>
          <p:cNvSpPr txBox="1"/>
          <p:nvPr/>
        </p:nvSpPr>
        <p:spPr>
          <a:xfrm>
            <a:off x="2857428" y="39877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64" name="platform_3"/>
          <p:cNvSpPr txBox="1"/>
          <p:nvPr/>
        </p:nvSpPr>
        <p:spPr>
          <a:xfrm>
            <a:off x="3936901" y="3797300"/>
            <a:ext cx="634984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</p:txBody>
      </p:sp>
      <p:sp>
        <p:nvSpPr>
          <p:cNvPr id="65" name="platform_3_sub"/>
          <p:cNvSpPr txBox="1"/>
          <p:nvPr/>
        </p:nvSpPr>
        <p:spPr>
          <a:xfrm>
            <a:off x="3936901" y="398779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66" name="path_1"/>
          <p:cNvSpPr txBox="1"/>
          <p:nvPr/>
        </p:nvSpPr>
        <p:spPr>
          <a:xfrm>
            <a:off x="520686" y="5918199"/>
            <a:ext cx="571485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</p:txBody>
      </p:sp>
      <p:sp>
        <p:nvSpPr>
          <p:cNvPr id="67" name="path_1_sub"/>
          <p:cNvSpPr txBox="1"/>
          <p:nvPr/>
        </p:nvSpPr>
        <p:spPr>
          <a:xfrm>
            <a:off x="520686" y="6108700"/>
            <a:ext cx="57148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68" name="path_2"/>
          <p:cNvSpPr txBox="1"/>
          <p:nvPr/>
        </p:nvSpPr>
        <p:spPr>
          <a:xfrm>
            <a:off x="1346166" y="5918199"/>
            <a:ext cx="571485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</p:txBody>
      </p:sp>
      <p:sp>
        <p:nvSpPr>
          <p:cNvPr id="69" name="path_2_sub"/>
          <p:cNvSpPr txBox="1"/>
          <p:nvPr/>
        </p:nvSpPr>
        <p:spPr>
          <a:xfrm>
            <a:off x="1346166" y="6108700"/>
            <a:ext cx="57148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70" name="path_3"/>
          <p:cNvSpPr txBox="1"/>
          <p:nvPr/>
        </p:nvSpPr>
        <p:spPr>
          <a:xfrm>
            <a:off x="2171645" y="5918199"/>
            <a:ext cx="571485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</p:txBody>
      </p:sp>
      <p:sp>
        <p:nvSpPr>
          <p:cNvPr id="71" name="path_3_sub"/>
          <p:cNvSpPr txBox="1"/>
          <p:nvPr/>
        </p:nvSpPr>
        <p:spPr>
          <a:xfrm>
            <a:off x="2171645" y="6108700"/>
            <a:ext cx="57148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72" name="path_4"/>
          <p:cNvSpPr txBox="1"/>
          <p:nvPr/>
        </p:nvSpPr>
        <p:spPr>
          <a:xfrm>
            <a:off x="2997125" y="5918199"/>
            <a:ext cx="571485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</p:txBody>
      </p:sp>
      <p:sp>
        <p:nvSpPr>
          <p:cNvPr id="73" name="path_4_sub"/>
          <p:cNvSpPr txBox="1"/>
          <p:nvPr/>
        </p:nvSpPr>
        <p:spPr>
          <a:xfrm>
            <a:off x="2997125" y="6108700"/>
            <a:ext cx="57148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74" name="path_5"/>
          <p:cNvSpPr txBox="1"/>
          <p:nvPr/>
        </p:nvSpPr>
        <p:spPr>
          <a:xfrm>
            <a:off x="3822604" y="5918199"/>
            <a:ext cx="571485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</p:txBody>
      </p:sp>
      <p:sp>
        <p:nvSpPr>
          <p:cNvPr id="75" name="path_5_sub"/>
          <p:cNvSpPr txBox="1"/>
          <p:nvPr/>
        </p:nvSpPr>
        <p:spPr>
          <a:xfrm>
            <a:off x="3822604" y="6108700"/>
            <a:ext cx="57148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76" name="path_6"/>
          <p:cNvSpPr txBox="1"/>
          <p:nvPr/>
        </p:nvSpPr>
        <p:spPr>
          <a:xfrm>
            <a:off x="4648083" y="5918199"/>
            <a:ext cx="571485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</p:txBody>
      </p:sp>
      <p:sp>
        <p:nvSpPr>
          <p:cNvPr id="77" name="path_6_sub"/>
          <p:cNvSpPr txBox="1"/>
          <p:nvPr/>
        </p:nvSpPr>
        <p:spPr>
          <a:xfrm>
            <a:off x="4648083" y="6108700"/>
            <a:ext cx="57148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78" name="path_7"/>
          <p:cNvSpPr txBox="1"/>
          <p:nvPr/>
        </p:nvSpPr>
        <p:spPr>
          <a:xfrm>
            <a:off x="5473563" y="5918199"/>
            <a:ext cx="571485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拓扑认知化</a:t>
            </a:r>
          </a:p>
        </p:txBody>
      </p:sp>
      <p:sp>
        <p:nvSpPr>
          <p:cNvPr id="79" name="path_7_sub"/>
          <p:cNvSpPr txBox="1"/>
          <p:nvPr/>
        </p:nvSpPr>
        <p:spPr>
          <a:xfrm>
            <a:off x="5473563" y="6108700"/>
            <a:ext cx="57148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推演电网结构</a:t>
            </a:r>
          </a:p>
        </p:txBody>
      </p:sp>
      <p:sp>
        <p:nvSpPr>
          <p:cNvPr id="80" name="path_8"/>
          <p:cNvSpPr txBox="1"/>
          <p:nvPr/>
        </p:nvSpPr>
        <p:spPr>
          <a:xfrm>
            <a:off x="6299042" y="5918199"/>
            <a:ext cx="571485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</p:txBody>
      </p:sp>
      <p:sp>
        <p:nvSpPr>
          <p:cNvPr id="81" name="path_8_sub"/>
          <p:cNvSpPr txBox="1"/>
          <p:nvPr/>
        </p:nvSpPr>
        <p:spPr>
          <a:xfrm>
            <a:off x="6299042" y="6108700"/>
            <a:ext cx="57148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  <p:sp>
        <p:nvSpPr>
          <p:cNvPr id="82" name="domain_1"/>
          <p:cNvSpPr txBox="1"/>
          <p:nvPr/>
        </p:nvSpPr>
        <p:spPr>
          <a:xfrm>
            <a:off x="1904952" y="47497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83" name="domain_2"/>
          <p:cNvSpPr txBox="1"/>
          <p:nvPr/>
        </p:nvSpPr>
        <p:spPr>
          <a:xfrm>
            <a:off x="2412939" y="47497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84" name="domain_3"/>
          <p:cNvSpPr txBox="1"/>
          <p:nvPr/>
        </p:nvSpPr>
        <p:spPr>
          <a:xfrm>
            <a:off x="2920926" y="47497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85" name="domain_4"/>
          <p:cNvSpPr txBox="1"/>
          <p:nvPr/>
        </p:nvSpPr>
        <p:spPr>
          <a:xfrm>
            <a:off x="3428914" y="47497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86" name="domain_5"/>
          <p:cNvSpPr txBox="1"/>
          <p:nvPr/>
        </p:nvSpPr>
        <p:spPr>
          <a:xfrm>
            <a:off x="3936901" y="474979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A0D6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