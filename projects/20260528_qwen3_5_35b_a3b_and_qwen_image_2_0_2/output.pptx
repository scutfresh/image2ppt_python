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decorative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00"/>
            <a:ext cx="12191695" cy="1143000"/>
          </a:xfrm>
          <a:prstGeom prst="rect">
            <a:avLst/>
          </a:prstGeom>
        </p:spPr>
      </p:pic>
      <p:sp>
        <p:nvSpPr>
          <p:cNvPr id="4" name="Timeline Box 1"/>
          <p:cNvSpPr/>
          <p:nvPr/>
        </p:nvSpPr>
        <p:spPr>
          <a:xfrm>
            <a:off x="317492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line Box 2"/>
          <p:cNvSpPr/>
          <p:nvPr/>
        </p:nvSpPr>
        <p:spPr>
          <a:xfrm>
            <a:off x="1714457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 Box 3"/>
          <p:cNvSpPr/>
          <p:nvPr/>
        </p:nvSpPr>
        <p:spPr>
          <a:xfrm>
            <a:off x="3111422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 Box 4"/>
          <p:cNvSpPr/>
          <p:nvPr/>
        </p:nvSpPr>
        <p:spPr>
          <a:xfrm>
            <a:off x="4508387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Box 5"/>
          <p:cNvSpPr/>
          <p:nvPr/>
        </p:nvSpPr>
        <p:spPr>
          <a:xfrm>
            <a:off x="5905352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 Box 6"/>
          <p:cNvSpPr/>
          <p:nvPr/>
        </p:nvSpPr>
        <p:spPr>
          <a:xfrm>
            <a:off x="7302317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Box 7"/>
          <p:cNvSpPr/>
          <p:nvPr/>
        </p:nvSpPr>
        <p:spPr>
          <a:xfrm>
            <a:off x="8699282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 Box 8"/>
          <p:cNvSpPr/>
          <p:nvPr/>
        </p:nvSpPr>
        <p:spPr>
          <a:xfrm>
            <a:off x="10096247" y="1587499"/>
            <a:ext cx="1269968" cy="28575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cosystem Box 1"/>
          <p:cNvSpPr/>
          <p:nvPr/>
        </p:nvSpPr>
        <p:spPr>
          <a:xfrm>
            <a:off x="317492" y="3809999"/>
            <a:ext cx="1269968" cy="6350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cosystem Box 2"/>
          <p:cNvSpPr/>
          <p:nvPr/>
        </p:nvSpPr>
        <p:spPr>
          <a:xfrm>
            <a:off x="317492" y="4445000"/>
            <a:ext cx="1269968" cy="6350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cosystem Box 3"/>
          <p:cNvSpPr/>
          <p:nvPr/>
        </p:nvSpPr>
        <p:spPr>
          <a:xfrm>
            <a:off x="10604234" y="3809999"/>
            <a:ext cx="1269968" cy="6350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cosystem Box 4"/>
          <p:cNvSpPr/>
          <p:nvPr/>
        </p:nvSpPr>
        <p:spPr>
          <a:xfrm>
            <a:off x="10604234" y="4445000"/>
            <a:ext cx="1269968" cy="635000"/>
          </a:xfrm>
          <a:prstGeom prst="roundRect">
            <a:avLst/>
          </a:prstGeom>
          <a:solidFill>
            <a:srgbClr val="1A3A5C"/>
          </a:solidFill>
          <a:ln w="12699">
            <a:solidFill>
              <a:srgbClr val="4D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ain Title"/>
          <p:cNvSpPr txBox="1"/>
          <p:nvPr/>
        </p:nvSpPr>
        <p:spPr>
          <a:xfrm>
            <a:off x="2539936" y="254000"/>
            <a:ext cx="7111822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“大瓦特”演进路线图</a:t>
            </a:r>
          </a:p>
        </p:txBody>
      </p:sp>
      <p:sp>
        <p:nvSpPr>
          <p:cNvPr id="17" name="Subtitle 1"/>
          <p:cNvSpPr txBox="1"/>
          <p:nvPr/>
        </p:nvSpPr>
        <p:spPr>
          <a:xfrm>
            <a:off x="3809904" y="952499"/>
            <a:ext cx="4571885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18" name="Subtitle 2"/>
          <p:cNvSpPr txBox="1"/>
          <p:nvPr/>
        </p:nvSpPr>
        <p:spPr>
          <a:xfrm>
            <a:off x="4127396" y="1270000"/>
            <a:ext cx="3936901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19" name="Body Text 1"/>
          <p:cNvSpPr txBox="1"/>
          <p:nvPr/>
        </p:nvSpPr>
        <p:spPr>
          <a:xfrm>
            <a:off x="317492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亮点：建成南网首个，电力多模态能力入口，成功适配国产算力，实现全自主安全可控。</a:t>
            </a:r>
          </a:p>
        </p:txBody>
      </p:sp>
      <p:sp>
        <p:nvSpPr>
          <p:cNvPr id="20" name="Body Text 2"/>
          <p:cNvSpPr txBox="1"/>
          <p:nvPr/>
        </p:nvSpPr>
        <p:spPr>
          <a:xfrm>
            <a:off x="1714457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亮点：底座全面迭代升级，正式备千亿级参数规模模型能力。</a:t>
            </a:r>
          </a:p>
        </p:txBody>
      </p:sp>
      <p:sp>
        <p:nvSpPr>
          <p:cNvPr id="21" name="Body Text 3"/>
          <p:cNvSpPr txBox="1"/>
          <p:nvPr/>
        </p:nvSpPr>
        <p:spPr>
          <a:xfrm>
            <a:off x="3111422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亮点：完成72B行业微调模型全面升级，强化电力专业能力，高效流转典型业务场景。</a:t>
            </a:r>
          </a:p>
        </p:txBody>
      </p:sp>
      <p:sp>
        <p:nvSpPr>
          <p:cNvPr id="22" name="Body Text 4"/>
          <p:cNvSpPr txBox="1"/>
          <p:nvPr/>
        </p:nvSpPr>
        <p:spPr>
          <a:xfrm>
            <a:off x="4508387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亮点：上线 MoE 架构微调模型，实现专家协同、任务分流和多业务域协同，按需调用专业能力。</a:t>
            </a:r>
          </a:p>
        </p:txBody>
      </p:sp>
      <p:sp>
        <p:nvSpPr>
          <p:cNvPr id="23" name="Body Text 5"/>
          <p:cNvSpPr txBox="1"/>
          <p:nvPr/>
        </p:nvSpPr>
        <p:spPr>
          <a:xfrm>
            <a:off x="5905352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亮点：引入强化学习与慢思考机制，增强逻辑推理、知识增强和工具调用能力。</a:t>
            </a:r>
          </a:p>
        </p:txBody>
      </p:sp>
      <p:sp>
        <p:nvSpPr>
          <p:cNvPr id="24" name="Body Text 6"/>
          <p:cNvSpPr txBox="1"/>
          <p:nvPr/>
        </p:nvSpPr>
        <p:spPr>
          <a:xfrm>
            <a:off x="7302317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亮点：行业首发电力多模态工业图纸模型，具备图纸解析、规则校验和辅助设计能力。</a:t>
            </a:r>
          </a:p>
        </p:txBody>
      </p:sp>
      <p:sp>
        <p:nvSpPr>
          <p:cNvPr id="25" name="Body Text 7"/>
          <p:cNvSpPr txBox="1"/>
          <p:nvPr/>
        </p:nvSpPr>
        <p:spPr>
          <a:xfrm>
            <a:off x="8699282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亮点：融合多源数据，构建“图像—设备—空间—拓扑”联合推理能力，形成电力行业结构化认知壁垒。</a:t>
            </a:r>
          </a:p>
        </p:txBody>
      </p:sp>
      <p:sp>
        <p:nvSpPr>
          <p:cNvPr id="26" name="Body Text 8"/>
          <p:cNvSpPr txBox="1"/>
          <p:nvPr/>
        </p:nvSpPr>
        <p:spPr>
          <a:xfrm>
            <a:off x="10096247" y="1587499"/>
            <a:ext cx="1269968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亮点：发布电力多模态世界模型，实现物理仿真与智能推演、从理解现场迈向推演现场、辅助决策。</a:t>
            </a:r>
          </a:p>
        </p:txBody>
      </p:sp>
      <p:sp>
        <p:nvSpPr>
          <p:cNvPr id="27" name="Ecosystem Text 1"/>
          <p:cNvSpPr txBox="1"/>
          <p:nvPr/>
        </p:nvSpPr>
        <p:spPr>
          <a:xfrm>
            <a:off x="317492" y="3809999"/>
            <a:ext cx="1269968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28" name="Ecosystem Text 2"/>
          <p:cNvSpPr txBox="1"/>
          <p:nvPr/>
        </p:nvSpPr>
        <p:spPr>
          <a:xfrm>
            <a:off x="317492" y="4445000"/>
            <a:ext cx="1269968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29" name="Ecosystem Text 3"/>
          <p:cNvSpPr txBox="1"/>
          <p:nvPr/>
        </p:nvSpPr>
        <p:spPr>
          <a:xfrm>
            <a:off x="10604234" y="3809999"/>
            <a:ext cx="1269968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30" name="Ecosystem Text 4"/>
          <p:cNvSpPr txBox="1"/>
          <p:nvPr/>
        </p:nvSpPr>
        <p:spPr>
          <a:xfrm>
            <a:off x="10604234" y="4445000"/>
            <a:ext cx="1269968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