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61474"/>
          </a:xfrm>
          <a:prstGeom prst="rect">
            <a:avLst/>
          </a:prstGeom>
          <a:solidFill>
            <a:srgbClr val="05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ard 1 Container"/>
          <p:cNvSpPr/>
          <p:nvPr/>
        </p:nvSpPr>
        <p:spPr>
          <a:xfrm>
            <a:off x="218750" y="1604170"/>
            <a:ext cx="1312503" cy="2041671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2 Container"/>
          <p:cNvSpPr/>
          <p:nvPr/>
        </p:nvSpPr>
        <p:spPr>
          <a:xfrm>
            <a:off x="1531253" y="1604170"/>
            <a:ext cx="1312503" cy="2041671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3 Container"/>
          <p:cNvSpPr/>
          <p:nvPr/>
        </p:nvSpPr>
        <p:spPr>
          <a:xfrm>
            <a:off x="2843756" y="1604170"/>
            <a:ext cx="1312503" cy="2041671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4 Container"/>
          <p:cNvSpPr/>
          <p:nvPr/>
        </p:nvSpPr>
        <p:spPr>
          <a:xfrm>
            <a:off x="4156259" y="1604170"/>
            <a:ext cx="1312503" cy="2041671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5 Container"/>
          <p:cNvSpPr/>
          <p:nvPr/>
        </p:nvSpPr>
        <p:spPr>
          <a:xfrm>
            <a:off x="5468762" y="1604170"/>
            <a:ext cx="1312503" cy="2041671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6 Container"/>
          <p:cNvSpPr/>
          <p:nvPr/>
        </p:nvSpPr>
        <p:spPr>
          <a:xfrm>
            <a:off x="6781265" y="1604170"/>
            <a:ext cx="1312503" cy="2041671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 7 Container"/>
          <p:cNvSpPr/>
          <p:nvPr/>
        </p:nvSpPr>
        <p:spPr>
          <a:xfrm>
            <a:off x="8093768" y="1604170"/>
            <a:ext cx="1312503" cy="2041671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8 Container"/>
          <p:cNvSpPr/>
          <p:nvPr/>
        </p:nvSpPr>
        <p:spPr>
          <a:xfrm>
            <a:off x="9406272" y="1604170"/>
            <a:ext cx="1312503" cy="2041671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ft Box 1"/>
          <p:cNvSpPr/>
          <p:nvPr/>
        </p:nvSpPr>
        <p:spPr>
          <a:xfrm>
            <a:off x="218750" y="4010426"/>
            <a:ext cx="1312503" cy="437501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ft Box 2"/>
          <p:cNvSpPr/>
          <p:nvPr/>
        </p:nvSpPr>
        <p:spPr>
          <a:xfrm>
            <a:off x="218750" y="4593760"/>
            <a:ext cx="1312503" cy="437501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Box 1"/>
          <p:cNvSpPr/>
          <p:nvPr/>
        </p:nvSpPr>
        <p:spPr>
          <a:xfrm>
            <a:off x="10660441" y="4010426"/>
            <a:ext cx="1312503" cy="437501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Box 2"/>
          <p:cNvSpPr/>
          <p:nvPr/>
        </p:nvSpPr>
        <p:spPr>
          <a:xfrm>
            <a:off x="10660441" y="4593760"/>
            <a:ext cx="1312503" cy="437501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enter Top Oval"/>
          <p:cNvSpPr/>
          <p:nvPr/>
        </p:nvSpPr>
        <p:spPr>
          <a:xfrm>
            <a:off x="4958344" y="3427091"/>
            <a:ext cx="2275005" cy="364584"/>
          </a:xfrm>
          <a:prstGeom prst="ellipse">
            <a:avLst/>
          </a:prstGeom>
          <a:solidFill>
            <a:srgbClr val="0055AA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enter Middle Left Oval"/>
          <p:cNvSpPr/>
          <p:nvPr/>
        </p:nvSpPr>
        <p:spPr>
          <a:xfrm>
            <a:off x="3500008" y="4156259"/>
            <a:ext cx="1750004" cy="583334"/>
          </a:xfrm>
          <a:prstGeom prst="ellipse">
            <a:avLst/>
          </a:prstGeom>
          <a:solidFill>
            <a:srgbClr val="004488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enter Middle Center Oval"/>
          <p:cNvSpPr/>
          <p:nvPr/>
        </p:nvSpPr>
        <p:spPr>
          <a:xfrm>
            <a:off x="5220845" y="4156259"/>
            <a:ext cx="1750004" cy="583334"/>
          </a:xfrm>
          <a:prstGeom prst="ellipse">
            <a:avLst/>
          </a:prstGeom>
          <a:solidFill>
            <a:srgbClr val="004488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enter Middle Right Oval"/>
          <p:cNvSpPr/>
          <p:nvPr/>
        </p:nvSpPr>
        <p:spPr>
          <a:xfrm>
            <a:off x="6941682" y="4156259"/>
            <a:ext cx="1750004" cy="583334"/>
          </a:xfrm>
          <a:prstGeom prst="ellipse">
            <a:avLst/>
          </a:prstGeom>
          <a:solidFill>
            <a:srgbClr val="004488"/>
          </a:solidFill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enter Bottom Ring"/>
          <p:cNvSpPr/>
          <p:nvPr/>
        </p:nvSpPr>
        <p:spPr>
          <a:xfrm>
            <a:off x="2916673" y="4739594"/>
            <a:ext cx="6358348" cy="729168"/>
          </a:xfrm>
          <a:prstGeom prst="ellipse">
            <a:avLst/>
          </a:prstGeom>
          <a:noFill/>
          <a:ln w="14583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Top Timeline Arrows"/>
          <p:cNvCxnSpPr/>
          <p:nvPr/>
        </p:nvCxnSpPr>
        <p:spPr>
          <a:xfrm>
            <a:off x="1531253" y="1385419"/>
            <a:ext cx="7743768" cy="145834"/>
          </a:xfrm>
          <a:prstGeom prst="line">
            <a:avLst/>
          </a:prstGeom>
          <a:ln w="14583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background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  <p:pic>
        <p:nvPicPr>
          <p:cNvPr id="22" name="Picture 21" descr="top_right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941" y="145833"/>
            <a:ext cx="1458336" cy="1093752"/>
          </a:xfrm>
          <a:prstGeom prst="rect">
            <a:avLst/>
          </a:prstGeom>
        </p:spPr>
      </p:pic>
      <p:pic>
        <p:nvPicPr>
          <p:cNvPr id="23" name="Picture 22" descr="central_engine_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673" y="3645841"/>
            <a:ext cx="6358348" cy="1822920"/>
          </a:xfrm>
          <a:prstGeom prst="rect">
            <a:avLst/>
          </a:prstGeom>
        </p:spPr>
      </p:pic>
      <p:pic>
        <p:nvPicPr>
          <p:cNvPr id="24" name="Picture 23" descr="bottom_path_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33346"/>
            <a:ext cx="12191695" cy="1093752"/>
          </a:xfrm>
          <a:prstGeom prst="rect">
            <a:avLst/>
          </a:prstGeom>
        </p:spPr>
      </p:pic>
      <p:pic>
        <p:nvPicPr>
          <p:cNvPr id="25" name="Picture 24" descr="icon_pl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34" y="2041671"/>
            <a:ext cx="583334" cy="583334"/>
          </a:xfrm>
          <a:prstGeom prst="rect">
            <a:avLst/>
          </a:prstGeom>
        </p:spPr>
      </p:pic>
      <p:pic>
        <p:nvPicPr>
          <p:cNvPr id="26" name="Picture 25" descr="icon_st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5837" y="2041671"/>
            <a:ext cx="583334" cy="583334"/>
          </a:xfrm>
          <a:prstGeom prst="rect">
            <a:avLst/>
          </a:prstGeom>
        </p:spPr>
      </p:pic>
      <p:pic>
        <p:nvPicPr>
          <p:cNvPr id="27" name="Picture 26" descr="icon_transform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8340" y="2041671"/>
            <a:ext cx="583334" cy="583334"/>
          </a:xfrm>
          <a:prstGeom prst="rect">
            <a:avLst/>
          </a:prstGeom>
        </p:spPr>
      </p:pic>
      <p:pic>
        <p:nvPicPr>
          <p:cNvPr id="28" name="Picture 27" descr="icon_network_nod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0843" y="2041671"/>
            <a:ext cx="583334" cy="583334"/>
          </a:xfrm>
          <a:prstGeom prst="rect">
            <a:avLst/>
          </a:prstGeom>
        </p:spPr>
      </p:pic>
      <p:pic>
        <p:nvPicPr>
          <p:cNvPr id="29" name="Picture 28" descr="icon_b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3346" y="2041671"/>
            <a:ext cx="583334" cy="583334"/>
          </a:xfrm>
          <a:prstGeom prst="rect">
            <a:avLst/>
          </a:prstGeom>
        </p:spPr>
      </p:pic>
      <p:pic>
        <p:nvPicPr>
          <p:cNvPr id="30" name="Picture 29" descr="icon_bluepri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5850" y="2041671"/>
            <a:ext cx="583334" cy="583334"/>
          </a:xfrm>
          <a:prstGeom prst="rect">
            <a:avLst/>
          </a:prstGeom>
        </p:spPr>
      </p:pic>
      <p:pic>
        <p:nvPicPr>
          <p:cNvPr id="31" name="Picture 30" descr="icon_molecu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8353" y="2041671"/>
            <a:ext cx="583334" cy="583334"/>
          </a:xfrm>
          <a:prstGeom prst="rect">
            <a:avLst/>
          </a:prstGeom>
        </p:spPr>
      </p:pic>
      <p:pic>
        <p:nvPicPr>
          <p:cNvPr id="32" name="Picture 31" descr="icon_globe_pow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70856" y="2041671"/>
            <a:ext cx="583334" cy="583334"/>
          </a:xfrm>
          <a:prstGeom prst="rect">
            <a:avLst/>
          </a:prstGeom>
        </p:spPr>
      </p:pic>
      <p:pic>
        <p:nvPicPr>
          <p:cNvPr id="33" name="Picture 32" descr="people_ic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7501" y="4156259"/>
            <a:ext cx="291667" cy="291667"/>
          </a:xfrm>
          <a:prstGeom prst="rect">
            <a:avLst/>
          </a:prstGeom>
        </p:spPr>
      </p:pic>
      <p:pic>
        <p:nvPicPr>
          <p:cNvPr id="34" name="Picture 33" descr="cube_ico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7501" y="4739594"/>
            <a:ext cx="291667" cy="291667"/>
          </a:xfrm>
          <a:prstGeom prst="rect">
            <a:avLst/>
          </a:prstGeom>
        </p:spPr>
      </p:pic>
      <p:pic>
        <p:nvPicPr>
          <p:cNvPr id="35" name="Picture 34" descr="book_ico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64608" y="4156259"/>
            <a:ext cx="291667" cy="291667"/>
          </a:xfrm>
          <a:prstGeom prst="rect">
            <a:avLst/>
          </a:prstGeom>
        </p:spPr>
      </p:pic>
      <p:pic>
        <p:nvPicPr>
          <p:cNvPr id="36" name="Picture 35" descr="wrench_icon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64608" y="4739594"/>
            <a:ext cx="291667" cy="291667"/>
          </a:xfrm>
          <a:prstGeom prst="rect">
            <a:avLst/>
          </a:prstGeom>
        </p:spPr>
      </p:pic>
      <p:pic>
        <p:nvPicPr>
          <p:cNvPr id="37" name="Picture 36" descr="door_ico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5002" y="5906263"/>
            <a:ext cx="437501" cy="437501"/>
          </a:xfrm>
          <a:prstGeom prst="rect">
            <a:avLst/>
          </a:prstGeom>
        </p:spPr>
      </p:pic>
      <p:pic>
        <p:nvPicPr>
          <p:cNvPr id="38" name="Picture 37" descr="chart_icon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68754" y="5906263"/>
            <a:ext cx="437501" cy="437501"/>
          </a:xfrm>
          <a:prstGeom prst="rect">
            <a:avLst/>
          </a:prstGeom>
        </p:spPr>
      </p:pic>
      <p:pic>
        <p:nvPicPr>
          <p:cNvPr id="39" name="Picture 38" descr="towers_ico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62507" y="5906263"/>
            <a:ext cx="437501" cy="437501"/>
          </a:xfrm>
          <a:prstGeom prst="rect">
            <a:avLst/>
          </a:prstGeom>
        </p:spPr>
      </p:pic>
      <p:pic>
        <p:nvPicPr>
          <p:cNvPr id="40" name="Picture 39" descr="people_group_icon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56259" y="5906263"/>
            <a:ext cx="437501" cy="437501"/>
          </a:xfrm>
          <a:prstGeom prst="rect">
            <a:avLst/>
          </a:prstGeom>
        </p:spPr>
      </p:pic>
      <p:pic>
        <p:nvPicPr>
          <p:cNvPr id="41" name="Picture 40" descr="brain_icon_bottom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50012" y="5906263"/>
            <a:ext cx="437501" cy="437501"/>
          </a:xfrm>
          <a:prstGeom prst="rect">
            <a:avLst/>
          </a:prstGeom>
        </p:spPr>
      </p:pic>
      <p:pic>
        <p:nvPicPr>
          <p:cNvPr id="42" name="Picture 41" descr="blueprint_icon_bottom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43764" y="5906263"/>
            <a:ext cx="437501" cy="437501"/>
          </a:xfrm>
          <a:prstGeom prst="rect">
            <a:avLst/>
          </a:prstGeom>
        </p:spPr>
      </p:pic>
      <p:pic>
        <p:nvPicPr>
          <p:cNvPr id="43" name="Picture 42" descr="network_icon_bottom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37517" y="5906263"/>
            <a:ext cx="437501" cy="437501"/>
          </a:xfrm>
          <a:prstGeom prst="rect">
            <a:avLst/>
          </a:prstGeom>
        </p:spPr>
      </p:pic>
      <p:pic>
        <p:nvPicPr>
          <p:cNvPr id="44" name="Picture 43" descr="globe_icon_bottom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31269" y="5906263"/>
            <a:ext cx="437501" cy="437501"/>
          </a:xfrm>
          <a:prstGeom prst="rect">
            <a:avLst/>
          </a:prstGeom>
        </p:spPr>
      </p:pic>
      <p:sp>
        <p:nvSpPr>
          <p:cNvPr id="45" name="titles"/>
          <p:cNvSpPr txBox="1"/>
          <p:nvPr/>
        </p:nvSpPr>
        <p:spPr>
          <a:xfrm>
            <a:off x="3281257" y="218750"/>
            <a:ext cx="5629179" cy="802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133" b="1" i="0">
                <a:solidFill>
                  <a:srgbClr val="E0F0FF"/>
                </a:solidFill>
                <a:latin typeface="Microsoft YaHei"/>
                <a:ea typeface="Microsoft YaHei"/>
                <a:cs typeface="Microsoft YaHei"/>
              </a:rPr>
              <a:t>"大瓦特" 演进路线图</a:t>
            </a:r>
          </a:p>
        </p:txBody>
      </p:sp>
      <p:sp>
        <p:nvSpPr>
          <p:cNvPr id="46" name="titles"/>
          <p:cNvSpPr txBox="1"/>
          <p:nvPr/>
        </p:nvSpPr>
        <p:spPr>
          <a:xfrm>
            <a:off x="4739594" y="1057294"/>
            <a:ext cx="2712506" cy="32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37" b="1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路标与核心亮点</a:t>
            </a:r>
          </a:p>
        </p:txBody>
      </p:sp>
      <p:sp>
        <p:nvSpPr>
          <p:cNvPr id="47" name="titles"/>
          <p:cNvSpPr txBox="1"/>
          <p:nvPr/>
        </p:nvSpPr>
        <p:spPr>
          <a:xfrm>
            <a:off x="4375010" y="1421878"/>
            <a:ext cx="3441674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从多模态服务化迈向电力世界模型</a:t>
            </a:r>
          </a:p>
        </p:txBody>
      </p:sp>
      <p:sp>
        <p:nvSpPr>
          <p:cNvPr id="48" name="titles"/>
          <p:cNvSpPr txBox="1"/>
          <p:nvPr/>
        </p:nvSpPr>
        <p:spPr>
          <a:xfrm>
            <a:off x="145833" y="5687513"/>
            <a:ext cx="875002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6" b="1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</p:txBody>
      </p:sp>
      <p:sp>
        <p:nvSpPr>
          <p:cNvPr id="49" name="body_text"/>
          <p:cNvSpPr txBox="1"/>
          <p:nvPr/>
        </p:nvSpPr>
        <p:spPr>
          <a:xfrm>
            <a:off x="291667" y="1312503"/>
            <a:ext cx="1166669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2025.05</a:t>
            </a:r>
          </a:p>
        </p:txBody>
      </p:sp>
      <p:sp>
        <p:nvSpPr>
          <p:cNvPr id="50" name="body_text"/>
          <p:cNvSpPr txBox="1"/>
          <p:nvPr/>
        </p:nvSpPr>
        <p:spPr>
          <a:xfrm>
            <a:off x="291667" y="1677087"/>
            <a:ext cx="1166669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0" i="0">
                <a:solidFill>
                  <a:srgbClr val="88CC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</p:txBody>
      </p:sp>
      <p:sp>
        <p:nvSpPr>
          <p:cNvPr id="51" name="body_text"/>
          <p:cNvSpPr txBox="1"/>
          <p:nvPr/>
        </p:nvSpPr>
        <p:spPr>
          <a:xfrm>
            <a:off x="291667" y="2552089"/>
            <a:ext cx="1166669" cy="1093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建成南网首个，电力多模态能力入口，成功适配国产算力，实现全自主安全可控。</a:t>
            </a:r>
          </a:p>
        </p:txBody>
      </p:sp>
      <p:sp>
        <p:nvSpPr>
          <p:cNvPr id="52" name="body_text"/>
          <p:cNvSpPr txBox="1"/>
          <p:nvPr/>
        </p:nvSpPr>
        <p:spPr>
          <a:xfrm>
            <a:off x="1604170" y="1312503"/>
            <a:ext cx="1166669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2025.12</a:t>
            </a:r>
          </a:p>
        </p:txBody>
      </p:sp>
      <p:sp>
        <p:nvSpPr>
          <p:cNvPr id="53" name="body_text"/>
          <p:cNvSpPr txBox="1"/>
          <p:nvPr/>
        </p:nvSpPr>
        <p:spPr>
          <a:xfrm>
            <a:off x="1604170" y="1677087"/>
            <a:ext cx="1166669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0" i="0">
                <a:solidFill>
                  <a:srgbClr val="88CC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</p:txBody>
      </p:sp>
      <p:sp>
        <p:nvSpPr>
          <p:cNvPr id="54" name="body_text"/>
          <p:cNvSpPr txBox="1"/>
          <p:nvPr/>
        </p:nvSpPr>
        <p:spPr>
          <a:xfrm>
            <a:off x="1604170" y="2552089"/>
            <a:ext cx="1166669" cy="729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底座全面迭代升级，正式备千亿级参规模型能力。</a:t>
            </a:r>
          </a:p>
        </p:txBody>
      </p:sp>
      <p:sp>
        <p:nvSpPr>
          <p:cNvPr id="55" name="body_text"/>
          <p:cNvSpPr txBox="1"/>
          <p:nvPr/>
        </p:nvSpPr>
        <p:spPr>
          <a:xfrm>
            <a:off x="2916673" y="1312503"/>
            <a:ext cx="1166669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2026.04</a:t>
            </a:r>
          </a:p>
        </p:txBody>
      </p:sp>
      <p:sp>
        <p:nvSpPr>
          <p:cNvPr id="56" name="body_text"/>
          <p:cNvSpPr txBox="1"/>
          <p:nvPr/>
        </p:nvSpPr>
        <p:spPr>
          <a:xfrm>
            <a:off x="2916673" y="1677087"/>
            <a:ext cx="1166669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0" i="0">
                <a:solidFill>
                  <a:srgbClr val="88CC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</p:txBody>
      </p:sp>
      <p:sp>
        <p:nvSpPr>
          <p:cNvPr id="57" name="body_text"/>
          <p:cNvSpPr txBox="1"/>
          <p:nvPr/>
        </p:nvSpPr>
        <p:spPr>
          <a:xfrm>
            <a:off x="2916673" y="2552089"/>
            <a:ext cx="1166669" cy="1093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完成72B行业微调模型全面升级，强化电力专业能力，高效流转典型业务场景。</a:t>
            </a:r>
          </a:p>
        </p:txBody>
      </p:sp>
      <p:sp>
        <p:nvSpPr>
          <p:cNvPr id="58" name="body_text"/>
          <p:cNvSpPr txBox="1"/>
          <p:nvPr/>
        </p:nvSpPr>
        <p:spPr>
          <a:xfrm>
            <a:off x="4229176" y="1312503"/>
            <a:ext cx="1166669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2026.06</a:t>
            </a:r>
          </a:p>
        </p:txBody>
      </p:sp>
      <p:sp>
        <p:nvSpPr>
          <p:cNvPr id="59" name="body_text"/>
          <p:cNvSpPr txBox="1"/>
          <p:nvPr/>
        </p:nvSpPr>
        <p:spPr>
          <a:xfrm>
            <a:off x="4229176" y="1677087"/>
            <a:ext cx="1166669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0" i="0">
                <a:solidFill>
                  <a:srgbClr val="88CC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</p:txBody>
      </p:sp>
      <p:sp>
        <p:nvSpPr>
          <p:cNvPr id="60" name="body_text"/>
          <p:cNvSpPr txBox="1"/>
          <p:nvPr/>
        </p:nvSpPr>
        <p:spPr>
          <a:xfrm>
            <a:off x="4229176" y="2552089"/>
            <a:ext cx="1166669" cy="1093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上线 MoE 架构微调模型，实现专家协同、任务分流和多业务域协同，按需调用专业能力。</a:t>
            </a:r>
          </a:p>
        </p:txBody>
      </p:sp>
      <p:sp>
        <p:nvSpPr>
          <p:cNvPr id="61" name="body_text"/>
          <p:cNvSpPr txBox="1"/>
          <p:nvPr/>
        </p:nvSpPr>
        <p:spPr>
          <a:xfrm>
            <a:off x="5541679" y="1312503"/>
            <a:ext cx="1166669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2026.08</a:t>
            </a:r>
          </a:p>
        </p:txBody>
      </p:sp>
      <p:sp>
        <p:nvSpPr>
          <p:cNvPr id="62" name="body_text"/>
          <p:cNvSpPr txBox="1"/>
          <p:nvPr/>
        </p:nvSpPr>
        <p:spPr>
          <a:xfrm>
            <a:off x="5541679" y="1677087"/>
            <a:ext cx="1166669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0" i="0">
                <a:solidFill>
                  <a:srgbClr val="88CC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</p:txBody>
      </p:sp>
      <p:sp>
        <p:nvSpPr>
          <p:cNvPr id="63" name="body_text"/>
          <p:cNvSpPr txBox="1"/>
          <p:nvPr/>
        </p:nvSpPr>
        <p:spPr>
          <a:xfrm>
            <a:off x="5541679" y="2552089"/>
            <a:ext cx="1166669" cy="1093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引入强化学习与慢思考机制，增强逻辑推理、知识增强和工具调用能力。</a:t>
            </a:r>
          </a:p>
        </p:txBody>
      </p:sp>
      <p:sp>
        <p:nvSpPr>
          <p:cNvPr id="64" name="body_text"/>
          <p:cNvSpPr txBox="1"/>
          <p:nvPr/>
        </p:nvSpPr>
        <p:spPr>
          <a:xfrm>
            <a:off x="6854182" y="1312503"/>
            <a:ext cx="1166669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2026.01</a:t>
            </a:r>
          </a:p>
        </p:txBody>
      </p:sp>
      <p:sp>
        <p:nvSpPr>
          <p:cNvPr id="65" name="body_text"/>
          <p:cNvSpPr txBox="1"/>
          <p:nvPr/>
        </p:nvSpPr>
        <p:spPr>
          <a:xfrm>
            <a:off x="6854182" y="1677087"/>
            <a:ext cx="1166669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0" i="0">
                <a:solidFill>
                  <a:srgbClr val="88CC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</p:txBody>
      </p:sp>
      <p:sp>
        <p:nvSpPr>
          <p:cNvPr id="66" name="body_text"/>
          <p:cNvSpPr txBox="1"/>
          <p:nvPr/>
        </p:nvSpPr>
        <p:spPr>
          <a:xfrm>
            <a:off x="6854182" y="2552089"/>
            <a:ext cx="1166669" cy="1093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行业首发电力多模态工业图纸模型，具备图纸解析、规则校验和辅助设计能力。</a:t>
            </a:r>
          </a:p>
        </p:txBody>
      </p:sp>
      <p:sp>
        <p:nvSpPr>
          <p:cNvPr id="67" name="body_text"/>
          <p:cNvSpPr txBox="1"/>
          <p:nvPr/>
        </p:nvSpPr>
        <p:spPr>
          <a:xfrm>
            <a:off x="8166685" y="1312503"/>
            <a:ext cx="1166669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2027.04</a:t>
            </a:r>
          </a:p>
        </p:txBody>
      </p:sp>
      <p:sp>
        <p:nvSpPr>
          <p:cNvPr id="68" name="body_text"/>
          <p:cNvSpPr txBox="1"/>
          <p:nvPr/>
        </p:nvSpPr>
        <p:spPr>
          <a:xfrm>
            <a:off x="8166685" y="1677087"/>
            <a:ext cx="1166669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0" i="0">
                <a:solidFill>
                  <a:srgbClr val="88CCFF"/>
                </a:solidFill>
                <a:latin typeface="Microsoft YaHei"/>
                <a:ea typeface="Microsoft YaHei"/>
                <a:cs typeface="Microsoft YaHei"/>
              </a:rPr>
              <a:t>定位：拓扑认知化</a:t>
            </a:r>
          </a:p>
        </p:txBody>
      </p:sp>
      <p:sp>
        <p:nvSpPr>
          <p:cNvPr id="69" name="body_text"/>
          <p:cNvSpPr txBox="1"/>
          <p:nvPr/>
        </p:nvSpPr>
        <p:spPr>
          <a:xfrm>
            <a:off x="8166685" y="2552089"/>
            <a:ext cx="1166669" cy="1093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融合多源数据，构建“图像—设备—空间—拓扑”联合推理能力，形成电力行业结构化认知壁垒。</a:t>
            </a:r>
          </a:p>
        </p:txBody>
      </p:sp>
      <p:sp>
        <p:nvSpPr>
          <p:cNvPr id="70" name="body_text"/>
          <p:cNvSpPr txBox="1"/>
          <p:nvPr/>
        </p:nvSpPr>
        <p:spPr>
          <a:xfrm>
            <a:off x="9479188" y="1312503"/>
            <a:ext cx="1166669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4.0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2027.12</a:t>
            </a:r>
          </a:p>
        </p:txBody>
      </p:sp>
      <p:sp>
        <p:nvSpPr>
          <p:cNvPr id="71" name="body_text"/>
          <p:cNvSpPr txBox="1"/>
          <p:nvPr/>
        </p:nvSpPr>
        <p:spPr>
          <a:xfrm>
            <a:off x="9479188" y="1677087"/>
            <a:ext cx="1166669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0" i="0">
                <a:solidFill>
                  <a:srgbClr val="88CC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</p:txBody>
      </p:sp>
      <p:sp>
        <p:nvSpPr>
          <p:cNvPr id="72" name="body_text"/>
          <p:cNvSpPr txBox="1"/>
          <p:nvPr/>
        </p:nvSpPr>
        <p:spPr>
          <a:xfrm>
            <a:off x="9479188" y="2552089"/>
            <a:ext cx="1166669" cy="1093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发布电力多模态世界模型，实现物理仿真与智能推演、从理解现场迈向推演现场、辅助决策。</a:t>
            </a:r>
          </a:p>
        </p:txBody>
      </p:sp>
      <p:sp>
        <p:nvSpPr>
          <p:cNvPr id="73" name="body_text"/>
          <p:cNvSpPr txBox="1"/>
          <p:nvPr/>
        </p:nvSpPr>
        <p:spPr>
          <a:xfrm>
            <a:off x="5104178" y="3500008"/>
            <a:ext cx="1983337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74" name="body_text"/>
          <p:cNvSpPr txBox="1"/>
          <p:nvPr/>
        </p:nvSpPr>
        <p:spPr>
          <a:xfrm>
            <a:off x="4739594" y="3718758"/>
            <a:ext cx="2712506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7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75" name="body_text"/>
          <p:cNvSpPr txBox="1"/>
          <p:nvPr/>
        </p:nvSpPr>
        <p:spPr>
          <a:xfrm>
            <a:off x="3645841" y="4229176"/>
            <a:ext cx="1458336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业务驱动 · 场景普惠</a:t>
            </a:r>
          </a:p>
        </p:txBody>
      </p:sp>
      <p:sp>
        <p:nvSpPr>
          <p:cNvPr id="76" name="body_text"/>
          <p:cNvSpPr txBox="1"/>
          <p:nvPr/>
        </p:nvSpPr>
        <p:spPr>
          <a:xfrm>
            <a:off x="5366679" y="4229176"/>
            <a:ext cx="1458336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数据融合 · 知识增强</a:t>
            </a:r>
          </a:p>
        </p:txBody>
      </p:sp>
      <p:sp>
        <p:nvSpPr>
          <p:cNvPr id="77" name="body_text"/>
          <p:cNvSpPr txBox="1"/>
          <p:nvPr/>
        </p:nvSpPr>
        <p:spPr>
          <a:xfrm>
            <a:off x="7087516" y="4229176"/>
            <a:ext cx="1458336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算法领先 · 工程可靠</a:t>
            </a:r>
          </a:p>
        </p:txBody>
      </p:sp>
      <p:sp>
        <p:nvSpPr>
          <p:cNvPr id="78" name="body_text"/>
          <p:cNvSpPr txBox="1"/>
          <p:nvPr/>
        </p:nvSpPr>
        <p:spPr>
          <a:xfrm>
            <a:off x="4739594" y="4812511"/>
            <a:ext cx="2712506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全域数据融合与知识沉淀</a:t>
            </a:r>
          </a:p>
        </p:txBody>
      </p:sp>
      <p:sp>
        <p:nvSpPr>
          <p:cNvPr id="79" name="body_text"/>
          <p:cNvSpPr txBox="1"/>
          <p:nvPr/>
        </p:nvSpPr>
        <p:spPr>
          <a:xfrm>
            <a:off x="291667" y="4083342"/>
            <a:ext cx="1166669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80" name="body_text"/>
          <p:cNvSpPr txBox="1"/>
          <p:nvPr/>
        </p:nvSpPr>
        <p:spPr>
          <a:xfrm>
            <a:off x="291667" y="4666677"/>
            <a:ext cx="1166669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81" name="body_text"/>
          <p:cNvSpPr txBox="1"/>
          <p:nvPr/>
        </p:nvSpPr>
        <p:spPr>
          <a:xfrm>
            <a:off x="10733358" y="4083342"/>
            <a:ext cx="1166669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82" name="body_text"/>
          <p:cNvSpPr txBox="1"/>
          <p:nvPr/>
        </p:nvSpPr>
        <p:spPr>
          <a:xfrm>
            <a:off x="10733358" y="4666677"/>
            <a:ext cx="1166669" cy="36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83" name="body_text"/>
          <p:cNvSpPr txBox="1"/>
          <p:nvPr/>
        </p:nvSpPr>
        <p:spPr>
          <a:xfrm>
            <a:off x="2187505" y="5177095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AAAAA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</p:txBody>
      </p:sp>
      <p:sp>
        <p:nvSpPr>
          <p:cNvPr id="84" name="body_text"/>
          <p:cNvSpPr txBox="1"/>
          <p:nvPr/>
        </p:nvSpPr>
        <p:spPr>
          <a:xfrm>
            <a:off x="3645841" y="5177095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AAAAA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</p:txBody>
      </p:sp>
      <p:sp>
        <p:nvSpPr>
          <p:cNvPr id="85" name="body_text"/>
          <p:cNvSpPr txBox="1"/>
          <p:nvPr/>
        </p:nvSpPr>
        <p:spPr>
          <a:xfrm>
            <a:off x="5104178" y="5177095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AAAAA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</p:txBody>
      </p:sp>
      <p:sp>
        <p:nvSpPr>
          <p:cNvPr id="86" name="body_text"/>
          <p:cNvSpPr txBox="1"/>
          <p:nvPr/>
        </p:nvSpPr>
        <p:spPr>
          <a:xfrm>
            <a:off x="6562515" y="5177095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AAAAA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</p:txBody>
      </p:sp>
      <p:sp>
        <p:nvSpPr>
          <p:cNvPr id="87" name="body_text"/>
          <p:cNvSpPr txBox="1"/>
          <p:nvPr/>
        </p:nvSpPr>
        <p:spPr>
          <a:xfrm>
            <a:off x="8020852" y="5177095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AAAAAA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  <p:sp>
        <p:nvSpPr>
          <p:cNvPr id="88" name="body_text"/>
          <p:cNvSpPr txBox="1"/>
          <p:nvPr/>
        </p:nvSpPr>
        <p:spPr>
          <a:xfrm>
            <a:off x="729168" y="6416681"/>
            <a:ext cx="875002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89" name="body_text"/>
          <p:cNvSpPr txBox="1"/>
          <p:nvPr/>
        </p:nvSpPr>
        <p:spPr>
          <a:xfrm>
            <a:off x="1822920" y="6416681"/>
            <a:ext cx="875002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90" name="body_text"/>
          <p:cNvSpPr txBox="1"/>
          <p:nvPr/>
        </p:nvSpPr>
        <p:spPr>
          <a:xfrm>
            <a:off x="2916673" y="6416681"/>
            <a:ext cx="875002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91" name="body_text"/>
          <p:cNvSpPr txBox="1"/>
          <p:nvPr/>
        </p:nvSpPr>
        <p:spPr>
          <a:xfrm>
            <a:off x="4010426" y="6416681"/>
            <a:ext cx="875002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92" name="body_text"/>
          <p:cNvSpPr txBox="1"/>
          <p:nvPr/>
        </p:nvSpPr>
        <p:spPr>
          <a:xfrm>
            <a:off x="5104178" y="6416681"/>
            <a:ext cx="875002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93" name="body_text"/>
          <p:cNvSpPr txBox="1"/>
          <p:nvPr/>
        </p:nvSpPr>
        <p:spPr>
          <a:xfrm>
            <a:off x="6197931" y="6416681"/>
            <a:ext cx="875002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94" name="body_text"/>
          <p:cNvSpPr txBox="1"/>
          <p:nvPr/>
        </p:nvSpPr>
        <p:spPr>
          <a:xfrm>
            <a:off x="7291683" y="6416681"/>
            <a:ext cx="875002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拓扑认知化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推理电网结构</a:t>
            </a:r>
          </a:p>
        </p:txBody>
      </p:sp>
      <p:sp>
        <p:nvSpPr>
          <p:cNvPr id="95" name="body_text"/>
          <p:cNvSpPr txBox="1"/>
          <p:nvPr/>
        </p:nvSpPr>
        <p:spPr>
          <a:xfrm>
            <a:off x="8385436" y="6416681"/>
            <a:ext cx="875002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