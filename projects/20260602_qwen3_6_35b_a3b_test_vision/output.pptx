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91365" cy="6861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61474"/>
          </a:xfrm>
          <a:prstGeom prst="rect">
            <a:avLst/>
          </a:prstGeom>
          <a:solidFill>
            <a:srgbClr val="05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Timeline Connector"/>
          <p:cNvCxnSpPr/>
          <p:nvPr/>
        </p:nvCxnSpPr>
        <p:spPr>
          <a:xfrm>
            <a:off x="729168" y="1348961"/>
            <a:ext cx="10937525" cy="14583"/>
          </a:xfrm>
          <a:prstGeom prst="line">
            <a:avLst/>
          </a:prstGeom>
          <a:ln w="14583">
            <a:solidFill>
              <a:srgbClr val="00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meline Circles"/>
          <p:cNvSpPr/>
          <p:nvPr/>
        </p:nvSpPr>
        <p:spPr>
          <a:xfrm>
            <a:off x="328125" y="1203127"/>
            <a:ext cx="437501" cy="437501"/>
          </a:xfrm>
          <a:prstGeom prst="ellipse">
            <a:avLst/>
          </a:prstGeom>
          <a:solidFill>
            <a:srgbClr val="005EB8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meline Circles 2"/>
          <p:cNvSpPr/>
          <p:nvPr/>
        </p:nvSpPr>
        <p:spPr>
          <a:xfrm>
            <a:off x="1786462" y="1203127"/>
            <a:ext cx="437501" cy="437501"/>
          </a:xfrm>
          <a:prstGeom prst="ellipse">
            <a:avLst/>
          </a:prstGeom>
          <a:solidFill>
            <a:srgbClr val="005EB8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imeline Circles 3"/>
          <p:cNvSpPr/>
          <p:nvPr/>
        </p:nvSpPr>
        <p:spPr>
          <a:xfrm>
            <a:off x="3244799" y="1203127"/>
            <a:ext cx="437501" cy="437501"/>
          </a:xfrm>
          <a:prstGeom prst="ellipse">
            <a:avLst/>
          </a:prstGeom>
          <a:solidFill>
            <a:srgbClr val="005EB8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imeline Circles 4"/>
          <p:cNvSpPr/>
          <p:nvPr/>
        </p:nvSpPr>
        <p:spPr>
          <a:xfrm>
            <a:off x="4703136" y="1203127"/>
            <a:ext cx="437501" cy="437501"/>
          </a:xfrm>
          <a:prstGeom prst="ellipse">
            <a:avLst/>
          </a:prstGeom>
          <a:solidFill>
            <a:srgbClr val="005EB8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meline Circles 5"/>
          <p:cNvSpPr/>
          <p:nvPr/>
        </p:nvSpPr>
        <p:spPr>
          <a:xfrm>
            <a:off x="6161472" y="1203127"/>
            <a:ext cx="437501" cy="437501"/>
          </a:xfrm>
          <a:prstGeom prst="ellipse">
            <a:avLst/>
          </a:prstGeom>
          <a:solidFill>
            <a:srgbClr val="005EB8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meline Circles 6"/>
          <p:cNvSpPr/>
          <p:nvPr/>
        </p:nvSpPr>
        <p:spPr>
          <a:xfrm>
            <a:off x="7619809" y="1203127"/>
            <a:ext cx="437501" cy="437501"/>
          </a:xfrm>
          <a:prstGeom prst="ellipse">
            <a:avLst/>
          </a:prstGeom>
          <a:solidFill>
            <a:srgbClr val="005EB8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imeline Circles 7"/>
          <p:cNvSpPr/>
          <p:nvPr/>
        </p:nvSpPr>
        <p:spPr>
          <a:xfrm>
            <a:off x="9078146" y="1203127"/>
            <a:ext cx="437501" cy="437501"/>
          </a:xfrm>
          <a:prstGeom prst="ellipse">
            <a:avLst/>
          </a:prstGeom>
          <a:solidFill>
            <a:srgbClr val="005EB8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meline Circles 8"/>
          <p:cNvSpPr/>
          <p:nvPr/>
        </p:nvSpPr>
        <p:spPr>
          <a:xfrm>
            <a:off x="10536482" y="1203127"/>
            <a:ext cx="437501" cy="437501"/>
          </a:xfrm>
          <a:prstGeom prst="ellipse">
            <a:avLst/>
          </a:prstGeom>
          <a:solidFill>
            <a:srgbClr val="005EB8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imeline Box 1"/>
          <p:cNvSpPr/>
          <p:nvPr/>
        </p:nvSpPr>
        <p:spPr>
          <a:xfrm>
            <a:off x="218750" y="1458336"/>
            <a:ext cx="1312503" cy="1822920"/>
          </a:xfrm>
          <a:prstGeom prst="roundRect">
            <a:avLst/>
          </a:prstGeom>
          <a:solidFill>
            <a:srgbClr val="001F4D"/>
          </a:solidFill>
          <a:ln w="7291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meline Box 2"/>
          <p:cNvSpPr/>
          <p:nvPr/>
        </p:nvSpPr>
        <p:spPr>
          <a:xfrm>
            <a:off x="1677087" y="1458336"/>
            <a:ext cx="1312503" cy="1822920"/>
          </a:xfrm>
          <a:prstGeom prst="roundRect">
            <a:avLst/>
          </a:prstGeom>
          <a:solidFill>
            <a:srgbClr val="001F4D"/>
          </a:solidFill>
          <a:ln w="7291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meline Box 3"/>
          <p:cNvSpPr/>
          <p:nvPr/>
        </p:nvSpPr>
        <p:spPr>
          <a:xfrm>
            <a:off x="3135424" y="1458336"/>
            <a:ext cx="1312503" cy="1822920"/>
          </a:xfrm>
          <a:prstGeom prst="roundRect">
            <a:avLst/>
          </a:prstGeom>
          <a:solidFill>
            <a:srgbClr val="001F4D"/>
          </a:solidFill>
          <a:ln w="7291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meline Box 4"/>
          <p:cNvSpPr/>
          <p:nvPr/>
        </p:nvSpPr>
        <p:spPr>
          <a:xfrm>
            <a:off x="4593760" y="1458336"/>
            <a:ext cx="1312503" cy="1822920"/>
          </a:xfrm>
          <a:prstGeom prst="roundRect">
            <a:avLst/>
          </a:prstGeom>
          <a:solidFill>
            <a:srgbClr val="001F4D"/>
          </a:solidFill>
          <a:ln w="7291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meline Box 5"/>
          <p:cNvSpPr/>
          <p:nvPr/>
        </p:nvSpPr>
        <p:spPr>
          <a:xfrm>
            <a:off x="6052097" y="1458336"/>
            <a:ext cx="1312503" cy="1822920"/>
          </a:xfrm>
          <a:prstGeom prst="roundRect">
            <a:avLst/>
          </a:prstGeom>
          <a:solidFill>
            <a:srgbClr val="001F4D"/>
          </a:solidFill>
          <a:ln w="7291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meline Box 6"/>
          <p:cNvSpPr/>
          <p:nvPr/>
        </p:nvSpPr>
        <p:spPr>
          <a:xfrm>
            <a:off x="7510434" y="1458336"/>
            <a:ext cx="1312503" cy="1822920"/>
          </a:xfrm>
          <a:prstGeom prst="roundRect">
            <a:avLst/>
          </a:prstGeom>
          <a:solidFill>
            <a:srgbClr val="001F4D"/>
          </a:solidFill>
          <a:ln w="7291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meline Box 7"/>
          <p:cNvSpPr/>
          <p:nvPr/>
        </p:nvSpPr>
        <p:spPr>
          <a:xfrm>
            <a:off x="8968770" y="1458336"/>
            <a:ext cx="1312503" cy="1822920"/>
          </a:xfrm>
          <a:prstGeom prst="roundRect">
            <a:avLst/>
          </a:prstGeom>
          <a:solidFill>
            <a:srgbClr val="001F4D"/>
          </a:solidFill>
          <a:ln w="7291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meline Box 8"/>
          <p:cNvSpPr/>
          <p:nvPr/>
        </p:nvSpPr>
        <p:spPr>
          <a:xfrm>
            <a:off x="10427107" y="1458336"/>
            <a:ext cx="1312503" cy="1822920"/>
          </a:xfrm>
          <a:prstGeom prst="roundRect">
            <a:avLst/>
          </a:prstGeom>
          <a:solidFill>
            <a:srgbClr val="001F4D"/>
          </a:solidFill>
          <a:ln w="7291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ide Box 1"/>
          <p:cNvSpPr/>
          <p:nvPr/>
        </p:nvSpPr>
        <p:spPr>
          <a:xfrm>
            <a:off x="218750" y="3645841"/>
            <a:ext cx="1166669" cy="583334"/>
          </a:xfrm>
          <a:prstGeom prst="roundRect">
            <a:avLst/>
          </a:prstGeom>
          <a:solidFill>
            <a:srgbClr val="001F4D"/>
          </a:solidFill>
          <a:ln w="7291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ide Box 2"/>
          <p:cNvSpPr/>
          <p:nvPr/>
        </p:nvSpPr>
        <p:spPr>
          <a:xfrm>
            <a:off x="218750" y="4375010"/>
            <a:ext cx="1166669" cy="583334"/>
          </a:xfrm>
          <a:prstGeom prst="roundRect">
            <a:avLst/>
          </a:prstGeom>
          <a:solidFill>
            <a:srgbClr val="001F4D"/>
          </a:solidFill>
          <a:ln w="7291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ide Box 3"/>
          <p:cNvSpPr/>
          <p:nvPr/>
        </p:nvSpPr>
        <p:spPr>
          <a:xfrm>
            <a:off x="10791691" y="3645841"/>
            <a:ext cx="1166669" cy="583334"/>
          </a:xfrm>
          <a:prstGeom prst="roundRect">
            <a:avLst/>
          </a:prstGeom>
          <a:solidFill>
            <a:srgbClr val="001F4D"/>
          </a:solidFill>
          <a:ln w="7291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ide Box 4"/>
          <p:cNvSpPr/>
          <p:nvPr/>
        </p:nvSpPr>
        <p:spPr>
          <a:xfrm>
            <a:off x="10791691" y="4375010"/>
            <a:ext cx="1166669" cy="583334"/>
          </a:xfrm>
          <a:prstGeom prst="roundRect">
            <a:avLst/>
          </a:prstGeom>
          <a:solidFill>
            <a:srgbClr val="001F4D"/>
          </a:solidFill>
          <a:ln w="7291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entral Pill 1"/>
          <p:cNvSpPr/>
          <p:nvPr/>
        </p:nvSpPr>
        <p:spPr>
          <a:xfrm>
            <a:off x="5322929" y="3135424"/>
            <a:ext cx="1458336" cy="218750"/>
          </a:xfrm>
          <a:prstGeom prst="roundRect">
            <a:avLst/>
          </a:prstGeom>
          <a:solidFill>
            <a:srgbClr val="005EB8"/>
          </a:solidFill>
          <a:ln w="7291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entral Pill 2"/>
          <p:cNvSpPr/>
          <p:nvPr/>
        </p:nvSpPr>
        <p:spPr>
          <a:xfrm>
            <a:off x="3281257" y="3937509"/>
            <a:ext cx="1166669" cy="437501"/>
          </a:xfrm>
          <a:prstGeom prst="roundRect">
            <a:avLst/>
          </a:prstGeom>
          <a:solidFill>
            <a:srgbClr val="003366"/>
          </a:solidFill>
          <a:ln w="7291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entral Pill 3"/>
          <p:cNvSpPr/>
          <p:nvPr/>
        </p:nvSpPr>
        <p:spPr>
          <a:xfrm>
            <a:off x="4739594" y="3937509"/>
            <a:ext cx="1166669" cy="437501"/>
          </a:xfrm>
          <a:prstGeom prst="roundRect">
            <a:avLst/>
          </a:prstGeom>
          <a:solidFill>
            <a:srgbClr val="003366"/>
          </a:solidFill>
          <a:ln w="7291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entral Pill 4"/>
          <p:cNvSpPr/>
          <p:nvPr/>
        </p:nvSpPr>
        <p:spPr>
          <a:xfrm>
            <a:off x="6197931" y="3937509"/>
            <a:ext cx="1166669" cy="437501"/>
          </a:xfrm>
          <a:prstGeom prst="roundRect">
            <a:avLst/>
          </a:prstGeom>
          <a:solidFill>
            <a:srgbClr val="003366"/>
          </a:solidFill>
          <a:ln w="7291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Bottom Path Line"/>
          <p:cNvCxnSpPr/>
          <p:nvPr/>
        </p:nvCxnSpPr>
        <p:spPr>
          <a:xfrm>
            <a:off x="729168" y="5979180"/>
            <a:ext cx="10937525" cy="14584"/>
          </a:xfrm>
          <a:prstGeom prst="line">
            <a:avLst/>
          </a:prstGeom>
          <a:ln w="29166">
            <a:solidFill>
              <a:srgbClr val="00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Bottom Path Arrow"/>
          <p:cNvCxnSpPr/>
          <p:nvPr/>
        </p:nvCxnSpPr>
        <p:spPr>
          <a:xfrm>
            <a:off x="11302109" y="5833346"/>
            <a:ext cx="364584" cy="2916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central_engine_graphi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7505" y="3281257"/>
            <a:ext cx="7816684" cy="1822920"/>
          </a:xfrm>
          <a:prstGeom prst="rect">
            <a:avLst/>
          </a:prstGeom>
        </p:spPr>
      </p:pic>
      <p:pic>
        <p:nvPicPr>
          <p:cNvPr id="32" name="Picture 31" descr="arrow_path_bot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53" y="5795246"/>
            <a:ext cx="10937525" cy="729168"/>
          </a:xfrm>
          <a:prstGeom prst="rect">
            <a:avLst/>
          </a:prstGeom>
        </p:spPr>
      </p:pic>
      <p:pic>
        <p:nvPicPr>
          <p:cNvPr id="33" name="Picture 32" descr="icon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17" y="2041671"/>
            <a:ext cx="583334" cy="583334"/>
          </a:xfrm>
          <a:prstGeom prst="rect">
            <a:avLst/>
          </a:prstGeom>
        </p:spPr>
      </p:pic>
      <p:pic>
        <p:nvPicPr>
          <p:cNvPr id="34" name="Picture 33" descr="icon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8754" y="2041671"/>
            <a:ext cx="583334" cy="583334"/>
          </a:xfrm>
          <a:prstGeom prst="rect">
            <a:avLst/>
          </a:prstGeom>
        </p:spPr>
      </p:pic>
      <p:pic>
        <p:nvPicPr>
          <p:cNvPr id="35" name="Picture 34" descr="icon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7091" y="2041671"/>
            <a:ext cx="583334" cy="583334"/>
          </a:xfrm>
          <a:prstGeom prst="rect">
            <a:avLst/>
          </a:prstGeom>
        </p:spPr>
      </p:pic>
      <p:pic>
        <p:nvPicPr>
          <p:cNvPr id="36" name="Picture 35" descr="icon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5428" y="2041671"/>
            <a:ext cx="583334" cy="583334"/>
          </a:xfrm>
          <a:prstGeom prst="rect">
            <a:avLst/>
          </a:prstGeom>
        </p:spPr>
      </p:pic>
      <p:pic>
        <p:nvPicPr>
          <p:cNvPr id="37" name="Picture 36" descr="icon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3764" y="2041671"/>
            <a:ext cx="583334" cy="583334"/>
          </a:xfrm>
          <a:prstGeom prst="rect">
            <a:avLst/>
          </a:prstGeom>
        </p:spPr>
      </p:pic>
      <p:pic>
        <p:nvPicPr>
          <p:cNvPr id="38" name="Picture 37" descr="icon_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2101" y="2041671"/>
            <a:ext cx="583334" cy="583334"/>
          </a:xfrm>
          <a:prstGeom prst="rect">
            <a:avLst/>
          </a:prstGeom>
        </p:spPr>
      </p:pic>
      <p:pic>
        <p:nvPicPr>
          <p:cNvPr id="39" name="Picture 38" descr="icon_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0438" y="2041671"/>
            <a:ext cx="583334" cy="583334"/>
          </a:xfrm>
          <a:prstGeom prst="rect">
            <a:avLst/>
          </a:prstGeom>
        </p:spPr>
      </p:pic>
      <p:pic>
        <p:nvPicPr>
          <p:cNvPr id="40" name="Picture 39" descr="icon_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18775" y="2041671"/>
            <a:ext cx="583334" cy="583334"/>
          </a:xfrm>
          <a:prstGeom prst="rect">
            <a:avLst/>
          </a:prstGeom>
        </p:spPr>
      </p:pic>
      <p:pic>
        <p:nvPicPr>
          <p:cNvPr id="41" name="Picture 40" descr="side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1667" y="3718758"/>
            <a:ext cx="291667" cy="291667"/>
          </a:xfrm>
          <a:prstGeom prst="rect">
            <a:avLst/>
          </a:prstGeom>
        </p:spPr>
      </p:pic>
      <p:pic>
        <p:nvPicPr>
          <p:cNvPr id="42" name="Picture 41" descr="side_icons_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1667" y="4447927"/>
            <a:ext cx="291667" cy="291667"/>
          </a:xfrm>
          <a:prstGeom prst="rect">
            <a:avLst/>
          </a:prstGeom>
        </p:spPr>
      </p:pic>
      <p:pic>
        <p:nvPicPr>
          <p:cNvPr id="43" name="Picture 42" descr="side_icons_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64608" y="3718758"/>
            <a:ext cx="291667" cy="291667"/>
          </a:xfrm>
          <a:prstGeom prst="rect">
            <a:avLst/>
          </a:prstGeom>
        </p:spPr>
      </p:pic>
      <p:pic>
        <p:nvPicPr>
          <p:cNvPr id="44" name="Picture 43" descr="side_icons_4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864608" y="4447927"/>
            <a:ext cx="291667" cy="291667"/>
          </a:xfrm>
          <a:prstGeom prst="rect">
            <a:avLst/>
          </a:prstGeom>
        </p:spPr>
      </p:pic>
      <p:pic>
        <p:nvPicPr>
          <p:cNvPr id="45" name="Picture 44" descr="bottom_icons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3752" y="5833346"/>
            <a:ext cx="437501" cy="437501"/>
          </a:xfrm>
          <a:prstGeom prst="rect">
            <a:avLst/>
          </a:prstGeom>
        </p:spPr>
      </p:pic>
      <p:pic>
        <p:nvPicPr>
          <p:cNvPr id="46" name="Picture 45" descr="bottom_icons_2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87505" y="5833346"/>
            <a:ext cx="437501" cy="437501"/>
          </a:xfrm>
          <a:prstGeom prst="rect">
            <a:avLst/>
          </a:prstGeom>
        </p:spPr>
      </p:pic>
      <p:pic>
        <p:nvPicPr>
          <p:cNvPr id="47" name="Picture 46" descr="bottom_icons_3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81257" y="5833346"/>
            <a:ext cx="437501" cy="437501"/>
          </a:xfrm>
          <a:prstGeom prst="rect">
            <a:avLst/>
          </a:prstGeom>
        </p:spPr>
      </p:pic>
      <p:pic>
        <p:nvPicPr>
          <p:cNvPr id="48" name="Picture 47" descr="bottom_icons_4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75010" y="5833346"/>
            <a:ext cx="437501" cy="437501"/>
          </a:xfrm>
          <a:prstGeom prst="rect">
            <a:avLst/>
          </a:prstGeom>
        </p:spPr>
      </p:pic>
      <p:pic>
        <p:nvPicPr>
          <p:cNvPr id="49" name="Picture 48" descr="bottom_icons_5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68762" y="5833346"/>
            <a:ext cx="437501" cy="437501"/>
          </a:xfrm>
          <a:prstGeom prst="rect">
            <a:avLst/>
          </a:prstGeom>
        </p:spPr>
      </p:pic>
      <p:pic>
        <p:nvPicPr>
          <p:cNvPr id="50" name="Picture 49" descr="bottom_icons_6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62515" y="5833346"/>
            <a:ext cx="437501" cy="437501"/>
          </a:xfrm>
          <a:prstGeom prst="rect">
            <a:avLst/>
          </a:prstGeom>
        </p:spPr>
      </p:pic>
      <p:pic>
        <p:nvPicPr>
          <p:cNvPr id="51" name="Picture 50" descr="bottom_icons_7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56267" y="5833346"/>
            <a:ext cx="437501" cy="437501"/>
          </a:xfrm>
          <a:prstGeom prst="rect">
            <a:avLst/>
          </a:prstGeom>
        </p:spPr>
      </p:pic>
      <p:pic>
        <p:nvPicPr>
          <p:cNvPr id="52" name="Picture 51" descr="bottom_icons_8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750020" y="5833346"/>
            <a:ext cx="437501" cy="437501"/>
          </a:xfrm>
          <a:prstGeom prst="rect">
            <a:avLst/>
          </a:prstGeom>
        </p:spPr>
      </p:pic>
      <p:sp>
        <p:nvSpPr>
          <p:cNvPr id="53" name="titles"/>
          <p:cNvSpPr txBox="1"/>
          <p:nvPr/>
        </p:nvSpPr>
        <p:spPr>
          <a:xfrm>
            <a:off x="4272926" y="291667"/>
            <a:ext cx="3645841" cy="4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1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“大瓦特”演进路线图</a:t>
            </a:r>
            <a:endParaRPr sz="241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itles"/>
          <p:cNvSpPr txBox="1"/>
          <p:nvPr/>
        </p:nvSpPr>
        <p:spPr>
          <a:xfrm>
            <a:off x="4958344" y="802085"/>
            <a:ext cx="2275005" cy="291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FFC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路标与核心亮点</a:t>
            </a:r>
            <a:endParaRPr sz="1375" b="1" i="0">
              <a:solidFill>
                <a:srgbClr val="FFC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itles"/>
          <p:cNvSpPr txBox="1"/>
          <p:nvPr/>
        </p:nvSpPr>
        <p:spPr>
          <a:xfrm>
            <a:off x="4375010" y="1130210"/>
            <a:ext cx="3441674" cy="2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AAD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从多模态服务化迈向电力世界模型</a:t>
            </a:r>
            <a:endParaRPr sz="920" b="0" i="0">
              <a:solidFill>
                <a:srgbClr val="AAD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body_text"/>
          <p:cNvSpPr txBox="1"/>
          <p:nvPr/>
        </p:nvSpPr>
        <p:spPr>
          <a:xfrm>
            <a:off x="437501" y="1239586"/>
            <a:ext cx="218750" cy="2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103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7" name="body_text"/>
          <p:cNvSpPr txBox="1"/>
          <p:nvPr/>
        </p:nvSpPr>
        <p:spPr>
          <a:xfrm>
            <a:off x="291667" y="1458336"/>
            <a:ext cx="729168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大瓦特 1.0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body_text"/>
          <p:cNvSpPr txBox="1"/>
          <p:nvPr/>
        </p:nvSpPr>
        <p:spPr>
          <a:xfrm>
            <a:off x="1020835" y="1458336"/>
            <a:ext cx="437501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AD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2025.05</a:t>
            </a:r>
            <a:endParaRPr sz="690" b="0" i="0">
              <a:solidFill>
                <a:srgbClr val="AAD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9" name="body_text"/>
          <p:cNvSpPr txBox="1"/>
          <p:nvPr/>
        </p:nvSpPr>
        <p:spPr>
          <a:xfrm>
            <a:off x="291667" y="1677087"/>
            <a:ext cx="1020835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00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定位：多模态服务化</a:t>
            </a:r>
            <a:endParaRPr sz="805" b="1" i="0">
              <a:solidFill>
                <a:srgbClr val="00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body_text"/>
          <p:cNvSpPr txBox="1"/>
          <p:nvPr/>
        </p:nvSpPr>
        <p:spPr>
          <a:xfrm>
            <a:off x="583334" y="2552089"/>
            <a:ext cx="291667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FFC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</a:t>
            </a:r>
            <a:endParaRPr sz="690" b="1" i="0">
              <a:solidFill>
                <a:srgbClr val="FFC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body_text"/>
          <p:cNvSpPr txBox="1"/>
          <p:nvPr/>
        </p:nvSpPr>
        <p:spPr>
          <a:xfrm>
            <a:off x="291667" y="2770839"/>
            <a:ext cx="1020835" cy="4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建成南网首个，电力多模态能力入口，成功适配国产算力，实现全自主安全可控。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body_text"/>
          <p:cNvSpPr txBox="1"/>
          <p:nvPr/>
        </p:nvSpPr>
        <p:spPr>
          <a:xfrm>
            <a:off x="1895837" y="1239586"/>
            <a:ext cx="218750" cy="2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103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3" name="body_text"/>
          <p:cNvSpPr txBox="1"/>
          <p:nvPr/>
        </p:nvSpPr>
        <p:spPr>
          <a:xfrm>
            <a:off x="1750004" y="1458336"/>
            <a:ext cx="729168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大瓦特 1.1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body_text"/>
          <p:cNvSpPr txBox="1"/>
          <p:nvPr/>
        </p:nvSpPr>
        <p:spPr>
          <a:xfrm>
            <a:off x="2479172" y="1458336"/>
            <a:ext cx="437501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AD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2025.12</a:t>
            </a:r>
            <a:endParaRPr sz="690" b="0" i="0">
              <a:solidFill>
                <a:srgbClr val="AAD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5" name="body_text"/>
          <p:cNvSpPr txBox="1"/>
          <p:nvPr/>
        </p:nvSpPr>
        <p:spPr>
          <a:xfrm>
            <a:off x="1750004" y="1677087"/>
            <a:ext cx="1020835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00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定位：能力规模化</a:t>
            </a:r>
            <a:endParaRPr sz="805" b="1" i="0">
              <a:solidFill>
                <a:srgbClr val="00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body_text"/>
          <p:cNvSpPr txBox="1"/>
          <p:nvPr/>
        </p:nvSpPr>
        <p:spPr>
          <a:xfrm>
            <a:off x="2041671" y="2552089"/>
            <a:ext cx="291667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FFC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</a:t>
            </a:r>
            <a:endParaRPr sz="690" b="1" i="0">
              <a:solidFill>
                <a:srgbClr val="FFC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body_text"/>
          <p:cNvSpPr txBox="1"/>
          <p:nvPr/>
        </p:nvSpPr>
        <p:spPr>
          <a:xfrm>
            <a:off x="1750004" y="2770839"/>
            <a:ext cx="1020835" cy="4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底座全面迭代升级，正式备千亿级参规模型能力。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body_text"/>
          <p:cNvSpPr txBox="1"/>
          <p:nvPr/>
        </p:nvSpPr>
        <p:spPr>
          <a:xfrm>
            <a:off x="3354174" y="1239586"/>
            <a:ext cx="218750" cy="2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103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9" name="body_text"/>
          <p:cNvSpPr txBox="1"/>
          <p:nvPr/>
        </p:nvSpPr>
        <p:spPr>
          <a:xfrm>
            <a:off x="3208340" y="1458336"/>
            <a:ext cx="729168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大瓦特 2.0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body_text"/>
          <p:cNvSpPr txBox="1"/>
          <p:nvPr/>
        </p:nvSpPr>
        <p:spPr>
          <a:xfrm>
            <a:off x="3937509" y="1458336"/>
            <a:ext cx="437501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AD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2026.04</a:t>
            </a:r>
            <a:endParaRPr sz="690" b="0" i="0">
              <a:solidFill>
                <a:srgbClr val="AAD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1" name="body_text"/>
          <p:cNvSpPr txBox="1"/>
          <p:nvPr/>
        </p:nvSpPr>
        <p:spPr>
          <a:xfrm>
            <a:off x="3208340" y="1677087"/>
            <a:ext cx="1020835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00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定位：行业专业化</a:t>
            </a:r>
            <a:endParaRPr sz="805" b="1" i="0">
              <a:solidFill>
                <a:srgbClr val="00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body_text"/>
          <p:cNvSpPr txBox="1"/>
          <p:nvPr/>
        </p:nvSpPr>
        <p:spPr>
          <a:xfrm>
            <a:off x="3500008" y="2552089"/>
            <a:ext cx="291667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FFC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</a:t>
            </a:r>
            <a:endParaRPr sz="690" b="1" i="0">
              <a:solidFill>
                <a:srgbClr val="FFC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body_text"/>
          <p:cNvSpPr txBox="1"/>
          <p:nvPr/>
        </p:nvSpPr>
        <p:spPr>
          <a:xfrm>
            <a:off x="3208340" y="2770839"/>
            <a:ext cx="1020835" cy="4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完成72B行业微调模型全面升级，强化电力专业能力，高效流转典型业务场景。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body_text"/>
          <p:cNvSpPr txBox="1"/>
          <p:nvPr/>
        </p:nvSpPr>
        <p:spPr>
          <a:xfrm>
            <a:off x="4812511" y="1239586"/>
            <a:ext cx="218750" cy="2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sz="103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5" name="body_text"/>
          <p:cNvSpPr txBox="1"/>
          <p:nvPr/>
        </p:nvSpPr>
        <p:spPr>
          <a:xfrm>
            <a:off x="4666677" y="1458336"/>
            <a:ext cx="729168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大瓦特 2.1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body_text"/>
          <p:cNvSpPr txBox="1"/>
          <p:nvPr/>
        </p:nvSpPr>
        <p:spPr>
          <a:xfrm>
            <a:off x="5395845" y="1458336"/>
            <a:ext cx="437501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AD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2026.06</a:t>
            </a:r>
            <a:endParaRPr sz="690" b="0" i="0">
              <a:solidFill>
                <a:srgbClr val="AAD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7" name="body_text"/>
          <p:cNvSpPr txBox="1"/>
          <p:nvPr/>
        </p:nvSpPr>
        <p:spPr>
          <a:xfrm>
            <a:off x="4666677" y="1677087"/>
            <a:ext cx="1020835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00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定位：架构协同化</a:t>
            </a:r>
            <a:endParaRPr sz="805" b="1" i="0">
              <a:solidFill>
                <a:srgbClr val="00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body_text"/>
          <p:cNvSpPr txBox="1"/>
          <p:nvPr/>
        </p:nvSpPr>
        <p:spPr>
          <a:xfrm>
            <a:off x="4958344" y="2552089"/>
            <a:ext cx="291667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FFC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</a:t>
            </a:r>
            <a:endParaRPr sz="690" b="1" i="0">
              <a:solidFill>
                <a:srgbClr val="FFC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body_text"/>
          <p:cNvSpPr txBox="1"/>
          <p:nvPr/>
        </p:nvSpPr>
        <p:spPr>
          <a:xfrm>
            <a:off x="4666677" y="2770839"/>
            <a:ext cx="1020835" cy="4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上线 MoE 架构微调模型，实现专家协同、任务分流和多业务域协同，按需调用专业能力。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body_text"/>
          <p:cNvSpPr txBox="1"/>
          <p:nvPr/>
        </p:nvSpPr>
        <p:spPr>
          <a:xfrm>
            <a:off x="6270848" y="1239586"/>
            <a:ext cx="218750" cy="2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endParaRPr sz="103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1" name="body_text"/>
          <p:cNvSpPr txBox="1"/>
          <p:nvPr/>
        </p:nvSpPr>
        <p:spPr>
          <a:xfrm>
            <a:off x="6125014" y="1458336"/>
            <a:ext cx="729168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大瓦特 2.2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body_text"/>
          <p:cNvSpPr txBox="1"/>
          <p:nvPr/>
        </p:nvSpPr>
        <p:spPr>
          <a:xfrm>
            <a:off x="6854182" y="1458336"/>
            <a:ext cx="437501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AD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2026.08</a:t>
            </a:r>
            <a:endParaRPr sz="690" b="0" i="0">
              <a:solidFill>
                <a:srgbClr val="AAD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3" name="body_text"/>
          <p:cNvSpPr txBox="1"/>
          <p:nvPr/>
        </p:nvSpPr>
        <p:spPr>
          <a:xfrm>
            <a:off x="6125014" y="1677087"/>
            <a:ext cx="1020835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00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定位：推理原生化</a:t>
            </a:r>
            <a:endParaRPr sz="805" b="1" i="0">
              <a:solidFill>
                <a:srgbClr val="00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body_text"/>
          <p:cNvSpPr txBox="1"/>
          <p:nvPr/>
        </p:nvSpPr>
        <p:spPr>
          <a:xfrm>
            <a:off x="6416681" y="2552089"/>
            <a:ext cx="291667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FFC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</a:t>
            </a:r>
            <a:endParaRPr sz="690" b="1" i="0">
              <a:solidFill>
                <a:srgbClr val="FFC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body_text"/>
          <p:cNvSpPr txBox="1"/>
          <p:nvPr/>
        </p:nvSpPr>
        <p:spPr>
          <a:xfrm>
            <a:off x="6125014" y="2770839"/>
            <a:ext cx="1020835" cy="4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引入强化学习与慢思考机制，增强逻辑推理、知识增强和工具调用能力。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body_text"/>
          <p:cNvSpPr txBox="1"/>
          <p:nvPr/>
        </p:nvSpPr>
        <p:spPr>
          <a:xfrm>
            <a:off x="7729184" y="1239586"/>
            <a:ext cx="218750" cy="2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</a:t>
            </a:r>
            <a:endParaRPr sz="103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7" name="body_text"/>
          <p:cNvSpPr txBox="1"/>
          <p:nvPr/>
        </p:nvSpPr>
        <p:spPr>
          <a:xfrm>
            <a:off x="7583351" y="1458336"/>
            <a:ext cx="729168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大瓦特 3.0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body_text"/>
          <p:cNvSpPr txBox="1"/>
          <p:nvPr/>
        </p:nvSpPr>
        <p:spPr>
          <a:xfrm>
            <a:off x="8312519" y="1458336"/>
            <a:ext cx="437501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AD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2026.01</a:t>
            </a:r>
            <a:endParaRPr sz="690" b="0" i="0">
              <a:solidFill>
                <a:srgbClr val="AAD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9" name="body_text"/>
          <p:cNvSpPr txBox="1"/>
          <p:nvPr/>
        </p:nvSpPr>
        <p:spPr>
          <a:xfrm>
            <a:off x="7583351" y="1677087"/>
            <a:ext cx="1020835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00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定位：工业图纸化</a:t>
            </a:r>
            <a:endParaRPr sz="805" b="1" i="0">
              <a:solidFill>
                <a:srgbClr val="00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body_text"/>
          <p:cNvSpPr txBox="1"/>
          <p:nvPr/>
        </p:nvSpPr>
        <p:spPr>
          <a:xfrm>
            <a:off x="7875018" y="2552089"/>
            <a:ext cx="291667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FFC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</a:t>
            </a:r>
            <a:endParaRPr sz="690" b="1" i="0">
              <a:solidFill>
                <a:srgbClr val="FFC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body_text"/>
          <p:cNvSpPr txBox="1"/>
          <p:nvPr/>
        </p:nvSpPr>
        <p:spPr>
          <a:xfrm>
            <a:off x="7583351" y="2770839"/>
            <a:ext cx="1020835" cy="4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行业首发电力多模态工业图纸模型，具备图纸解析、规则校核和辅助设计能力。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body_text"/>
          <p:cNvSpPr txBox="1"/>
          <p:nvPr/>
        </p:nvSpPr>
        <p:spPr>
          <a:xfrm>
            <a:off x="9187521" y="1239586"/>
            <a:ext cx="218750" cy="2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</a:t>
            </a:r>
            <a:endParaRPr sz="103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3" name="body_text"/>
          <p:cNvSpPr txBox="1"/>
          <p:nvPr/>
        </p:nvSpPr>
        <p:spPr>
          <a:xfrm>
            <a:off x="9041687" y="1458336"/>
            <a:ext cx="729168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大瓦特 3.1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body_text"/>
          <p:cNvSpPr txBox="1"/>
          <p:nvPr/>
        </p:nvSpPr>
        <p:spPr>
          <a:xfrm>
            <a:off x="9770856" y="1458336"/>
            <a:ext cx="437501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AD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2027.04</a:t>
            </a:r>
            <a:endParaRPr sz="690" b="0" i="0">
              <a:solidFill>
                <a:srgbClr val="AAD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5" name="body_text"/>
          <p:cNvSpPr txBox="1"/>
          <p:nvPr/>
        </p:nvSpPr>
        <p:spPr>
          <a:xfrm>
            <a:off x="9041687" y="1677087"/>
            <a:ext cx="1020835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00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定位：拓扑认知化</a:t>
            </a:r>
            <a:endParaRPr sz="805" b="1" i="0">
              <a:solidFill>
                <a:srgbClr val="00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body_text"/>
          <p:cNvSpPr txBox="1"/>
          <p:nvPr/>
        </p:nvSpPr>
        <p:spPr>
          <a:xfrm>
            <a:off x="9333355" y="2552089"/>
            <a:ext cx="291667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FFC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</a:t>
            </a:r>
            <a:endParaRPr sz="690" b="1" i="0">
              <a:solidFill>
                <a:srgbClr val="FFC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body_text"/>
          <p:cNvSpPr txBox="1"/>
          <p:nvPr/>
        </p:nvSpPr>
        <p:spPr>
          <a:xfrm>
            <a:off x="9041687" y="2770839"/>
            <a:ext cx="1020835" cy="4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融合多源数据，构建“图像—设备—空间—拓扑”联合推理能力，形成电力行业结构化认知壁垒。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body_text"/>
          <p:cNvSpPr txBox="1"/>
          <p:nvPr/>
        </p:nvSpPr>
        <p:spPr>
          <a:xfrm>
            <a:off x="10645858" y="1239586"/>
            <a:ext cx="218750" cy="2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</a:t>
            </a:r>
            <a:endParaRPr sz="103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9" name="body_text"/>
          <p:cNvSpPr txBox="1"/>
          <p:nvPr/>
        </p:nvSpPr>
        <p:spPr>
          <a:xfrm>
            <a:off x="10500024" y="1458336"/>
            <a:ext cx="729168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大瓦特 4.0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body_text"/>
          <p:cNvSpPr txBox="1"/>
          <p:nvPr/>
        </p:nvSpPr>
        <p:spPr>
          <a:xfrm>
            <a:off x="11229192" y="1458336"/>
            <a:ext cx="437501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AD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2027.12</a:t>
            </a:r>
            <a:endParaRPr sz="690" b="0" i="0">
              <a:solidFill>
                <a:srgbClr val="AAD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1" name="body_text"/>
          <p:cNvSpPr txBox="1"/>
          <p:nvPr/>
        </p:nvSpPr>
        <p:spPr>
          <a:xfrm>
            <a:off x="10500024" y="1677087"/>
            <a:ext cx="1020835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00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定位：世界模型化</a:t>
            </a:r>
            <a:endParaRPr sz="805" b="1" i="0">
              <a:solidFill>
                <a:srgbClr val="00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body_text"/>
          <p:cNvSpPr txBox="1"/>
          <p:nvPr/>
        </p:nvSpPr>
        <p:spPr>
          <a:xfrm>
            <a:off x="10791691" y="2552089"/>
            <a:ext cx="291667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FFC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</a:t>
            </a:r>
            <a:endParaRPr sz="690" b="1" i="0">
              <a:solidFill>
                <a:srgbClr val="FFC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body_text"/>
          <p:cNvSpPr txBox="1"/>
          <p:nvPr/>
        </p:nvSpPr>
        <p:spPr>
          <a:xfrm>
            <a:off x="10500024" y="2770839"/>
            <a:ext cx="1020835" cy="4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发布电力多模态世界模型，实现物理仿真与智能推演、从理解现场迈向推演现场、辅助决策。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body_text"/>
          <p:cNvSpPr txBox="1"/>
          <p:nvPr/>
        </p:nvSpPr>
        <p:spPr>
          <a:xfrm>
            <a:off x="5322929" y="3135424"/>
            <a:ext cx="1458336" cy="2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统一服务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body_text"/>
          <p:cNvSpPr txBox="1"/>
          <p:nvPr/>
        </p:nvSpPr>
        <p:spPr>
          <a:xfrm>
            <a:off x="4375010" y="3500008"/>
            <a:ext cx="3441674" cy="291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电力专业多模态能力引擎</a:t>
            </a:r>
            <a:endParaRPr sz="13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body_text"/>
          <p:cNvSpPr txBox="1"/>
          <p:nvPr/>
        </p:nvSpPr>
        <p:spPr>
          <a:xfrm>
            <a:off x="3281257" y="3937509"/>
            <a:ext cx="1166669" cy="4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统一业务底座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业务驱动·场景普惠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body_text"/>
          <p:cNvSpPr txBox="1"/>
          <p:nvPr/>
        </p:nvSpPr>
        <p:spPr>
          <a:xfrm>
            <a:off x="4739594" y="3937509"/>
            <a:ext cx="1166669" cy="4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统一数据底座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数据融合·知识增强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body_text"/>
          <p:cNvSpPr txBox="1"/>
          <p:nvPr/>
        </p:nvSpPr>
        <p:spPr>
          <a:xfrm>
            <a:off x="6197931" y="3937509"/>
            <a:ext cx="1166669" cy="4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统一技术底座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算法领先·工程可靠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body_text"/>
          <p:cNvSpPr txBox="1"/>
          <p:nvPr/>
        </p:nvSpPr>
        <p:spPr>
          <a:xfrm>
            <a:off x="4375010" y="4520843"/>
            <a:ext cx="3441674" cy="2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AAD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全域数据融合与知识沉淀</a:t>
            </a:r>
            <a:endParaRPr sz="920" b="1" i="0">
              <a:solidFill>
                <a:srgbClr val="AAD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body_text"/>
          <p:cNvSpPr txBox="1"/>
          <p:nvPr/>
        </p:nvSpPr>
        <p:spPr>
          <a:xfrm>
            <a:off x="2916673" y="4958344"/>
            <a:ext cx="583334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AD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电网生产域</a:t>
            </a:r>
            <a:endParaRPr sz="690" b="0" i="0">
              <a:solidFill>
                <a:srgbClr val="AAD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" name="body_text"/>
          <p:cNvSpPr txBox="1"/>
          <p:nvPr/>
        </p:nvSpPr>
        <p:spPr>
          <a:xfrm>
            <a:off x="4010426" y="4958344"/>
            <a:ext cx="583334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AD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设备资产域</a:t>
            </a:r>
            <a:endParaRPr sz="690" b="0" i="0">
              <a:solidFill>
                <a:srgbClr val="AAD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body_text"/>
          <p:cNvSpPr txBox="1"/>
          <p:nvPr/>
        </p:nvSpPr>
        <p:spPr>
          <a:xfrm>
            <a:off x="5104178" y="4958344"/>
            <a:ext cx="583334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AD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营销服务域</a:t>
            </a:r>
            <a:endParaRPr sz="690" b="0" i="0">
              <a:solidFill>
                <a:srgbClr val="AAD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body_text"/>
          <p:cNvSpPr txBox="1"/>
          <p:nvPr/>
        </p:nvSpPr>
        <p:spPr>
          <a:xfrm>
            <a:off x="6197931" y="4958344"/>
            <a:ext cx="583334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AD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安全管理域</a:t>
            </a:r>
            <a:endParaRPr sz="690" b="0" i="0">
              <a:solidFill>
                <a:srgbClr val="AAD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body_text"/>
          <p:cNvSpPr txBox="1"/>
          <p:nvPr/>
        </p:nvSpPr>
        <p:spPr>
          <a:xfrm>
            <a:off x="7291683" y="4958344"/>
            <a:ext cx="583334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AD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外部环境域</a:t>
            </a:r>
            <a:endParaRPr sz="690" b="0" i="0">
              <a:solidFill>
                <a:srgbClr val="AAD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body_text"/>
          <p:cNvSpPr txBox="1"/>
          <p:nvPr/>
        </p:nvSpPr>
        <p:spPr>
          <a:xfrm>
            <a:off x="291667" y="3718758"/>
            <a:ext cx="1020835" cy="4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业务生态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多业务域协同赋能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" name="body_text"/>
          <p:cNvSpPr txBox="1"/>
          <p:nvPr/>
        </p:nvSpPr>
        <p:spPr>
          <a:xfrm>
            <a:off x="291667" y="4447927"/>
            <a:ext cx="1020835" cy="4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模型生态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多模态模型协同演进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" name="body_text"/>
          <p:cNvSpPr txBox="1"/>
          <p:nvPr/>
        </p:nvSpPr>
        <p:spPr>
          <a:xfrm>
            <a:off x="10864608" y="3718758"/>
            <a:ext cx="1020835" cy="4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知识生态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电力专业知识体系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body_text"/>
          <p:cNvSpPr txBox="1"/>
          <p:nvPr/>
        </p:nvSpPr>
        <p:spPr>
          <a:xfrm>
            <a:off x="10864608" y="4447927"/>
            <a:ext cx="1020835" cy="4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工具生态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工具链与应用集成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" name="body_text"/>
          <p:cNvSpPr txBox="1"/>
          <p:nvPr/>
        </p:nvSpPr>
        <p:spPr>
          <a:xfrm>
            <a:off x="218750" y="5687513"/>
            <a:ext cx="729168" cy="291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FFC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演进路径</a:t>
            </a:r>
            <a:endParaRPr sz="1375" b="1" i="0">
              <a:solidFill>
                <a:srgbClr val="FFC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" name="body_text"/>
          <p:cNvSpPr txBox="1"/>
          <p:nvPr/>
        </p:nvSpPr>
        <p:spPr>
          <a:xfrm>
            <a:off x="1093752" y="6270848"/>
            <a:ext cx="729168" cy="364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服务化入口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打通能力入口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1" name="body_text"/>
          <p:cNvSpPr txBox="1"/>
          <p:nvPr/>
        </p:nvSpPr>
        <p:spPr>
          <a:xfrm>
            <a:off x="2187505" y="6270848"/>
            <a:ext cx="729168" cy="364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规模化跃升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提升模型规模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2" name="body_text"/>
          <p:cNvSpPr txBox="1"/>
          <p:nvPr/>
        </p:nvSpPr>
        <p:spPr>
          <a:xfrm>
            <a:off x="3281257" y="6270848"/>
            <a:ext cx="729168" cy="364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行业专业化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深耕电力场景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body_text"/>
          <p:cNvSpPr txBox="1"/>
          <p:nvPr/>
        </p:nvSpPr>
        <p:spPr>
          <a:xfrm>
            <a:off x="4375010" y="6270848"/>
            <a:ext cx="729168" cy="364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架构协同化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专家协同智能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body_text"/>
          <p:cNvSpPr txBox="1"/>
          <p:nvPr/>
        </p:nvSpPr>
        <p:spPr>
          <a:xfrm>
            <a:off x="5468762" y="6270848"/>
            <a:ext cx="729168" cy="364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推理原生化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强化推理能力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5" name="body_text"/>
          <p:cNvSpPr txBox="1"/>
          <p:nvPr/>
        </p:nvSpPr>
        <p:spPr>
          <a:xfrm>
            <a:off x="6562515" y="6270848"/>
            <a:ext cx="729168" cy="364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工业图纸化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理解工程图纸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6" name="body_text"/>
          <p:cNvSpPr txBox="1"/>
          <p:nvPr/>
        </p:nvSpPr>
        <p:spPr>
          <a:xfrm>
            <a:off x="7656267" y="6270848"/>
            <a:ext cx="729168" cy="364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拓扑认知化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推理电网结构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7" name="body_text"/>
          <p:cNvSpPr txBox="1"/>
          <p:nvPr/>
        </p:nvSpPr>
        <p:spPr>
          <a:xfrm>
            <a:off x="8750020" y="6270848"/>
            <a:ext cx="729168" cy="364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世界模型化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仿真推演决策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757</Words>
  <Application>WPS 演示</Application>
  <PresentationFormat>On-screen Show (4:3)</PresentationFormat>
  <Paragraphs>165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Image2PPT Deck</dc:title>
  <dc:creator/>
  <dc:description>generated using python-pptx</dc:description>
  <dc:subject>Generated by bggg-creator-image2ppt</dc:subject>
  <cp:lastModifiedBy>Brown</cp:lastModifiedBy>
  <cp:revision>2</cp:revision>
  <dcterms:created xsi:type="dcterms:W3CDTF">2013-01-27T09:14:00Z</dcterms:created>
  <dcterms:modified xsi:type="dcterms:W3CDTF">2026-06-02T08:56:01Z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A5A0154D40224404A25EF6CE8D73354E_12</vt:lpwstr>
  </property>
  <property fmtid="{D5CDD505-2E9C-101B-9397-08002B2CF9AE}" pid="3" name="KSOProductBuildVer">
    <vt:lpwstr>2052-12.1.0.26375</vt:lpwstr>
  </property>
</Properties>
</file>