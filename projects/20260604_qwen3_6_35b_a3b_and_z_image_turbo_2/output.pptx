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61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8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5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lobe_top_r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010" y="0"/>
            <a:ext cx="2459355" cy="1809115"/>
          </a:xfrm>
          <a:prstGeom prst="rect">
            <a:avLst/>
          </a:prstGeom>
        </p:spPr>
      </p:pic>
      <p:pic>
        <p:nvPicPr>
          <p:cNvPr id="27" name="Picture 26" descr="power_pylons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4645" cy="2078990"/>
          </a:xfrm>
          <a:prstGeom prst="rect">
            <a:avLst/>
          </a:prstGeom>
        </p:spPr>
      </p:pic>
      <p:pic>
        <p:nvPicPr>
          <p:cNvPr id="29" name="Picture 28" descr="central_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56" y="3500332"/>
            <a:ext cx="9275021" cy="1822920"/>
          </a:xfrm>
          <a:prstGeom prst="rect">
            <a:avLst/>
          </a:prstGeom>
        </p:spPr>
      </p:pic>
      <p:pic>
        <p:nvPicPr>
          <p:cNvPr id="30" name="Picture 29" descr="timeline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3" y="1458336"/>
            <a:ext cx="11900027" cy="145833"/>
          </a:xfrm>
          <a:prstGeom prst="rect">
            <a:avLst/>
          </a:prstGeom>
        </p:spPr>
      </p:pic>
      <p:sp>
        <p:nvSpPr>
          <p:cNvPr id="3" name="Timeline Box 1"/>
          <p:cNvSpPr/>
          <p:nvPr/>
        </p:nvSpPr>
        <p:spPr>
          <a:xfrm>
            <a:off x="145833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meline Box 2"/>
          <p:cNvSpPr/>
          <p:nvPr/>
        </p:nvSpPr>
        <p:spPr>
          <a:xfrm>
            <a:off x="1604170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line Box 3"/>
          <p:cNvSpPr/>
          <p:nvPr/>
        </p:nvSpPr>
        <p:spPr>
          <a:xfrm>
            <a:off x="3062507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 Box 4"/>
          <p:cNvSpPr/>
          <p:nvPr/>
        </p:nvSpPr>
        <p:spPr>
          <a:xfrm>
            <a:off x="4520843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Box 5"/>
          <p:cNvSpPr/>
          <p:nvPr/>
        </p:nvSpPr>
        <p:spPr>
          <a:xfrm>
            <a:off x="5979180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Box 6"/>
          <p:cNvSpPr/>
          <p:nvPr/>
        </p:nvSpPr>
        <p:spPr>
          <a:xfrm>
            <a:off x="7437517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Box 7"/>
          <p:cNvSpPr/>
          <p:nvPr/>
        </p:nvSpPr>
        <p:spPr>
          <a:xfrm>
            <a:off x="8895854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Box 8"/>
          <p:cNvSpPr/>
          <p:nvPr/>
        </p:nvSpPr>
        <p:spPr>
          <a:xfrm>
            <a:off x="10354190" y="1604170"/>
            <a:ext cx="1312503" cy="1822920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ircle 1"/>
          <p:cNvSpPr/>
          <p:nvPr/>
        </p:nvSpPr>
        <p:spPr>
          <a:xfrm>
            <a:off x="510417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ircle 2"/>
          <p:cNvSpPr/>
          <p:nvPr/>
        </p:nvSpPr>
        <p:spPr>
          <a:xfrm>
            <a:off x="1968754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ircle 3"/>
          <p:cNvSpPr/>
          <p:nvPr/>
        </p:nvSpPr>
        <p:spPr>
          <a:xfrm>
            <a:off x="3427091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ircle 4"/>
          <p:cNvSpPr/>
          <p:nvPr/>
        </p:nvSpPr>
        <p:spPr>
          <a:xfrm>
            <a:off x="4885428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ircle 5"/>
          <p:cNvSpPr/>
          <p:nvPr/>
        </p:nvSpPr>
        <p:spPr>
          <a:xfrm>
            <a:off x="6343764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ircle 6"/>
          <p:cNvSpPr/>
          <p:nvPr/>
        </p:nvSpPr>
        <p:spPr>
          <a:xfrm>
            <a:off x="7802101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ircle 7"/>
          <p:cNvSpPr/>
          <p:nvPr/>
        </p:nvSpPr>
        <p:spPr>
          <a:xfrm>
            <a:off x="9260438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ircle 8"/>
          <p:cNvSpPr/>
          <p:nvPr/>
        </p:nvSpPr>
        <p:spPr>
          <a:xfrm>
            <a:off x="10718775" y="1312503"/>
            <a:ext cx="291667" cy="291667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ide Box 1"/>
          <p:cNvSpPr/>
          <p:nvPr/>
        </p:nvSpPr>
        <p:spPr>
          <a:xfrm>
            <a:off x="145833" y="3500008"/>
            <a:ext cx="1312503" cy="583334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ide Box 2"/>
          <p:cNvSpPr/>
          <p:nvPr/>
        </p:nvSpPr>
        <p:spPr>
          <a:xfrm>
            <a:off x="145833" y="4229176"/>
            <a:ext cx="1312503" cy="583334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ide Box 3"/>
          <p:cNvSpPr/>
          <p:nvPr/>
        </p:nvSpPr>
        <p:spPr>
          <a:xfrm>
            <a:off x="10718775" y="3500008"/>
            <a:ext cx="1312503" cy="583334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ide Box 4"/>
          <p:cNvSpPr/>
          <p:nvPr/>
        </p:nvSpPr>
        <p:spPr>
          <a:xfrm>
            <a:off x="10718775" y="4229176"/>
            <a:ext cx="1312503" cy="583334"/>
          </a:xfrm>
          <a:prstGeom prst="roundRect">
            <a:avLst/>
          </a:prstGeom>
          <a:solidFill>
            <a:srgbClr val="0B1E3D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ngine Oval 1"/>
          <p:cNvSpPr/>
          <p:nvPr/>
        </p:nvSpPr>
        <p:spPr>
          <a:xfrm>
            <a:off x="2552089" y="3791675"/>
            <a:ext cx="1822920" cy="437501"/>
          </a:xfrm>
          <a:prstGeom prst="ellipse">
            <a:avLst/>
          </a:prstGeom>
          <a:solidFill>
            <a:srgbClr val="0055A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ngine Oval 2"/>
          <p:cNvSpPr/>
          <p:nvPr/>
        </p:nvSpPr>
        <p:spPr>
          <a:xfrm>
            <a:off x="4739594" y="3791675"/>
            <a:ext cx="1822920" cy="437501"/>
          </a:xfrm>
          <a:prstGeom prst="ellipse">
            <a:avLst/>
          </a:prstGeom>
          <a:solidFill>
            <a:srgbClr val="0055A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ngine Oval 3"/>
          <p:cNvSpPr/>
          <p:nvPr/>
        </p:nvSpPr>
        <p:spPr>
          <a:xfrm>
            <a:off x="6927099" y="3791675"/>
            <a:ext cx="1822920" cy="437501"/>
          </a:xfrm>
          <a:prstGeom prst="ellipse">
            <a:avLst/>
          </a:prstGeom>
          <a:solidFill>
            <a:srgbClr val="0055A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rvice Button"/>
          <p:cNvSpPr/>
          <p:nvPr/>
        </p:nvSpPr>
        <p:spPr>
          <a:xfrm>
            <a:off x="5104178" y="3135424"/>
            <a:ext cx="1983337" cy="218750"/>
          </a:xfrm>
          <a:prstGeom prst="roundRect">
            <a:avLst/>
          </a:prstGeom>
          <a:solidFill>
            <a:srgbClr val="0055A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_step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34" y="2041671"/>
            <a:ext cx="583334" cy="583334"/>
          </a:xfrm>
          <a:prstGeom prst="rect">
            <a:avLst/>
          </a:prstGeom>
        </p:spPr>
      </p:pic>
      <p:pic>
        <p:nvPicPr>
          <p:cNvPr id="32" name="Picture 31" descr="icon_step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671" y="2041671"/>
            <a:ext cx="583334" cy="583334"/>
          </a:xfrm>
          <a:prstGeom prst="rect">
            <a:avLst/>
          </a:prstGeom>
        </p:spPr>
      </p:pic>
      <p:pic>
        <p:nvPicPr>
          <p:cNvPr id="33" name="Picture 32" descr="icon_step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008" y="2041671"/>
            <a:ext cx="583334" cy="583334"/>
          </a:xfrm>
          <a:prstGeom prst="rect">
            <a:avLst/>
          </a:prstGeom>
        </p:spPr>
      </p:pic>
      <p:pic>
        <p:nvPicPr>
          <p:cNvPr id="34" name="Picture 33" descr="icon_step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8344" y="2041671"/>
            <a:ext cx="583334" cy="583334"/>
          </a:xfrm>
          <a:prstGeom prst="rect">
            <a:avLst/>
          </a:prstGeom>
        </p:spPr>
      </p:pic>
      <p:pic>
        <p:nvPicPr>
          <p:cNvPr id="35" name="Picture 34" descr="icon_step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6681" y="2041671"/>
            <a:ext cx="583334" cy="583334"/>
          </a:xfrm>
          <a:prstGeom prst="rect">
            <a:avLst/>
          </a:prstGeom>
        </p:spPr>
      </p:pic>
      <p:pic>
        <p:nvPicPr>
          <p:cNvPr id="36" name="Picture 35" descr="icon_step_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5018" y="2041671"/>
            <a:ext cx="583334" cy="583334"/>
          </a:xfrm>
          <a:prstGeom prst="rect">
            <a:avLst/>
          </a:prstGeom>
        </p:spPr>
      </p:pic>
      <p:pic>
        <p:nvPicPr>
          <p:cNvPr id="37" name="Picture 36" descr="icon_step_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3355" y="2041671"/>
            <a:ext cx="583334" cy="583334"/>
          </a:xfrm>
          <a:prstGeom prst="rect">
            <a:avLst/>
          </a:prstGeom>
        </p:spPr>
      </p:pic>
      <p:pic>
        <p:nvPicPr>
          <p:cNvPr id="38" name="Picture 37" descr="icon_step_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1691" y="2041671"/>
            <a:ext cx="583334" cy="583334"/>
          </a:xfrm>
          <a:prstGeom prst="rect">
            <a:avLst/>
          </a:prstGeom>
        </p:spPr>
      </p:pic>
      <p:pic>
        <p:nvPicPr>
          <p:cNvPr id="39" name="Picture 38" descr="icon_business_ec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50" y="3572925"/>
            <a:ext cx="291667" cy="291667"/>
          </a:xfrm>
          <a:prstGeom prst="rect">
            <a:avLst/>
          </a:prstGeom>
        </p:spPr>
      </p:pic>
      <p:pic>
        <p:nvPicPr>
          <p:cNvPr id="40" name="Picture 39" descr="icon_model_ec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750" y="4302093"/>
            <a:ext cx="291667" cy="291667"/>
          </a:xfrm>
          <a:prstGeom prst="rect">
            <a:avLst/>
          </a:prstGeom>
        </p:spPr>
      </p:pic>
      <p:pic>
        <p:nvPicPr>
          <p:cNvPr id="41" name="Picture 40" descr="icon_knowledge_ec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1583" y="3572925"/>
            <a:ext cx="291667" cy="291667"/>
          </a:xfrm>
          <a:prstGeom prst="rect">
            <a:avLst/>
          </a:prstGeom>
        </p:spPr>
      </p:pic>
      <p:pic>
        <p:nvPicPr>
          <p:cNvPr id="42" name="Picture 41" descr="icon_tool_ec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91583" y="4338923"/>
            <a:ext cx="291667" cy="291667"/>
          </a:xfrm>
          <a:prstGeom prst="rect">
            <a:avLst/>
          </a:prstGeom>
        </p:spPr>
      </p:pic>
      <p:pic>
        <p:nvPicPr>
          <p:cNvPr id="43" name="Picture 42" descr="icon_bottom_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168" y="5833346"/>
            <a:ext cx="437501" cy="437501"/>
          </a:xfrm>
          <a:prstGeom prst="rect">
            <a:avLst/>
          </a:prstGeom>
        </p:spPr>
      </p:pic>
      <p:pic>
        <p:nvPicPr>
          <p:cNvPr id="44" name="Picture 43" descr="icon_bottom_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22920" y="5833346"/>
            <a:ext cx="437501" cy="437501"/>
          </a:xfrm>
          <a:prstGeom prst="rect">
            <a:avLst/>
          </a:prstGeom>
        </p:spPr>
      </p:pic>
      <p:pic>
        <p:nvPicPr>
          <p:cNvPr id="45" name="Picture 44" descr="icon_bottom_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16673" y="5833346"/>
            <a:ext cx="437501" cy="437501"/>
          </a:xfrm>
          <a:prstGeom prst="rect">
            <a:avLst/>
          </a:prstGeom>
        </p:spPr>
      </p:pic>
      <p:pic>
        <p:nvPicPr>
          <p:cNvPr id="46" name="Picture 45" descr="icon_bottom_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10426" y="5833346"/>
            <a:ext cx="437501" cy="437501"/>
          </a:xfrm>
          <a:prstGeom prst="rect">
            <a:avLst/>
          </a:prstGeom>
        </p:spPr>
      </p:pic>
      <p:pic>
        <p:nvPicPr>
          <p:cNvPr id="47" name="Picture 46" descr="icon_bottom_5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04178" y="5833346"/>
            <a:ext cx="437501" cy="437501"/>
          </a:xfrm>
          <a:prstGeom prst="rect">
            <a:avLst/>
          </a:prstGeom>
        </p:spPr>
      </p:pic>
      <p:pic>
        <p:nvPicPr>
          <p:cNvPr id="48" name="Picture 47" descr="icon_bottom_6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97931" y="5833346"/>
            <a:ext cx="437501" cy="437501"/>
          </a:xfrm>
          <a:prstGeom prst="rect">
            <a:avLst/>
          </a:prstGeom>
        </p:spPr>
      </p:pic>
      <p:pic>
        <p:nvPicPr>
          <p:cNvPr id="49" name="Picture 48" descr="icon_bottom_7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91683" y="5833346"/>
            <a:ext cx="437501" cy="437501"/>
          </a:xfrm>
          <a:prstGeom prst="rect">
            <a:avLst/>
          </a:prstGeom>
        </p:spPr>
      </p:pic>
      <p:pic>
        <p:nvPicPr>
          <p:cNvPr id="50" name="Picture 49" descr="icon_bottom_8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5436" y="5833346"/>
            <a:ext cx="437501" cy="437501"/>
          </a:xfrm>
          <a:prstGeom prst="rect">
            <a:avLst/>
          </a:prstGeom>
        </p:spPr>
      </p:pic>
      <p:sp>
        <p:nvSpPr>
          <p:cNvPr id="51" name="titles"/>
          <p:cNvSpPr txBox="1"/>
          <p:nvPr/>
        </p:nvSpPr>
        <p:spPr>
          <a:xfrm>
            <a:off x="2552089" y="218750"/>
            <a:ext cx="7087516" cy="583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5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"大瓦特" 演进路线图</a:t>
            </a:r>
            <a:endParaRPr sz="275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itles"/>
          <p:cNvSpPr txBox="1"/>
          <p:nvPr/>
        </p:nvSpPr>
        <p:spPr>
          <a:xfrm>
            <a:off x="4739594" y="838543"/>
            <a:ext cx="2712506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路标与核心亮点</a:t>
            </a:r>
            <a:endParaRPr sz="137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itles"/>
          <p:cNvSpPr txBox="1"/>
          <p:nvPr/>
        </p:nvSpPr>
        <p:spPr>
          <a:xfrm>
            <a:off x="4375010" y="1130210"/>
            <a:ext cx="3441674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从多模态服务化迈向电力世界模型</a:t>
            </a:r>
            <a:endParaRPr sz="92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itles"/>
          <p:cNvSpPr txBox="1"/>
          <p:nvPr/>
        </p:nvSpPr>
        <p:spPr>
          <a:xfrm>
            <a:off x="145833" y="5468762"/>
            <a:ext cx="729168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演进路径</a:t>
            </a:r>
            <a:endParaRPr sz="183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body_text"/>
          <p:cNvSpPr txBox="1"/>
          <p:nvPr/>
        </p:nvSpPr>
        <p:spPr>
          <a:xfrm>
            <a:off x="510836" y="1348698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body_text"/>
          <p:cNvSpPr txBox="1"/>
          <p:nvPr/>
        </p:nvSpPr>
        <p:spPr>
          <a:xfrm>
            <a:off x="218750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1.0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body_text"/>
          <p:cNvSpPr txBox="1"/>
          <p:nvPr/>
        </p:nvSpPr>
        <p:spPr>
          <a:xfrm>
            <a:off x="1020835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2025.05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body_text"/>
          <p:cNvSpPr txBox="1"/>
          <p:nvPr/>
        </p:nvSpPr>
        <p:spPr>
          <a:xfrm>
            <a:off x="218750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定位：多模态服务化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body_text"/>
          <p:cNvSpPr txBox="1"/>
          <p:nvPr/>
        </p:nvSpPr>
        <p:spPr>
          <a:xfrm>
            <a:off x="218750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body_text"/>
          <p:cNvSpPr txBox="1"/>
          <p:nvPr/>
        </p:nvSpPr>
        <p:spPr>
          <a:xfrm>
            <a:off x="218750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建成南网首个，电力多模态能力入口，成功适配国产算力，实现全自主安全可控。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body_text"/>
          <p:cNvSpPr txBox="1"/>
          <p:nvPr/>
        </p:nvSpPr>
        <p:spPr>
          <a:xfrm>
            <a:off x="1969173" y="1312503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body_text"/>
          <p:cNvSpPr txBox="1"/>
          <p:nvPr/>
        </p:nvSpPr>
        <p:spPr>
          <a:xfrm>
            <a:off x="1677087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1.1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body_text"/>
          <p:cNvSpPr txBox="1"/>
          <p:nvPr/>
        </p:nvSpPr>
        <p:spPr>
          <a:xfrm>
            <a:off x="2479172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2025.12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body_text"/>
          <p:cNvSpPr txBox="1"/>
          <p:nvPr/>
        </p:nvSpPr>
        <p:spPr>
          <a:xfrm>
            <a:off x="1677087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定位：能力规模化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body_text"/>
          <p:cNvSpPr txBox="1"/>
          <p:nvPr/>
        </p:nvSpPr>
        <p:spPr>
          <a:xfrm>
            <a:off x="1677087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body_text"/>
          <p:cNvSpPr txBox="1"/>
          <p:nvPr/>
        </p:nvSpPr>
        <p:spPr>
          <a:xfrm>
            <a:off x="1677087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底座全面迭代升级，正式备千亿级参规模型能力。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body_text"/>
          <p:cNvSpPr txBox="1"/>
          <p:nvPr/>
        </p:nvSpPr>
        <p:spPr>
          <a:xfrm>
            <a:off x="3426875" y="1312503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body_text"/>
          <p:cNvSpPr txBox="1"/>
          <p:nvPr/>
        </p:nvSpPr>
        <p:spPr>
          <a:xfrm>
            <a:off x="3135424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2.0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body_text"/>
          <p:cNvSpPr txBox="1"/>
          <p:nvPr/>
        </p:nvSpPr>
        <p:spPr>
          <a:xfrm>
            <a:off x="3937509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2026.04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" name="body_text"/>
          <p:cNvSpPr txBox="1"/>
          <p:nvPr/>
        </p:nvSpPr>
        <p:spPr>
          <a:xfrm>
            <a:off x="3135424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定位：行业专业化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body_text"/>
          <p:cNvSpPr txBox="1"/>
          <p:nvPr/>
        </p:nvSpPr>
        <p:spPr>
          <a:xfrm>
            <a:off x="3135424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body_text"/>
          <p:cNvSpPr txBox="1"/>
          <p:nvPr/>
        </p:nvSpPr>
        <p:spPr>
          <a:xfrm>
            <a:off x="3135424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完成72B行业微调模型全面升级，强化电力专业能力，高效流转典型业务场景。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body_text"/>
          <p:cNvSpPr txBox="1"/>
          <p:nvPr/>
        </p:nvSpPr>
        <p:spPr>
          <a:xfrm>
            <a:off x="4885846" y="1312503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body_text"/>
          <p:cNvSpPr txBox="1"/>
          <p:nvPr/>
        </p:nvSpPr>
        <p:spPr>
          <a:xfrm>
            <a:off x="4593760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2.1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body_text"/>
          <p:cNvSpPr txBox="1"/>
          <p:nvPr/>
        </p:nvSpPr>
        <p:spPr>
          <a:xfrm>
            <a:off x="5395845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2026.06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body_text"/>
          <p:cNvSpPr txBox="1"/>
          <p:nvPr/>
        </p:nvSpPr>
        <p:spPr>
          <a:xfrm>
            <a:off x="4593760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定位：架构协同化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body_text"/>
          <p:cNvSpPr txBox="1"/>
          <p:nvPr/>
        </p:nvSpPr>
        <p:spPr>
          <a:xfrm>
            <a:off x="4593760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body_text"/>
          <p:cNvSpPr txBox="1"/>
          <p:nvPr/>
        </p:nvSpPr>
        <p:spPr>
          <a:xfrm>
            <a:off x="4593760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 MoE 架构微调模型，实现专家协同、任务分流和多业务域协同，按需调用专业能力。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body_text"/>
          <p:cNvSpPr txBox="1"/>
          <p:nvPr/>
        </p:nvSpPr>
        <p:spPr>
          <a:xfrm>
            <a:off x="6343548" y="1312503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body_text"/>
          <p:cNvSpPr txBox="1"/>
          <p:nvPr/>
        </p:nvSpPr>
        <p:spPr>
          <a:xfrm>
            <a:off x="6052097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2.2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body_text"/>
          <p:cNvSpPr txBox="1"/>
          <p:nvPr/>
        </p:nvSpPr>
        <p:spPr>
          <a:xfrm>
            <a:off x="6854182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2026.08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body_text"/>
          <p:cNvSpPr txBox="1"/>
          <p:nvPr/>
        </p:nvSpPr>
        <p:spPr>
          <a:xfrm>
            <a:off x="6052097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定位：推理原生化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body_text"/>
          <p:cNvSpPr txBox="1"/>
          <p:nvPr/>
        </p:nvSpPr>
        <p:spPr>
          <a:xfrm>
            <a:off x="6052097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body_text"/>
          <p:cNvSpPr txBox="1"/>
          <p:nvPr/>
        </p:nvSpPr>
        <p:spPr>
          <a:xfrm>
            <a:off x="6052097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引入强化学习与慢思考机制，增强逻辑推理、知识增强和工具调用能力。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body_text"/>
          <p:cNvSpPr txBox="1"/>
          <p:nvPr/>
        </p:nvSpPr>
        <p:spPr>
          <a:xfrm>
            <a:off x="7817125" y="1312503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6" name="body_text"/>
          <p:cNvSpPr txBox="1"/>
          <p:nvPr/>
        </p:nvSpPr>
        <p:spPr>
          <a:xfrm>
            <a:off x="7510434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3.0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body_text"/>
          <p:cNvSpPr txBox="1"/>
          <p:nvPr/>
        </p:nvSpPr>
        <p:spPr>
          <a:xfrm>
            <a:off x="8312519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2026.01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body_text"/>
          <p:cNvSpPr txBox="1"/>
          <p:nvPr/>
        </p:nvSpPr>
        <p:spPr>
          <a:xfrm>
            <a:off x="7510434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定位：工业图纸化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body_text"/>
          <p:cNvSpPr txBox="1"/>
          <p:nvPr/>
        </p:nvSpPr>
        <p:spPr>
          <a:xfrm>
            <a:off x="7510434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body_text"/>
          <p:cNvSpPr txBox="1"/>
          <p:nvPr/>
        </p:nvSpPr>
        <p:spPr>
          <a:xfrm>
            <a:off x="7510434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行业首发电力多模态工业图纸模型，具备图纸解析、规则校核和辅助设计能力。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body_text"/>
          <p:cNvSpPr txBox="1"/>
          <p:nvPr/>
        </p:nvSpPr>
        <p:spPr>
          <a:xfrm>
            <a:off x="9260222" y="1348698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body_text"/>
          <p:cNvSpPr txBox="1"/>
          <p:nvPr/>
        </p:nvSpPr>
        <p:spPr>
          <a:xfrm>
            <a:off x="8968770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3.1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body_text"/>
          <p:cNvSpPr txBox="1"/>
          <p:nvPr/>
        </p:nvSpPr>
        <p:spPr>
          <a:xfrm>
            <a:off x="9770856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2027.04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body_text"/>
          <p:cNvSpPr txBox="1"/>
          <p:nvPr/>
        </p:nvSpPr>
        <p:spPr>
          <a:xfrm>
            <a:off x="8968770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定位：拓扑认知化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body_text"/>
          <p:cNvSpPr txBox="1"/>
          <p:nvPr/>
        </p:nvSpPr>
        <p:spPr>
          <a:xfrm>
            <a:off x="8968770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body_text"/>
          <p:cNvSpPr txBox="1"/>
          <p:nvPr/>
        </p:nvSpPr>
        <p:spPr>
          <a:xfrm>
            <a:off x="8968770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融合多源数据，构建“图像—设备—空间—拓扑”联合推理能力，形成电力行业结构化认知壁垒。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body_text"/>
          <p:cNvSpPr txBox="1"/>
          <p:nvPr/>
        </p:nvSpPr>
        <p:spPr>
          <a:xfrm>
            <a:off x="10718558" y="1348698"/>
            <a:ext cx="291667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137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body_text"/>
          <p:cNvSpPr txBox="1"/>
          <p:nvPr/>
        </p:nvSpPr>
        <p:spPr>
          <a:xfrm>
            <a:off x="10427107" y="1604170"/>
            <a:ext cx="729168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大瓦特 4.0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body_text"/>
          <p:cNvSpPr txBox="1"/>
          <p:nvPr/>
        </p:nvSpPr>
        <p:spPr>
          <a:xfrm>
            <a:off x="11229192" y="1604170"/>
            <a:ext cx="437501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 i="0">
                <a:solidFill>
                  <a:srgbClr val="AAD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2027.12</a:t>
            </a:r>
            <a:endParaRPr sz="805" b="0" i="0">
              <a:solidFill>
                <a:srgbClr val="AAD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" name="body_text"/>
          <p:cNvSpPr txBox="1"/>
          <p:nvPr/>
        </p:nvSpPr>
        <p:spPr>
          <a:xfrm>
            <a:off x="10427107" y="1822920"/>
            <a:ext cx="1166669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00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定位：世界模型化</a:t>
            </a:r>
            <a:endParaRPr sz="920" b="1" i="0">
              <a:solidFill>
                <a:srgbClr val="00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body_text"/>
          <p:cNvSpPr txBox="1"/>
          <p:nvPr/>
        </p:nvSpPr>
        <p:spPr>
          <a:xfrm>
            <a:off x="10427107" y="2333338"/>
            <a:ext cx="291667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1" i="0">
                <a:solidFill>
                  <a:srgbClr val="FFCC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endParaRPr sz="805" b="1" i="0">
              <a:solidFill>
                <a:srgbClr val="FFCC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body_text"/>
          <p:cNvSpPr txBox="1"/>
          <p:nvPr/>
        </p:nvSpPr>
        <p:spPr>
          <a:xfrm>
            <a:off x="10427107" y="2552089"/>
            <a:ext cx="1166669" cy="4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CCCC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发布电力多模态世界模型，实现物理仿真与智能推演、从理解现场迈向推演现场、辅助决策。</a:t>
            </a:r>
            <a:endParaRPr sz="690" b="0" i="0">
              <a:solidFill>
                <a:srgbClr val="CCCC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body_text"/>
          <p:cNvSpPr txBox="1"/>
          <p:nvPr/>
        </p:nvSpPr>
        <p:spPr>
          <a:xfrm>
            <a:off x="5468762" y="3135424"/>
            <a:ext cx="1254169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统一服务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body_text"/>
          <p:cNvSpPr txBox="1"/>
          <p:nvPr/>
        </p:nvSpPr>
        <p:spPr>
          <a:xfrm>
            <a:off x="4010426" y="3354174"/>
            <a:ext cx="4170843" cy="291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电力专业多模态能力引擎</a:t>
            </a:r>
            <a:endParaRPr sz="13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body_text"/>
          <p:cNvSpPr txBox="1"/>
          <p:nvPr/>
        </p:nvSpPr>
        <p:spPr>
          <a:xfrm>
            <a:off x="2770839" y="3864592"/>
            <a:ext cx="1312503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统一业务底座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body_text"/>
          <p:cNvSpPr txBox="1"/>
          <p:nvPr/>
        </p:nvSpPr>
        <p:spPr>
          <a:xfrm>
            <a:off x="2770839" y="4046884"/>
            <a:ext cx="1312503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业务驱动·场景普惠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body_text"/>
          <p:cNvSpPr txBox="1"/>
          <p:nvPr/>
        </p:nvSpPr>
        <p:spPr>
          <a:xfrm>
            <a:off x="4958344" y="3864592"/>
            <a:ext cx="1312503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统一数据底座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body_text"/>
          <p:cNvSpPr txBox="1"/>
          <p:nvPr/>
        </p:nvSpPr>
        <p:spPr>
          <a:xfrm>
            <a:off x="4958344" y="4046884"/>
            <a:ext cx="1312503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数据融合·知识增强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body_text"/>
          <p:cNvSpPr txBox="1"/>
          <p:nvPr/>
        </p:nvSpPr>
        <p:spPr>
          <a:xfrm>
            <a:off x="7145850" y="3864592"/>
            <a:ext cx="1312503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统一技术底座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body_text"/>
          <p:cNvSpPr txBox="1"/>
          <p:nvPr/>
        </p:nvSpPr>
        <p:spPr>
          <a:xfrm>
            <a:off x="7145850" y="4046884"/>
            <a:ext cx="1312503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算法领先·工程可靠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body_text"/>
          <p:cNvSpPr txBox="1"/>
          <p:nvPr/>
        </p:nvSpPr>
        <p:spPr>
          <a:xfrm>
            <a:off x="4010426" y="4520843"/>
            <a:ext cx="4170843" cy="2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3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全域数据融合与知识沉淀</a:t>
            </a:r>
            <a:endParaRPr sz="103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body_text"/>
          <p:cNvSpPr txBox="1"/>
          <p:nvPr/>
        </p:nvSpPr>
        <p:spPr>
          <a:xfrm>
            <a:off x="510526" y="3608485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业务生态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body_text"/>
          <p:cNvSpPr txBox="1"/>
          <p:nvPr/>
        </p:nvSpPr>
        <p:spPr>
          <a:xfrm>
            <a:off x="510526" y="3755217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多业务域协同赋能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body_text"/>
          <p:cNvSpPr txBox="1"/>
          <p:nvPr/>
        </p:nvSpPr>
        <p:spPr>
          <a:xfrm>
            <a:off x="510526" y="430209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模型生态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body_text"/>
          <p:cNvSpPr txBox="1"/>
          <p:nvPr/>
        </p:nvSpPr>
        <p:spPr>
          <a:xfrm>
            <a:off x="495921" y="4484385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多模态模型协同演进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body_text"/>
          <p:cNvSpPr txBox="1"/>
          <p:nvPr/>
        </p:nvSpPr>
        <p:spPr>
          <a:xfrm>
            <a:off x="11084210" y="3609120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知识生态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body_text"/>
          <p:cNvSpPr txBox="1"/>
          <p:nvPr/>
        </p:nvSpPr>
        <p:spPr>
          <a:xfrm>
            <a:off x="11010550" y="3791412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电力专业知识体系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body_text"/>
          <p:cNvSpPr txBox="1"/>
          <p:nvPr/>
        </p:nvSpPr>
        <p:spPr>
          <a:xfrm>
            <a:off x="11084845" y="430209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工具生态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body_text"/>
          <p:cNvSpPr txBox="1"/>
          <p:nvPr/>
        </p:nvSpPr>
        <p:spPr>
          <a:xfrm>
            <a:off x="11083575" y="4484385"/>
            <a:ext cx="1020835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工具链与应用集成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body_text"/>
          <p:cNvSpPr txBox="1"/>
          <p:nvPr/>
        </p:nvSpPr>
        <p:spPr>
          <a:xfrm>
            <a:off x="1822920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电网生产域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body_text"/>
          <p:cNvSpPr txBox="1"/>
          <p:nvPr/>
        </p:nvSpPr>
        <p:spPr>
          <a:xfrm>
            <a:off x="3281257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设备资产域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body_text"/>
          <p:cNvSpPr txBox="1"/>
          <p:nvPr/>
        </p:nvSpPr>
        <p:spPr>
          <a:xfrm>
            <a:off x="4739594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营销服务域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body_text"/>
          <p:cNvSpPr txBox="1"/>
          <p:nvPr/>
        </p:nvSpPr>
        <p:spPr>
          <a:xfrm>
            <a:off x="6197931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body_text"/>
          <p:cNvSpPr txBox="1"/>
          <p:nvPr/>
        </p:nvSpPr>
        <p:spPr>
          <a:xfrm>
            <a:off x="7656267" y="5104178"/>
            <a:ext cx="583334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外部环境域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body_text"/>
          <p:cNvSpPr txBox="1"/>
          <p:nvPr/>
        </p:nvSpPr>
        <p:spPr>
          <a:xfrm>
            <a:off x="729168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服务化入口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body_text"/>
          <p:cNvSpPr txBox="1"/>
          <p:nvPr/>
        </p:nvSpPr>
        <p:spPr>
          <a:xfrm>
            <a:off x="729168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打通能力入口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body_text"/>
          <p:cNvSpPr txBox="1"/>
          <p:nvPr/>
        </p:nvSpPr>
        <p:spPr>
          <a:xfrm>
            <a:off x="1822920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规模化跃升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body_text"/>
          <p:cNvSpPr txBox="1"/>
          <p:nvPr/>
        </p:nvSpPr>
        <p:spPr>
          <a:xfrm>
            <a:off x="1822920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提升模型规模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body_text"/>
          <p:cNvSpPr txBox="1"/>
          <p:nvPr/>
        </p:nvSpPr>
        <p:spPr>
          <a:xfrm>
            <a:off x="2916673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行业专业化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body_text"/>
          <p:cNvSpPr txBox="1"/>
          <p:nvPr/>
        </p:nvSpPr>
        <p:spPr>
          <a:xfrm>
            <a:off x="2916673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深耕电力场景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body_text"/>
          <p:cNvSpPr txBox="1"/>
          <p:nvPr/>
        </p:nvSpPr>
        <p:spPr>
          <a:xfrm>
            <a:off x="4010426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架构协同化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body_text"/>
          <p:cNvSpPr txBox="1"/>
          <p:nvPr/>
        </p:nvSpPr>
        <p:spPr>
          <a:xfrm>
            <a:off x="4010426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专家协同智能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body_text"/>
          <p:cNvSpPr txBox="1"/>
          <p:nvPr/>
        </p:nvSpPr>
        <p:spPr>
          <a:xfrm>
            <a:off x="5104178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推理原生化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body_text"/>
          <p:cNvSpPr txBox="1"/>
          <p:nvPr/>
        </p:nvSpPr>
        <p:spPr>
          <a:xfrm>
            <a:off x="5104178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强化推理能力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body_text"/>
          <p:cNvSpPr txBox="1"/>
          <p:nvPr/>
        </p:nvSpPr>
        <p:spPr>
          <a:xfrm>
            <a:off x="6197931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工业图纸化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body_text"/>
          <p:cNvSpPr txBox="1"/>
          <p:nvPr/>
        </p:nvSpPr>
        <p:spPr>
          <a:xfrm>
            <a:off x="6197931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理解工程图纸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body_text"/>
          <p:cNvSpPr txBox="1"/>
          <p:nvPr/>
        </p:nvSpPr>
        <p:spPr>
          <a:xfrm>
            <a:off x="7291683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拓扑认知化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body_text"/>
          <p:cNvSpPr txBox="1"/>
          <p:nvPr/>
        </p:nvSpPr>
        <p:spPr>
          <a:xfrm>
            <a:off x="7291683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推理电网结构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body_text"/>
          <p:cNvSpPr txBox="1"/>
          <p:nvPr/>
        </p:nvSpPr>
        <p:spPr>
          <a:xfrm>
            <a:off x="8385436" y="6416681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世界模型化</a:t>
            </a:r>
            <a:endParaRPr sz="92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body_text"/>
          <p:cNvSpPr txBox="1"/>
          <p:nvPr/>
        </p:nvSpPr>
        <p:spPr>
          <a:xfrm>
            <a:off x="8385436" y="6598973"/>
            <a:ext cx="729168" cy="145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AD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仿真推演决策</a:t>
            </a:r>
            <a:endParaRPr sz="690" b="0" i="0">
              <a:solidFill>
                <a:srgbClr val="AAD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WPS 演示</Application>
  <PresentationFormat>On-screen Show (4:3)</PresentationFormat>
  <Paragraphs>180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creator/>
  <dc:description>generated using python-pptx</dc:description>
  <dc:subject>Generated by bggg-creator-image2ppt</dc:subject>
  <cp:lastModifiedBy>Brown</cp:lastModifiedBy>
  <cp:revision>2</cp:revision>
  <dcterms:created xsi:type="dcterms:W3CDTF">2013-01-27T09:14:00Z</dcterms:created>
  <dcterms:modified xsi:type="dcterms:W3CDTF">2026-06-04T02:55:57Z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B4EAE9E029D94B33831784DB1BBED253_12</vt:lpwstr>
  </property>
  <property fmtid="{D5CDD505-2E9C-101B-9397-08002B2CF9AE}" pid="3" name="KSOProductBuildVer">
    <vt:lpwstr>2052-12.1.0.26375</vt:lpwstr>
  </property>
</Properties>
</file>