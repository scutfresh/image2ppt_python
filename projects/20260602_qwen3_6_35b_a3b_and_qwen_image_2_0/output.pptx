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95212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91695" cy="695212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olumn 1 Background"/>
          <p:cNvSpPr/>
          <p:nvPr/>
        </p:nvSpPr>
        <p:spPr>
          <a:xfrm>
            <a:off x="203874" y="1325184"/>
            <a:ext cx="3669741" cy="4281364"/>
          </a:xfrm>
          <a:prstGeom prst="roundRect">
            <a:avLst/>
          </a:prstGeom>
          <a:solidFill>
            <a:srgbClr val="FFFFFF"/>
          </a:solidFill>
          <a:ln w="10193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olumn 2 Background"/>
          <p:cNvSpPr/>
          <p:nvPr/>
        </p:nvSpPr>
        <p:spPr>
          <a:xfrm>
            <a:off x="4077490" y="1325184"/>
            <a:ext cx="3669741" cy="4281364"/>
          </a:xfrm>
          <a:prstGeom prst="roundRect">
            <a:avLst/>
          </a:prstGeom>
          <a:solidFill>
            <a:srgbClr val="FFFFFF"/>
          </a:solidFill>
          <a:ln w="10193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olumn 3 Background"/>
          <p:cNvSpPr/>
          <p:nvPr/>
        </p:nvSpPr>
        <p:spPr>
          <a:xfrm>
            <a:off x="7951105" y="1325184"/>
            <a:ext cx="3669741" cy="4281364"/>
          </a:xfrm>
          <a:prstGeom prst="roundRect">
            <a:avLst/>
          </a:prstGeom>
          <a:solidFill>
            <a:srgbClr val="FFFFFF"/>
          </a:solidFill>
          <a:ln w="10193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ottom Left Background"/>
          <p:cNvSpPr/>
          <p:nvPr/>
        </p:nvSpPr>
        <p:spPr>
          <a:xfrm>
            <a:off x="203874" y="5810423"/>
            <a:ext cx="5096862" cy="917435"/>
          </a:xfrm>
          <a:prstGeom prst="roundRect">
            <a:avLst/>
          </a:prstGeom>
          <a:solidFill>
            <a:srgbClr val="FFFFFF"/>
          </a:solidFill>
          <a:ln w="10193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Bottom Right Background"/>
          <p:cNvSpPr/>
          <p:nvPr/>
        </p:nvSpPr>
        <p:spPr>
          <a:xfrm>
            <a:off x="7951105" y="5810423"/>
            <a:ext cx="3669741" cy="917435"/>
          </a:xfrm>
          <a:prstGeom prst="roundRect">
            <a:avLst/>
          </a:prstGeom>
          <a:solidFill>
            <a:srgbClr val="FFFFFF"/>
          </a:solidFill>
          <a:ln w="10193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ol 1 Header"/>
          <p:cNvSpPr/>
          <p:nvPr/>
        </p:nvSpPr>
        <p:spPr>
          <a:xfrm>
            <a:off x="203874" y="1325184"/>
            <a:ext cx="3669741" cy="509686"/>
          </a:xfrm>
          <a:prstGeom prst="round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ol 2 Header"/>
          <p:cNvSpPr/>
          <p:nvPr/>
        </p:nvSpPr>
        <p:spPr>
          <a:xfrm>
            <a:off x="4077490" y="1325184"/>
            <a:ext cx="3669741" cy="509686"/>
          </a:xfrm>
          <a:prstGeom prst="round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ol 3 Header"/>
          <p:cNvSpPr/>
          <p:nvPr/>
        </p:nvSpPr>
        <p:spPr>
          <a:xfrm>
            <a:off x="7951105" y="1325184"/>
            <a:ext cx="3669741" cy="509686"/>
          </a:xfrm>
          <a:prstGeom prst="round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ol 2 Input Section"/>
          <p:cNvSpPr/>
          <p:nvPr/>
        </p:nvSpPr>
        <p:spPr>
          <a:xfrm>
            <a:off x="4281364" y="1834870"/>
            <a:ext cx="3261992" cy="611623"/>
          </a:xfrm>
          <a:prstGeom prst="roundRect">
            <a:avLst/>
          </a:prstGeom>
          <a:solidFill>
            <a:srgbClr val="F0F8FF"/>
          </a:solidFill>
          <a:ln w="10193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ol 2 Model Section"/>
          <p:cNvSpPr/>
          <p:nvPr/>
        </p:nvSpPr>
        <p:spPr>
          <a:xfrm>
            <a:off x="4281364" y="2854243"/>
            <a:ext cx="3261992" cy="611623"/>
          </a:xfrm>
          <a:prstGeom prst="roundRect">
            <a:avLst/>
          </a:prstGeom>
          <a:solidFill>
            <a:srgbClr val="F0FFF0"/>
          </a:solidFill>
          <a:ln w="10193">
            <a:solidFill>
              <a:srgbClr val="90EE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ol 2 Output Section"/>
          <p:cNvSpPr/>
          <p:nvPr/>
        </p:nvSpPr>
        <p:spPr>
          <a:xfrm>
            <a:off x="4281364" y="3873615"/>
            <a:ext cx="3261992" cy="611623"/>
          </a:xfrm>
          <a:prstGeom prst="roundRect">
            <a:avLst/>
          </a:prstGeom>
          <a:solidFill>
            <a:srgbClr val="F8F0FF"/>
          </a:solidFill>
          <a:ln w="10193">
            <a:solidFill>
              <a:srgbClr val="DD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ol 2 Warning Banner"/>
          <p:cNvSpPr/>
          <p:nvPr/>
        </p:nvSpPr>
        <p:spPr>
          <a:xfrm>
            <a:off x="4485239" y="4587176"/>
            <a:ext cx="1223247" cy="305811"/>
          </a:xfrm>
          <a:prstGeom prst="round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ol 3 Top Row Boxes"/>
          <p:cNvSpPr/>
          <p:nvPr/>
        </p:nvSpPr>
        <p:spPr>
          <a:xfrm>
            <a:off x="8154980" y="1834870"/>
            <a:ext cx="3261992" cy="509686"/>
          </a:xfrm>
          <a:prstGeom prst="roundRect">
            <a:avLst/>
          </a:prstGeom>
          <a:solidFill>
            <a:srgbClr val="FFFFFF"/>
          </a:solidFill>
          <a:ln w="10193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ol 3 Bottom Boxes"/>
          <p:cNvSpPr/>
          <p:nvPr/>
        </p:nvSpPr>
        <p:spPr>
          <a:xfrm>
            <a:off x="8358854" y="4587176"/>
            <a:ext cx="3058117" cy="407749"/>
          </a:xfrm>
          <a:prstGeom prst="roundRect">
            <a:avLst/>
          </a:prstGeom>
          <a:solidFill>
            <a:srgbClr val="FFFFFF"/>
          </a:solidFill>
          <a:ln w="10193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Bottom Left Banner"/>
          <p:cNvSpPr/>
          <p:nvPr/>
        </p:nvSpPr>
        <p:spPr>
          <a:xfrm>
            <a:off x="1529058" y="5708486"/>
            <a:ext cx="1630996" cy="305811"/>
          </a:xfrm>
          <a:prstGeom prst="round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ottom Right Banner"/>
          <p:cNvSpPr/>
          <p:nvPr/>
        </p:nvSpPr>
        <p:spPr>
          <a:xfrm>
            <a:off x="8358854" y="5708486"/>
            <a:ext cx="1427121" cy="305811"/>
          </a:xfrm>
          <a:prstGeom prst="round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column_1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372" y="2038745"/>
            <a:ext cx="2038745" cy="2548431"/>
          </a:xfrm>
          <a:prstGeom prst="rect">
            <a:avLst/>
          </a:prstGeom>
        </p:spPr>
      </p:pic>
      <p:pic>
        <p:nvPicPr>
          <p:cNvPr id="20" name="Picture 19" descr="column_2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1364" y="2038745"/>
            <a:ext cx="3261992" cy="3058117"/>
          </a:xfrm>
          <a:prstGeom prst="rect">
            <a:avLst/>
          </a:prstGeom>
        </p:spPr>
      </p:pic>
      <p:pic>
        <p:nvPicPr>
          <p:cNvPr id="21" name="Picture 20" descr="column_3_diagra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4980" y="2038745"/>
            <a:ext cx="3058117" cy="2854243"/>
          </a:xfrm>
          <a:prstGeom prst="rect">
            <a:avLst/>
          </a:prstGeom>
        </p:spPr>
      </p:pic>
      <p:pic>
        <p:nvPicPr>
          <p:cNvPr id="22" name="Picture 21" descr="bottom_left_diagra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7749" y="6014297"/>
            <a:ext cx="4689113" cy="611623"/>
          </a:xfrm>
          <a:prstGeom prst="rect">
            <a:avLst/>
          </a:prstGeom>
        </p:spPr>
      </p:pic>
      <p:pic>
        <p:nvPicPr>
          <p:cNvPr id="23" name="Picture 22" descr="bottom_right_icon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54980" y="6116235"/>
            <a:ext cx="2854243" cy="407749"/>
          </a:xfrm>
          <a:prstGeom prst="rect">
            <a:avLst/>
          </a:prstGeom>
        </p:spPr>
      </p:pic>
      <p:pic>
        <p:nvPicPr>
          <p:cNvPr id="24" name="Picture 23" descr="robot_ico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81364" y="4892988"/>
            <a:ext cx="407749" cy="407749"/>
          </a:xfrm>
          <a:prstGeom prst="rect">
            <a:avLst/>
          </a:prstGeom>
        </p:spPr>
      </p:pic>
      <p:sp>
        <p:nvSpPr>
          <p:cNvPr id="25" name="titles"/>
          <p:cNvSpPr txBox="1"/>
          <p:nvPr/>
        </p:nvSpPr>
        <p:spPr>
          <a:xfrm>
            <a:off x="1019372" y="305811"/>
            <a:ext cx="10193725" cy="5096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47" b="1" i="0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rPr>
              <a:t>从深度对齐到安全可控：构建电力专属大模型价值观与工程护栏</a:t>
            </a:r>
          </a:p>
        </p:txBody>
      </p:sp>
      <p:sp>
        <p:nvSpPr>
          <p:cNvPr id="26" name="titles"/>
          <p:cNvSpPr txBox="1"/>
          <p:nvPr/>
        </p:nvSpPr>
        <p:spPr>
          <a:xfrm>
            <a:off x="3058117" y="917435"/>
            <a:ext cx="6116235" cy="3058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84" b="0" i="0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通过强化学习、安全护栏与知识增强，确保模型专业、可靠、可控</a:t>
            </a:r>
          </a:p>
        </p:txBody>
      </p:sp>
      <p:sp>
        <p:nvSpPr>
          <p:cNvPr id="27" name="titles"/>
          <p:cNvSpPr txBox="1"/>
          <p:nvPr/>
        </p:nvSpPr>
        <p:spPr>
          <a:xfrm>
            <a:off x="407749" y="1427121"/>
            <a:ext cx="407749" cy="4077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26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8" name="titles"/>
          <p:cNvSpPr txBox="1"/>
          <p:nvPr/>
        </p:nvSpPr>
        <p:spPr>
          <a:xfrm>
            <a:off x="917435" y="1478090"/>
            <a:ext cx="2854243" cy="3058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44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行业意图对齐 (RLHF / DPO)</a:t>
            </a:r>
          </a:p>
        </p:txBody>
      </p:sp>
      <p:sp>
        <p:nvSpPr>
          <p:cNvPr id="29" name="titles"/>
          <p:cNvSpPr txBox="1"/>
          <p:nvPr/>
        </p:nvSpPr>
        <p:spPr>
          <a:xfrm>
            <a:off x="4281364" y="1427121"/>
            <a:ext cx="407749" cy="4077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26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30" name="titles"/>
          <p:cNvSpPr txBox="1"/>
          <p:nvPr/>
        </p:nvSpPr>
        <p:spPr>
          <a:xfrm>
            <a:off x="4791050" y="1478090"/>
            <a:ext cx="2854243" cy="3058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44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原生安全护栏 (Guardrails)</a:t>
            </a:r>
          </a:p>
        </p:txBody>
      </p:sp>
      <p:sp>
        <p:nvSpPr>
          <p:cNvPr id="31" name="titles"/>
          <p:cNvSpPr txBox="1"/>
          <p:nvPr/>
        </p:nvSpPr>
        <p:spPr>
          <a:xfrm>
            <a:off x="8154980" y="1427121"/>
            <a:ext cx="407749" cy="4077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26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32" name="titles"/>
          <p:cNvSpPr txBox="1"/>
          <p:nvPr/>
        </p:nvSpPr>
        <p:spPr>
          <a:xfrm>
            <a:off x="8664666" y="1478090"/>
            <a:ext cx="3058117" cy="3058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44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知识增强与工程闭环 (RAG &amp; Harness)</a:t>
            </a:r>
          </a:p>
        </p:txBody>
      </p:sp>
      <p:sp>
        <p:nvSpPr>
          <p:cNvPr id="33" name="body_text"/>
          <p:cNvSpPr txBox="1"/>
          <p:nvPr/>
        </p:nvSpPr>
        <p:spPr>
          <a:xfrm>
            <a:off x="1630996" y="1936807"/>
            <a:ext cx="815498" cy="2038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63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专家偏好反馈</a:t>
            </a:r>
          </a:p>
        </p:txBody>
      </p:sp>
      <p:sp>
        <p:nvSpPr>
          <p:cNvPr id="34" name="body_text"/>
          <p:cNvSpPr txBox="1"/>
          <p:nvPr/>
        </p:nvSpPr>
        <p:spPr>
          <a:xfrm>
            <a:off x="407749" y="2446494"/>
            <a:ext cx="611623" cy="2038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63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业务专家</a:t>
            </a:r>
          </a:p>
        </p:txBody>
      </p:sp>
      <p:sp>
        <p:nvSpPr>
          <p:cNvPr id="35" name="body_text"/>
          <p:cNvSpPr txBox="1"/>
          <p:nvPr/>
        </p:nvSpPr>
        <p:spPr>
          <a:xfrm>
            <a:off x="407749" y="2854243"/>
            <a:ext cx="611623" cy="2038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63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安全专家</a:t>
            </a:r>
          </a:p>
        </p:txBody>
      </p:sp>
      <p:sp>
        <p:nvSpPr>
          <p:cNvPr id="36" name="body_text"/>
          <p:cNvSpPr txBox="1"/>
          <p:nvPr/>
        </p:nvSpPr>
        <p:spPr>
          <a:xfrm>
            <a:off x="407749" y="3261992"/>
            <a:ext cx="611623" cy="2038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63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运行专家</a:t>
            </a:r>
          </a:p>
        </p:txBody>
      </p:sp>
      <p:sp>
        <p:nvSpPr>
          <p:cNvPr id="37" name="body_text"/>
          <p:cNvSpPr txBox="1"/>
          <p:nvPr/>
        </p:nvSpPr>
        <p:spPr>
          <a:xfrm>
            <a:off x="1019372" y="3669741"/>
            <a:ext cx="815498" cy="2038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63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安全规则内化</a:t>
            </a:r>
          </a:p>
        </p:txBody>
      </p:sp>
      <p:sp>
        <p:nvSpPr>
          <p:cNvPr id="38" name="body_text"/>
          <p:cNvSpPr txBox="1"/>
          <p:nvPr/>
        </p:nvSpPr>
        <p:spPr>
          <a:xfrm>
            <a:off x="1630996" y="3465866"/>
            <a:ext cx="815498" cy="4077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63" b="1" i="0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rPr>
              <a:t>SFT基础能力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63" b="1" i="0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rPr>
              <a:t>(多模态)</a:t>
            </a:r>
          </a:p>
        </p:txBody>
      </p:sp>
      <p:sp>
        <p:nvSpPr>
          <p:cNvPr id="39" name="body_text"/>
          <p:cNvSpPr txBox="1"/>
          <p:nvPr/>
        </p:nvSpPr>
        <p:spPr>
          <a:xfrm>
            <a:off x="2446494" y="3465866"/>
            <a:ext cx="611623" cy="4077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63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奖励模型/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63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偏好优化</a:t>
            </a:r>
          </a:p>
        </p:txBody>
      </p:sp>
      <p:sp>
        <p:nvSpPr>
          <p:cNvPr id="40" name="body_text"/>
          <p:cNvSpPr txBox="1"/>
          <p:nvPr/>
        </p:nvSpPr>
        <p:spPr>
          <a:xfrm>
            <a:off x="1630996" y="4485239"/>
            <a:ext cx="815498" cy="2038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63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现场经验对齐</a:t>
            </a:r>
          </a:p>
        </p:txBody>
      </p:sp>
      <p:sp>
        <p:nvSpPr>
          <p:cNvPr id="41" name="body_text"/>
          <p:cNvSpPr txBox="1"/>
          <p:nvPr/>
        </p:nvSpPr>
        <p:spPr>
          <a:xfrm>
            <a:off x="407749" y="5096862"/>
            <a:ext cx="407749" cy="2038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63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文本</a:t>
            </a:r>
          </a:p>
        </p:txBody>
      </p:sp>
      <p:sp>
        <p:nvSpPr>
          <p:cNvPr id="42" name="body_text"/>
          <p:cNvSpPr txBox="1"/>
          <p:nvPr/>
        </p:nvSpPr>
        <p:spPr>
          <a:xfrm>
            <a:off x="917435" y="5096862"/>
            <a:ext cx="407749" cy="2038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63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图像</a:t>
            </a:r>
          </a:p>
        </p:txBody>
      </p:sp>
      <p:sp>
        <p:nvSpPr>
          <p:cNvPr id="43" name="body_text"/>
          <p:cNvSpPr txBox="1"/>
          <p:nvPr/>
        </p:nvSpPr>
        <p:spPr>
          <a:xfrm>
            <a:off x="1427121" y="5096862"/>
            <a:ext cx="407749" cy="2038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63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图纸</a:t>
            </a:r>
          </a:p>
        </p:txBody>
      </p:sp>
      <p:sp>
        <p:nvSpPr>
          <p:cNvPr id="44" name="body_text"/>
          <p:cNvSpPr txBox="1"/>
          <p:nvPr/>
        </p:nvSpPr>
        <p:spPr>
          <a:xfrm>
            <a:off x="1936807" y="5096862"/>
            <a:ext cx="407749" cy="2038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63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时序</a:t>
            </a:r>
          </a:p>
        </p:txBody>
      </p:sp>
      <p:sp>
        <p:nvSpPr>
          <p:cNvPr id="45" name="body_text"/>
          <p:cNvSpPr txBox="1"/>
          <p:nvPr/>
        </p:nvSpPr>
        <p:spPr>
          <a:xfrm>
            <a:off x="2446494" y="5096862"/>
            <a:ext cx="611623" cy="2038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63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结构化</a:t>
            </a:r>
          </a:p>
        </p:txBody>
      </p:sp>
      <p:sp>
        <p:nvSpPr>
          <p:cNvPr id="46" name="body_text"/>
          <p:cNvSpPr txBox="1"/>
          <p:nvPr/>
        </p:nvSpPr>
        <p:spPr>
          <a:xfrm>
            <a:off x="407749" y="5402674"/>
            <a:ext cx="3058117" cy="2038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63" b="0" i="0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让模型不仅答得对，更看得准、答得稳、答得像专家</a:t>
            </a:r>
          </a:p>
        </p:txBody>
      </p:sp>
      <p:sp>
        <p:nvSpPr>
          <p:cNvPr id="47" name="body_text"/>
          <p:cNvSpPr txBox="1"/>
          <p:nvPr/>
        </p:nvSpPr>
        <p:spPr>
          <a:xfrm>
            <a:off x="4485239" y="1936807"/>
            <a:ext cx="1223247" cy="2038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63" b="1" i="0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输入端 (多模态过滤)</a:t>
            </a:r>
          </a:p>
        </p:txBody>
      </p:sp>
      <p:sp>
        <p:nvSpPr>
          <p:cNvPr id="48" name="body_text"/>
          <p:cNvSpPr txBox="1"/>
          <p:nvPr/>
        </p:nvSpPr>
        <p:spPr>
          <a:xfrm>
            <a:off x="4485239" y="2344556"/>
            <a:ext cx="509686" cy="2038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2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文本过滤</a:t>
            </a:r>
          </a:p>
        </p:txBody>
      </p:sp>
      <p:sp>
        <p:nvSpPr>
          <p:cNvPr id="49" name="body_text"/>
          <p:cNvSpPr txBox="1"/>
          <p:nvPr/>
        </p:nvSpPr>
        <p:spPr>
          <a:xfrm>
            <a:off x="5096862" y="2344556"/>
            <a:ext cx="509686" cy="2038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2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图像过滤</a:t>
            </a:r>
          </a:p>
        </p:txBody>
      </p:sp>
      <p:sp>
        <p:nvSpPr>
          <p:cNvPr id="50" name="body_text"/>
          <p:cNvSpPr txBox="1"/>
          <p:nvPr/>
        </p:nvSpPr>
        <p:spPr>
          <a:xfrm>
            <a:off x="5708486" y="2344556"/>
            <a:ext cx="509686" cy="2038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2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图纸过滤</a:t>
            </a:r>
          </a:p>
        </p:txBody>
      </p:sp>
      <p:sp>
        <p:nvSpPr>
          <p:cNvPr id="51" name="body_text"/>
          <p:cNvSpPr txBox="1"/>
          <p:nvPr/>
        </p:nvSpPr>
        <p:spPr>
          <a:xfrm>
            <a:off x="6320109" y="2344556"/>
            <a:ext cx="509686" cy="2038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2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时序过滤</a:t>
            </a:r>
          </a:p>
        </p:txBody>
      </p:sp>
      <p:sp>
        <p:nvSpPr>
          <p:cNvPr id="52" name="body_text"/>
          <p:cNvSpPr txBox="1"/>
          <p:nvPr/>
        </p:nvSpPr>
        <p:spPr>
          <a:xfrm>
            <a:off x="6931733" y="2344556"/>
            <a:ext cx="611623" cy="2038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2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结构化过滤...</a:t>
            </a:r>
          </a:p>
        </p:txBody>
      </p:sp>
      <p:sp>
        <p:nvSpPr>
          <p:cNvPr id="53" name="body_text"/>
          <p:cNvSpPr txBox="1"/>
          <p:nvPr/>
        </p:nvSpPr>
        <p:spPr>
          <a:xfrm>
            <a:off x="4485239" y="2956180"/>
            <a:ext cx="1223247" cy="2038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63" b="1" i="0">
                <a:solidFill>
                  <a:srgbClr val="009966"/>
                </a:solidFill>
                <a:latin typeface="Microsoft YaHei"/>
                <a:ea typeface="Microsoft YaHei"/>
                <a:cs typeface="Microsoft YaHei"/>
              </a:rPr>
              <a:t>模型层 (安全约束)</a:t>
            </a:r>
          </a:p>
        </p:txBody>
      </p:sp>
      <p:sp>
        <p:nvSpPr>
          <p:cNvPr id="54" name="body_text"/>
          <p:cNvSpPr txBox="1"/>
          <p:nvPr/>
        </p:nvSpPr>
        <p:spPr>
          <a:xfrm>
            <a:off x="4485239" y="3363929"/>
            <a:ext cx="509686" cy="2038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2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安全策略</a:t>
            </a:r>
          </a:p>
        </p:txBody>
      </p:sp>
      <p:sp>
        <p:nvSpPr>
          <p:cNvPr id="55" name="body_text"/>
          <p:cNvSpPr txBox="1"/>
          <p:nvPr/>
        </p:nvSpPr>
        <p:spPr>
          <a:xfrm>
            <a:off x="5096862" y="3363929"/>
            <a:ext cx="509686" cy="2038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2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规则约束</a:t>
            </a:r>
          </a:p>
        </p:txBody>
      </p:sp>
      <p:sp>
        <p:nvSpPr>
          <p:cNvPr id="56" name="body_text"/>
          <p:cNvSpPr txBox="1"/>
          <p:nvPr/>
        </p:nvSpPr>
        <p:spPr>
          <a:xfrm>
            <a:off x="5708486" y="3363929"/>
            <a:ext cx="509686" cy="2038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2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风险识别</a:t>
            </a:r>
          </a:p>
        </p:txBody>
      </p:sp>
      <p:sp>
        <p:nvSpPr>
          <p:cNvPr id="57" name="body_text"/>
          <p:cNvSpPr txBox="1"/>
          <p:nvPr/>
        </p:nvSpPr>
        <p:spPr>
          <a:xfrm>
            <a:off x="6320109" y="3363929"/>
            <a:ext cx="509686" cy="2038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2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敏感检测</a:t>
            </a:r>
          </a:p>
        </p:txBody>
      </p:sp>
      <p:sp>
        <p:nvSpPr>
          <p:cNvPr id="58" name="body_text"/>
          <p:cNvSpPr txBox="1"/>
          <p:nvPr/>
        </p:nvSpPr>
        <p:spPr>
          <a:xfrm>
            <a:off x="6931733" y="3363929"/>
            <a:ext cx="509686" cy="2038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2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合规校验</a:t>
            </a:r>
          </a:p>
        </p:txBody>
      </p:sp>
      <p:sp>
        <p:nvSpPr>
          <p:cNvPr id="59" name="body_text"/>
          <p:cNvSpPr txBox="1"/>
          <p:nvPr/>
        </p:nvSpPr>
        <p:spPr>
          <a:xfrm>
            <a:off x="4485239" y="3975552"/>
            <a:ext cx="1223247" cy="2038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63" b="1" i="0">
                <a:solidFill>
                  <a:srgbClr val="663399"/>
                </a:solidFill>
                <a:latin typeface="Microsoft YaHei"/>
                <a:ea typeface="Microsoft YaHei"/>
                <a:cs typeface="Microsoft YaHei"/>
              </a:rPr>
              <a:t>输出端 (内容校验)</a:t>
            </a:r>
          </a:p>
        </p:txBody>
      </p:sp>
      <p:sp>
        <p:nvSpPr>
          <p:cNvPr id="60" name="body_text"/>
          <p:cNvSpPr txBox="1"/>
          <p:nvPr/>
        </p:nvSpPr>
        <p:spPr>
          <a:xfrm>
            <a:off x="4485239" y="4383301"/>
            <a:ext cx="509686" cy="2038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2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事实校验</a:t>
            </a:r>
          </a:p>
        </p:txBody>
      </p:sp>
      <p:sp>
        <p:nvSpPr>
          <p:cNvPr id="61" name="body_text"/>
          <p:cNvSpPr txBox="1"/>
          <p:nvPr/>
        </p:nvSpPr>
        <p:spPr>
          <a:xfrm>
            <a:off x="5096862" y="4383301"/>
            <a:ext cx="509686" cy="2038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2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统一拒答</a:t>
            </a:r>
          </a:p>
        </p:txBody>
      </p:sp>
      <p:sp>
        <p:nvSpPr>
          <p:cNvPr id="62" name="body_text"/>
          <p:cNvSpPr txBox="1"/>
          <p:nvPr/>
        </p:nvSpPr>
        <p:spPr>
          <a:xfrm>
            <a:off x="5708486" y="4383301"/>
            <a:ext cx="509686" cy="2038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2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合规调色</a:t>
            </a:r>
          </a:p>
        </p:txBody>
      </p:sp>
      <p:sp>
        <p:nvSpPr>
          <p:cNvPr id="63" name="body_text"/>
          <p:cNvSpPr txBox="1"/>
          <p:nvPr/>
        </p:nvSpPr>
        <p:spPr>
          <a:xfrm>
            <a:off x="6320109" y="4383301"/>
            <a:ext cx="509686" cy="2038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2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保密脱敏</a:t>
            </a:r>
          </a:p>
        </p:txBody>
      </p:sp>
      <p:sp>
        <p:nvSpPr>
          <p:cNvPr id="64" name="body_text"/>
          <p:cNvSpPr txBox="1"/>
          <p:nvPr/>
        </p:nvSpPr>
        <p:spPr>
          <a:xfrm>
            <a:off x="6931733" y="4383301"/>
            <a:ext cx="611623" cy="2038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2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完整性校验</a:t>
            </a:r>
          </a:p>
        </p:txBody>
      </p:sp>
      <p:sp>
        <p:nvSpPr>
          <p:cNvPr id="65" name="body_text"/>
          <p:cNvSpPr txBox="1"/>
          <p:nvPr/>
        </p:nvSpPr>
        <p:spPr>
          <a:xfrm>
            <a:off x="4485239" y="4689113"/>
            <a:ext cx="1223247" cy="2038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63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宁可不答，绝不乱答</a:t>
            </a:r>
          </a:p>
        </p:txBody>
      </p:sp>
      <p:sp>
        <p:nvSpPr>
          <p:cNvPr id="66" name="body_text"/>
          <p:cNvSpPr txBox="1"/>
          <p:nvPr/>
        </p:nvSpPr>
        <p:spPr>
          <a:xfrm>
            <a:off x="4485239" y="4994925"/>
            <a:ext cx="1427121" cy="4077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2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当请求涉及安全风险或不确定时，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2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建议按规程处置并提供依据。</a:t>
            </a:r>
          </a:p>
        </p:txBody>
      </p:sp>
      <p:sp>
        <p:nvSpPr>
          <p:cNvPr id="67" name="body_text"/>
          <p:cNvSpPr txBox="1"/>
          <p:nvPr/>
        </p:nvSpPr>
        <p:spPr>
          <a:xfrm>
            <a:off x="8154980" y="1936807"/>
            <a:ext cx="611623" cy="2038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2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规整制度库</a:t>
            </a:r>
          </a:p>
        </p:txBody>
      </p:sp>
      <p:sp>
        <p:nvSpPr>
          <p:cNvPr id="68" name="body_text"/>
          <p:cNvSpPr txBox="1"/>
          <p:nvPr/>
        </p:nvSpPr>
        <p:spPr>
          <a:xfrm>
            <a:off x="8766603" y="1936807"/>
            <a:ext cx="611623" cy="2038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2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设备参数库</a:t>
            </a:r>
          </a:p>
        </p:txBody>
      </p:sp>
      <p:sp>
        <p:nvSpPr>
          <p:cNvPr id="69" name="body_text"/>
          <p:cNvSpPr txBox="1"/>
          <p:nvPr/>
        </p:nvSpPr>
        <p:spPr>
          <a:xfrm>
            <a:off x="9378227" y="1936807"/>
            <a:ext cx="611623" cy="2038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2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图谱知识库</a:t>
            </a:r>
          </a:p>
        </p:txBody>
      </p:sp>
      <p:sp>
        <p:nvSpPr>
          <p:cNvPr id="70" name="body_text"/>
          <p:cNvSpPr txBox="1"/>
          <p:nvPr/>
        </p:nvSpPr>
        <p:spPr>
          <a:xfrm>
            <a:off x="9989850" y="1936807"/>
            <a:ext cx="611623" cy="2038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2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历史案例库</a:t>
            </a:r>
          </a:p>
        </p:txBody>
      </p:sp>
      <p:sp>
        <p:nvSpPr>
          <p:cNvPr id="71" name="body_text"/>
          <p:cNvSpPr txBox="1"/>
          <p:nvPr/>
        </p:nvSpPr>
        <p:spPr>
          <a:xfrm>
            <a:off x="8154980" y="3363929"/>
            <a:ext cx="611623" cy="2038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63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工具调用</a:t>
            </a:r>
          </a:p>
        </p:txBody>
      </p:sp>
      <p:sp>
        <p:nvSpPr>
          <p:cNvPr id="72" name="body_text"/>
          <p:cNvSpPr txBox="1"/>
          <p:nvPr/>
        </p:nvSpPr>
        <p:spPr>
          <a:xfrm>
            <a:off x="9378227" y="3160054"/>
            <a:ext cx="611623" cy="4077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63" b="1" i="0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rPr>
              <a:t>检索增强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63" b="1" i="0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rPr>
              <a:t>RAG</a:t>
            </a:r>
          </a:p>
        </p:txBody>
      </p:sp>
      <p:sp>
        <p:nvSpPr>
          <p:cNvPr id="73" name="body_text"/>
          <p:cNvSpPr txBox="1"/>
          <p:nvPr/>
        </p:nvSpPr>
        <p:spPr>
          <a:xfrm>
            <a:off x="10397599" y="3363929"/>
            <a:ext cx="611623" cy="2038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63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证据回溯</a:t>
            </a:r>
          </a:p>
        </p:txBody>
      </p:sp>
      <p:sp>
        <p:nvSpPr>
          <p:cNvPr id="74" name="body_text"/>
          <p:cNvSpPr txBox="1"/>
          <p:nvPr/>
        </p:nvSpPr>
        <p:spPr>
          <a:xfrm>
            <a:off x="9378227" y="3873615"/>
            <a:ext cx="611623" cy="2038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2" b="0" i="0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动态更新</a:t>
            </a:r>
          </a:p>
        </p:txBody>
      </p:sp>
      <p:sp>
        <p:nvSpPr>
          <p:cNvPr id="75" name="body_text"/>
          <p:cNvSpPr txBox="1"/>
          <p:nvPr/>
        </p:nvSpPr>
        <p:spPr>
          <a:xfrm>
            <a:off x="8766603" y="4281364"/>
            <a:ext cx="1019372" cy="2038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63" b="1" i="0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安全可信输出</a:t>
            </a:r>
          </a:p>
        </p:txBody>
      </p:sp>
      <p:sp>
        <p:nvSpPr>
          <p:cNvPr id="76" name="body_text"/>
          <p:cNvSpPr txBox="1"/>
          <p:nvPr/>
        </p:nvSpPr>
        <p:spPr>
          <a:xfrm>
            <a:off x="8562729" y="4689113"/>
            <a:ext cx="611623" cy="2038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63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有据可查</a:t>
            </a:r>
          </a:p>
        </p:txBody>
      </p:sp>
      <p:sp>
        <p:nvSpPr>
          <p:cNvPr id="77" name="body_text"/>
          <p:cNvSpPr txBox="1"/>
          <p:nvPr/>
        </p:nvSpPr>
        <p:spPr>
          <a:xfrm>
            <a:off x="9378227" y="4689113"/>
            <a:ext cx="611623" cy="2038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63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实时更新</a:t>
            </a:r>
          </a:p>
        </p:txBody>
      </p:sp>
      <p:sp>
        <p:nvSpPr>
          <p:cNvPr id="78" name="body_text"/>
          <p:cNvSpPr txBox="1"/>
          <p:nvPr/>
        </p:nvSpPr>
        <p:spPr>
          <a:xfrm>
            <a:off x="10193725" y="4689113"/>
            <a:ext cx="611623" cy="2038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63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辅助决策</a:t>
            </a:r>
          </a:p>
        </p:txBody>
      </p:sp>
      <p:sp>
        <p:nvSpPr>
          <p:cNvPr id="79" name="body_text"/>
          <p:cNvSpPr txBox="1"/>
          <p:nvPr/>
        </p:nvSpPr>
        <p:spPr>
          <a:xfrm>
            <a:off x="2038745" y="5810423"/>
            <a:ext cx="1529058" cy="2038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23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持续学习与安全闭环</a:t>
            </a:r>
          </a:p>
        </p:txBody>
      </p:sp>
      <p:sp>
        <p:nvSpPr>
          <p:cNvPr id="80" name="body_text"/>
          <p:cNvSpPr txBox="1"/>
          <p:nvPr/>
        </p:nvSpPr>
        <p:spPr>
          <a:xfrm>
            <a:off x="611623" y="6218172"/>
            <a:ext cx="611623" cy="2038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63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专家反馈</a:t>
            </a:r>
          </a:p>
        </p:txBody>
      </p:sp>
      <p:sp>
        <p:nvSpPr>
          <p:cNvPr id="81" name="body_text"/>
          <p:cNvSpPr txBox="1"/>
          <p:nvPr/>
        </p:nvSpPr>
        <p:spPr>
          <a:xfrm>
            <a:off x="1630996" y="6014297"/>
            <a:ext cx="815498" cy="4077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2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样本沉淀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2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(文本/图像/图纸/时序等)</a:t>
            </a:r>
          </a:p>
        </p:txBody>
      </p:sp>
      <p:sp>
        <p:nvSpPr>
          <p:cNvPr id="82" name="body_text"/>
          <p:cNvSpPr txBox="1"/>
          <p:nvPr/>
        </p:nvSpPr>
        <p:spPr>
          <a:xfrm>
            <a:off x="3058117" y="6218172"/>
            <a:ext cx="611623" cy="2038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63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策略学习</a:t>
            </a:r>
          </a:p>
        </p:txBody>
      </p:sp>
      <p:sp>
        <p:nvSpPr>
          <p:cNvPr id="83" name="body_text"/>
          <p:cNvSpPr txBox="1"/>
          <p:nvPr/>
        </p:nvSpPr>
        <p:spPr>
          <a:xfrm>
            <a:off x="4281364" y="6218172"/>
            <a:ext cx="611623" cy="2038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63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安全校验</a:t>
            </a:r>
          </a:p>
        </p:txBody>
      </p:sp>
      <p:sp>
        <p:nvSpPr>
          <p:cNvPr id="84" name="body_text"/>
          <p:cNvSpPr txBox="1"/>
          <p:nvPr/>
        </p:nvSpPr>
        <p:spPr>
          <a:xfrm>
            <a:off x="5300737" y="6218172"/>
            <a:ext cx="611623" cy="2038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63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知识回注</a:t>
            </a:r>
          </a:p>
        </p:txBody>
      </p:sp>
      <p:sp>
        <p:nvSpPr>
          <p:cNvPr id="85" name="body_text"/>
          <p:cNvSpPr txBox="1"/>
          <p:nvPr/>
        </p:nvSpPr>
        <p:spPr>
          <a:xfrm>
            <a:off x="8766603" y="5810423"/>
            <a:ext cx="1223247" cy="2038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23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工程化闭环价值</a:t>
            </a:r>
          </a:p>
        </p:txBody>
      </p:sp>
      <p:sp>
        <p:nvSpPr>
          <p:cNvPr id="86" name="body_text"/>
          <p:cNvSpPr txBox="1"/>
          <p:nvPr/>
        </p:nvSpPr>
        <p:spPr>
          <a:xfrm>
            <a:off x="8154980" y="6625921"/>
            <a:ext cx="611623" cy="2038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63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价值观对齐</a:t>
            </a:r>
          </a:p>
        </p:txBody>
      </p:sp>
      <p:sp>
        <p:nvSpPr>
          <p:cNvPr id="87" name="body_text"/>
          <p:cNvSpPr txBox="1"/>
          <p:nvPr/>
        </p:nvSpPr>
        <p:spPr>
          <a:xfrm>
            <a:off x="8970478" y="6625921"/>
            <a:ext cx="611623" cy="2038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63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风险可控</a:t>
            </a:r>
          </a:p>
        </p:txBody>
      </p:sp>
      <p:sp>
        <p:nvSpPr>
          <p:cNvPr id="88" name="body_text"/>
          <p:cNvSpPr txBox="1"/>
          <p:nvPr/>
        </p:nvSpPr>
        <p:spPr>
          <a:xfrm>
            <a:off x="9785976" y="6625921"/>
            <a:ext cx="611623" cy="2038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63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知识可溯</a:t>
            </a:r>
          </a:p>
        </p:txBody>
      </p:sp>
      <p:sp>
        <p:nvSpPr>
          <p:cNvPr id="89" name="body_text"/>
          <p:cNvSpPr txBox="1"/>
          <p:nvPr/>
        </p:nvSpPr>
        <p:spPr>
          <a:xfrm>
            <a:off x="10601474" y="6625921"/>
            <a:ext cx="611623" cy="2038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63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持续演进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Image2PPT Deck</dc:title>
  <dc:subject>Generated by bggg-creator-image2ppt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