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_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card_1"/>
          <p:cNvSpPr/>
          <p:nvPr/>
        </p:nvSpPr>
        <p:spPr>
          <a:xfrm>
            <a:off x="126996" y="1270000"/>
            <a:ext cx="1333466" cy="3301999"/>
          </a:xfrm>
          <a:prstGeom prst="roundRect">
            <a:avLst/>
          </a:prstGeom>
          <a:solidFill>
            <a:srgbClr val="001133"/>
          </a:solidFill>
          <a:ln w="12699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ard_2"/>
          <p:cNvSpPr/>
          <p:nvPr/>
        </p:nvSpPr>
        <p:spPr>
          <a:xfrm>
            <a:off x="1460463" y="1270000"/>
            <a:ext cx="1333466" cy="3301999"/>
          </a:xfrm>
          <a:prstGeom prst="roundRect">
            <a:avLst/>
          </a:prstGeom>
          <a:solidFill>
            <a:srgbClr val="001133"/>
          </a:solidFill>
          <a:ln w="12699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ard_3"/>
          <p:cNvSpPr/>
          <p:nvPr/>
        </p:nvSpPr>
        <p:spPr>
          <a:xfrm>
            <a:off x="2793930" y="1270000"/>
            <a:ext cx="1333466" cy="3301999"/>
          </a:xfrm>
          <a:prstGeom prst="roundRect">
            <a:avLst/>
          </a:prstGeom>
          <a:solidFill>
            <a:srgbClr val="001133"/>
          </a:solidFill>
          <a:ln w="12699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ard_4"/>
          <p:cNvSpPr/>
          <p:nvPr/>
        </p:nvSpPr>
        <p:spPr>
          <a:xfrm>
            <a:off x="4127396" y="1270000"/>
            <a:ext cx="1333466" cy="3301999"/>
          </a:xfrm>
          <a:prstGeom prst="roundRect">
            <a:avLst/>
          </a:prstGeom>
          <a:solidFill>
            <a:srgbClr val="001133"/>
          </a:solidFill>
          <a:ln w="12699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ard_5"/>
          <p:cNvSpPr/>
          <p:nvPr/>
        </p:nvSpPr>
        <p:spPr>
          <a:xfrm>
            <a:off x="5460863" y="1270000"/>
            <a:ext cx="1333466" cy="3301999"/>
          </a:xfrm>
          <a:prstGeom prst="roundRect">
            <a:avLst/>
          </a:prstGeom>
          <a:solidFill>
            <a:srgbClr val="001133"/>
          </a:solidFill>
          <a:ln w="12699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ard_6"/>
          <p:cNvSpPr/>
          <p:nvPr/>
        </p:nvSpPr>
        <p:spPr>
          <a:xfrm>
            <a:off x="6794330" y="1270000"/>
            <a:ext cx="1333466" cy="3301999"/>
          </a:xfrm>
          <a:prstGeom prst="roundRect">
            <a:avLst/>
          </a:prstGeom>
          <a:solidFill>
            <a:srgbClr val="001133"/>
          </a:solidFill>
          <a:ln w="12699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ard_7"/>
          <p:cNvSpPr/>
          <p:nvPr/>
        </p:nvSpPr>
        <p:spPr>
          <a:xfrm>
            <a:off x="8127796" y="1270000"/>
            <a:ext cx="1333466" cy="3301999"/>
          </a:xfrm>
          <a:prstGeom prst="roundRect">
            <a:avLst/>
          </a:prstGeom>
          <a:solidFill>
            <a:srgbClr val="001133"/>
          </a:solidFill>
          <a:ln w="12699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ard_8"/>
          <p:cNvSpPr/>
          <p:nvPr/>
        </p:nvSpPr>
        <p:spPr>
          <a:xfrm>
            <a:off x="9461263" y="1270000"/>
            <a:ext cx="1333466" cy="3301999"/>
          </a:xfrm>
          <a:prstGeom prst="roundRect">
            <a:avLst/>
          </a:prstGeom>
          <a:solidFill>
            <a:srgbClr val="001133"/>
          </a:solidFill>
          <a:ln w="12699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ircle_1"/>
          <p:cNvSpPr/>
          <p:nvPr/>
        </p:nvSpPr>
        <p:spPr>
          <a:xfrm>
            <a:off x="444488" y="1016000"/>
            <a:ext cx="253993" cy="254000"/>
          </a:xfrm>
          <a:prstGeom prst="ellipse">
            <a:avLst/>
          </a:prstGeom>
          <a:solidFill>
            <a:srgbClr val="003366"/>
          </a:solidFill>
          <a:ln w="12699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ircle_2"/>
          <p:cNvSpPr/>
          <p:nvPr/>
        </p:nvSpPr>
        <p:spPr>
          <a:xfrm>
            <a:off x="1777955" y="1016000"/>
            <a:ext cx="253993" cy="254000"/>
          </a:xfrm>
          <a:prstGeom prst="ellipse">
            <a:avLst/>
          </a:prstGeom>
          <a:solidFill>
            <a:srgbClr val="003366"/>
          </a:solidFill>
          <a:ln w="12699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ircle_3"/>
          <p:cNvSpPr/>
          <p:nvPr/>
        </p:nvSpPr>
        <p:spPr>
          <a:xfrm>
            <a:off x="3111422" y="1016000"/>
            <a:ext cx="253993" cy="254000"/>
          </a:xfrm>
          <a:prstGeom prst="ellipse">
            <a:avLst/>
          </a:prstGeom>
          <a:solidFill>
            <a:srgbClr val="003366"/>
          </a:solidFill>
          <a:ln w="12699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ircle_4"/>
          <p:cNvSpPr/>
          <p:nvPr/>
        </p:nvSpPr>
        <p:spPr>
          <a:xfrm>
            <a:off x="4444888" y="1016000"/>
            <a:ext cx="253993" cy="254000"/>
          </a:xfrm>
          <a:prstGeom prst="ellipse">
            <a:avLst/>
          </a:prstGeom>
          <a:solidFill>
            <a:srgbClr val="003366"/>
          </a:solidFill>
          <a:ln w="12699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ircle_5"/>
          <p:cNvSpPr/>
          <p:nvPr/>
        </p:nvSpPr>
        <p:spPr>
          <a:xfrm>
            <a:off x="5778355" y="1016000"/>
            <a:ext cx="253993" cy="254000"/>
          </a:xfrm>
          <a:prstGeom prst="ellipse">
            <a:avLst/>
          </a:prstGeom>
          <a:solidFill>
            <a:srgbClr val="003366"/>
          </a:solidFill>
          <a:ln w="12699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ircle_6"/>
          <p:cNvSpPr/>
          <p:nvPr/>
        </p:nvSpPr>
        <p:spPr>
          <a:xfrm>
            <a:off x="7111822" y="1016000"/>
            <a:ext cx="253993" cy="254000"/>
          </a:xfrm>
          <a:prstGeom prst="ellipse">
            <a:avLst/>
          </a:prstGeom>
          <a:solidFill>
            <a:srgbClr val="003366"/>
          </a:solidFill>
          <a:ln w="12699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ircle_7"/>
          <p:cNvSpPr/>
          <p:nvPr/>
        </p:nvSpPr>
        <p:spPr>
          <a:xfrm>
            <a:off x="8445288" y="1016000"/>
            <a:ext cx="253993" cy="254000"/>
          </a:xfrm>
          <a:prstGeom prst="ellipse">
            <a:avLst/>
          </a:prstGeom>
          <a:solidFill>
            <a:srgbClr val="003366"/>
          </a:solidFill>
          <a:ln w="12699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ircle_8"/>
          <p:cNvSpPr/>
          <p:nvPr/>
        </p:nvSpPr>
        <p:spPr>
          <a:xfrm>
            <a:off x="9778755" y="1016000"/>
            <a:ext cx="253993" cy="254000"/>
          </a:xfrm>
          <a:prstGeom prst="ellipse">
            <a:avLst/>
          </a:prstGeom>
          <a:solidFill>
            <a:srgbClr val="003366"/>
          </a:solidFill>
          <a:ln w="12699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box_business"/>
          <p:cNvSpPr/>
          <p:nvPr/>
        </p:nvSpPr>
        <p:spPr>
          <a:xfrm>
            <a:off x="190495" y="3492500"/>
            <a:ext cx="1396965" cy="508000"/>
          </a:xfrm>
          <a:prstGeom prst="roundRect">
            <a:avLst/>
          </a:prstGeom>
          <a:solidFill>
            <a:srgbClr val="001133"/>
          </a:solidFill>
          <a:ln w="6349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box_model"/>
          <p:cNvSpPr/>
          <p:nvPr/>
        </p:nvSpPr>
        <p:spPr>
          <a:xfrm>
            <a:off x="190495" y="4127499"/>
            <a:ext cx="1396965" cy="508000"/>
          </a:xfrm>
          <a:prstGeom prst="roundRect">
            <a:avLst/>
          </a:prstGeom>
          <a:solidFill>
            <a:srgbClr val="001133"/>
          </a:solidFill>
          <a:ln w="6349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box_knowledge"/>
          <p:cNvSpPr/>
          <p:nvPr/>
        </p:nvSpPr>
        <p:spPr>
          <a:xfrm>
            <a:off x="10858228" y="3492500"/>
            <a:ext cx="1396965" cy="508000"/>
          </a:xfrm>
          <a:prstGeom prst="roundRect">
            <a:avLst/>
          </a:prstGeom>
          <a:solidFill>
            <a:srgbClr val="001133"/>
          </a:solidFill>
          <a:ln w="6349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box_tool"/>
          <p:cNvSpPr/>
          <p:nvPr/>
        </p:nvSpPr>
        <p:spPr>
          <a:xfrm>
            <a:off x="10858228" y="4127499"/>
            <a:ext cx="1396965" cy="508000"/>
          </a:xfrm>
          <a:prstGeom prst="roundRect">
            <a:avLst/>
          </a:prstGeom>
          <a:solidFill>
            <a:srgbClr val="001133"/>
          </a:solidFill>
          <a:ln w="6349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bubble_service"/>
          <p:cNvSpPr/>
          <p:nvPr/>
        </p:nvSpPr>
        <p:spPr>
          <a:xfrm>
            <a:off x="5587860" y="3238500"/>
            <a:ext cx="1015974" cy="254000"/>
          </a:xfrm>
          <a:prstGeom prst="roundRect">
            <a:avLst/>
          </a:prstGeom>
          <a:solidFill>
            <a:srgbClr val="003366"/>
          </a:solidFill>
          <a:ln w="6349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bubble_business_base"/>
          <p:cNvSpPr/>
          <p:nvPr/>
        </p:nvSpPr>
        <p:spPr>
          <a:xfrm>
            <a:off x="3809904" y="3746500"/>
            <a:ext cx="1015974" cy="380999"/>
          </a:xfrm>
          <a:prstGeom prst="roundRect">
            <a:avLst/>
          </a:prstGeom>
          <a:solidFill>
            <a:srgbClr val="003366"/>
          </a:solidFill>
          <a:ln w="6349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bubble_data_base"/>
          <p:cNvSpPr/>
          <p:nvPr/>
        </p:nvSpPr>
        <p:spPr>
          <a:xfrm>
            <a:off x="5397365" y="3746500"/>
            <a:ext cx="1015974" cy="380999"/>
          </a:xfrm>
          <a:prstGeom prst="roundRect">
            <a:avLst/>
          </a:prstGeom>
          <a:solidFill>
            <a:srgbClr val="003366"/>
          </a:solidFill>
          <a:ln w="6349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bubble_tech_base"/>
          <p:cNvSpPr/>
          <p:nvPr/>
        </p:nvSpPr>
        <p:spPr>
          <a:xfrm>
            <a:off x="6984825" y="3746500"/>
            <a:ext cx="1015974" cy="380999"/>
          </a:xfrm>
          <a:prstGeom prst="roundRect">
            <a:avLst/>
          </a:prstGeom>
          <a:solidFill>
            <a:srgbClr val="003366"/>
          </a:solidFill>
          <a:ln w="6349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itle_main"/>
          <p:cNvSpPr txBox="1"/>
          <p:nvPr/>
        </p:nvSpPr>
        <p:spPr>
          <a:xfrm>
            <a:off x="4127396" y="190499"/>
            <a:ext cx="8064298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3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“大瓦特”演进路线图</a:t>
            </a:r>
          </a:p>
        </p:txBody>
      </p:sp>
      <p:sp>
        <p:nvSpPr>
          <p:cNvPr id="28" name="title_sub1"/>
          <p:cNvSpPr txBox="1"/>
          <p:nvPr/>
        </p:nvSpPr>
        <p:spPr>
          <a:xfrm>
            <a:off x="4952876" y="698500"/>
            <a:ext cx="7238819" cy="889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99" b="1" i="0">
                <a:solidFill>
                  <a:srgbClr val="FFA500"/>
                </a:solidFill>
                <a:latin typeface="Microsoft YaHei"/>
                <a:ea typeface="Microsoft YaHei"/>
                <a:cs typeface="Microsoft YaHei"/>
              </a:rPr>
              <a:t>路标与核心亮点</a:t>
            </a:r>
          </a:p>
        </p:txBody>
      </p:sp>
      <p:sp>
        <p:nvSpPr>
          <p:cNvPr id="29" name="title_sub2"/>
          <p:cNvSpPr txBox="1"/>
          <p:nvPr/>
        </p:nvSpPr>
        <p:spPr>
          <a:xfrm>
            <a:off x="4444888" y="952499"/>
            <a:ext cx="7746806" cy="1111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99" b="0" i="0">
                <a:solidFill>
                  <a:srgbClr val="CCCCCC"/>
                </a:solidFill>
                <a:latin typeface="Microsoft YaHei"/>
                <a:ea typeface="Microsoft YaHei"/>
                <a:cs typeface="Microsoft YaHei"/>
              </a:rPr>
              <a:t>从多模态服务化迈向电力世界模型</a:t>
            </a:r>
          </a:p>
        </p:txBody>
      </p:sp>
      <p:sp>
        <p:nvSpPr>
          <p:cNvPr id="30" name="card1_title"/>
          <p:cNvSpPr txBox="1"/>
          <p:nvPr/>
        </p:nvSpPr>
        <p:spPr>
          <a:xfrm>
            <a:off x="190495" y="1365250"/>
            <a:ext cx="698482" cy="1523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大瓦特 1.0</a:t>
            </a:r>
          </a:p>
        </p:txBody>
      </p:sp>
      <p:sp>
        <p:nvSpPr>
          <p:cNvPr id="31" name="card1_date"/>
          <p:cNvSpPr txBox="1"/>
          <p:nvPr/>
        </p:nvSpPr>
        <p:spPr>
          <a:xfrm>
            <a:off x="761980" y="1397000"/>
            <a:ext cx="1079473" cy="1492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9" b="0" i="0">
                <a:solidFill>
                  <a:srgbClr val="CCCCCC"/>
                </a:solidFill>
                <a:latin typeface="Arial"/>
                <a:ea typeface="Arial"/>
                <a:cs typeface="Arial"/>
              </a:rPr>
              <a:t>2025.05</a:t>
            </a:r>
          </a:p>
        </p:txBody>
      </p:sp>
      <p:sp>
        <p:nvSpPr>
          <p:cNvPr id="32" name="card1_position"/>
          <p:cNvSpPr txBox="1"/>
          <p:nvPr/>
        </p:nvSpPr>
        <p:spPr>
          <a:xfrm>
            <a:off x="190495" y="1650999"/>
            <a:ext cx="1142971" cy="18097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9" b="0" i="0">
                <a:solidFill>
                  <a:srgbClr val="00FFFF"/>
                </a:solidFill>
                <a:latin typeface="Microsoft YaHei"/>
                <a:ea typeface="Microsoft YaHei"/>
                <a:cs typeface="Microsoft YaHei"/>
              </a:rPr>
              <a:t>定位: 多模态服务化</a:t>
            </a:r>
          </a:p>
        </p:txBody>
      </p:sp>
      <p:sp>
        <p:nvSpPr>
          <p:cNvPr id="33" name="card1_highlight_label"/>
          <p:cNvSpPr txBox="1"/>
          <p:nvPr/>
        </p:nvSpPr>
        <p:spPr>
          <a:xfrm>
            <a:off x="507987" y="2413000"/>
            <a:ext cx="698482" cy="25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99" b="0" i="0">
                <a:solidFill>
                  <a:srgbClr val="FFA500"/>
                </a:solidFill>
                <a:latin typeface="Microsoft YaHei"/>
                <a:ea typeface="Microsoft YaHei"/>
                <a:cs typeface="Microsoft YaHei"/>
              </a:rPr>
              <a:t>亮点</a:t>
            </a:r>
          </a:p>
        </p:txBody>
      </p:sp>
      <p:sp>
        <p:nvSpPr>
          <p:cNvPr id="34" name="card1_highlight"/>
          <p:cNvSpPr txBox="1"/>
          <p:nvPr/>
        </p:nvSpPr>
        <p:spPr>
          <a:xfrm>
            <a:off x="190495" y="2603499"/>
            <a:ext cx="1269968" cy="3174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建成南网首个，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电力多模态能力入口，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成功适配国产算力，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实现全自主安全可控。</a:t>
            </a:r>
          </a:p>
        </p:txBody>
      </p:sp>
      <p:sp>
        <p:nvSpPr>
          <p:cNvPr id="35" name="card2_title"/>
          <p:cNvSpPr txBox="1"/>
          <p:nvPr/>
        </p:nvSpPr>
        <p:spPr>
          <a:xfrm>
            <a:off x="1523961" y="1365250"/>
            <a:ext cx="2031949" cy="1523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大瓦特 1.1</a:t>
            </a:r>
          </a:p>
        </p:txBody>
      </p:sp>
      <p:sp>
        <p:nvSpPr>
          <p:cNvPr id="36" name="card2_date"/>
          <p:cNvSpPr txBox="1"/>
          <p:nvPr/>
        </p:nvSpPr>
        <p:spPr>
          <a:xfrm>
            <a:off x="2095447" y="1397000"/>
            <a:ext cx="2412939" cy="1492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9" b="0" i="0">
                <a:solidFill>
                  <a:srgbClr val="CCCCCC"/>
                </a:solidFill>
                <a:latin typeface="Arial"/>
                <a:ea typeface="Arial"/>
                <a:cs typeface="Arial"/>
              </a:rPr>
              <a:t>2025.12</a:t>
            </a:r>
          </a:p>
        </p:txBody>
      </p:sp>
      <p:sp>
        <p:nvSpPr>
          <p:cNvPr id="37" name="card2_position"/>
          <p:cNvSpPr txBox="1"/>
          <p:nvPr/>
        </p:nvSpPr>
        <p:spPr>
          <a:xfrm>
            <a:off x="1523961" y="1650999"/>
            <a:ext cx="2476438" cy="18097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9" b="0" i="0">
                <a:solidFill>
                  <a:srgbClr val="00FFFF"/>
                </a:solidFill>
                <a:latin typeface="Microsoft YaHei"/>
                <a:ea typeface="Microsoft YaHei"/>
                <a:cs typeface="Microsoft YaHei"/>
              </a:rPr>
              <a:t>定位: 能力规模化</a:t>
            </a:r>
          </a:p>
        </p:txBody>
      </p:sp>
      <p:sp>
        <p:nvSpPr>
          <p:cNvPr id="38" name="card2_highlight_label"/>
          <p:cNvSpPr txBox="1"/>
          <p:nvPr/>
        </p:nvSpPr>
        <p:spPr>
          <a:xfrm>
            <a:off x="1841453" y="2413000"/>
            <a:ext cx="2031949" cy="25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99" b="0" i="0">
                <a:solidFill>
                  <a:srgbClr val="FFA500"/>
                </a:solidFill>
                <a:latin typeface="Microsoft YaHei"/>
                <a:ea typeface="Microsoft YaHei"/>
                <a:cs typeface="Microsoft YaHei"/>
              </a:rPr>
              <a:t>亮点</a:t>
            </a:r>
          </a:p>
        </p:txBody>
      </p:sp>
      <p:sp>
        <p:nvSpPr>
          <p:cNvPr id="39" name="card2_highlight"/>
          <p:cNvSpPr txBox="1"/>
          <p:nvPr/>
        </p:nvSpPr>
        <p:spPr>
          <a:xfrm>
            <a:off x="1523961" y="2603499"/>
            <a:ext cx="2603434" cy="3174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底座全面迭代升级，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正式备千亿级参参数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规模模型能力。</a:t>
            </a:r>
          </a:p>
        </p:txBody>
      </p:sp>
      <p:sp>
        <p:nvSpPr>
          <p:cNvPr id="40" name="card3_title"/>
          <p:cNvSpPr txBox="1"/>
          <p:nvPr/>
        </p:nvSpPr>
        <p:spPr>
          <a:xfrm>
            <a:off x="2857428" y="1365250"/>
            <a:ext cx="3365415" cy="1523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大瓦特 2.0</a:t>
            </a:r>
          </a:p>
        </p:txBody>
      </p:sp>
      <p:sp>
        <p:nvSpPr>
          <p:cNvPr id="41" name="card3_date"/>
          <p:cNvSpPr txBox="1"/>
          <p:nvPr/>
        </p:nvSpPr>
        <p:spPr>
          <a:xfrm>
            <a:off x="3428914" y="1397000"/>
            <a:ext cx="3746406" cy="1492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9" b="0" i="0">
                <a:solidFill>
                  <a:srgbClr val="CCCCCC"/>
                </a:solidFill>
                <a:latin typeface="Arial"/>
                <a:ea typeface="Arial"/>
                <a:cs typeface="Arial"/>
              </a:rPr>
              <a:t>2026.04</a:t>
            </a:r>
          </a:p>
        </p:txBody>
      </p:sp>
      <p:sp>
        <p:nvSpPr>
          <p:cNvPr id="42" name="card3_position"/>
          <p:cNvSpPr txBox="1"/>
          <p:nvPr/>
        </p:nvSpPr>
        <p:spPr>
          <a:xfrm>
            <a:off x="2857428" y="1650999"/>
            <a:ext cx="3809904" cy="18097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9" b="0" i="0">
                <a:solidFill>
                  <a:srgbClr val="00FFFF"/>
                </a:solidFill>
                <a:latin typeface="Microsoft YaHei"/>
                <a:ea typeface="Microsoft YaHei"/>
                <a:cs typeface="Microsoft YaHei"/>
              </a:rPr>
              <a:t>定位: 行业专业化</a:t>
            </a:r>
          </a:p>
        </p:txBody>
      </p:sp>
      <p:sp>
        <p:nvSpPr>
          <p:cNvPr id="43" name="card3_highlight_label"/>
          <p:cNvSpPr txBox="1"/>
          <p:nvPr/>
        </p:nvSpPr>
        <p:spPr>
          <a:xfrm>
            <a:off x="3174920" y="2413000"/>
            <a:ext cx="3365415" cy="25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99" b="0" i="0">
                <a:solidFill>
                  <a:srgbClr val="FFA500"/>
                </a:solidFill>
                <a:latin typeface="Microsoft YaHei"/>
                <a:ea typeface="Microsoft YaHei"/>
                <a:cs typeface="Microsoft YaHei"/>
              </a:rPr>
              <a:t>亮点</a:t>
            </a:r>
          </a:p>
        </p:txBody>
      </p:sp>
      <p:sp>
        <p:nvSpPr>
          <p:cNvPr id="44" name="card3_highlight"/>
          <p:cNvSpPr txBox="1"/>
          <p:nvPr/>
        </p:nvSpPr>
        <p:spPr>
          <a:xfrm>
            <a:off x="2857428" y="2603499"/>
            <a:ext cx="3936901" cy="3174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完成72B行业微调模型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全面升级，强化电力专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业能力，高效流转典型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业务场景。</a:t>
            </a:r>
          </a:p>
        </p:txBody>
      </p:sp>
      <p:sp>
        <p:nvSpPr>
          <p:cNvPr id="45" name="card4_title"/>
          <p:cNvSpPr txBox="1"/>
          <p:nvPr/>
        </p:nvSpPr>
        <p:spPr>
          <a:xfrm>
            <a:off x="4190895" y="1365250"/>
            <a:ext cx="4698882" cy="1523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大瓦特 2.1</a:t>
            </a:r>
          </a:p>
        </p:txBody>
      </p:sp>
      <p:sp>
        <p:nvSpPr>
          <p:cNvPr id="46" name="card4_date"/>
          <p:cNvSpPr txBox="1"/>
          <p:nvPr/>
        </p:nvSpPr>
        <p:spPr>
          <a:xfrm>
            <a:off x="4762380" y="1397000"/>
            <a:ext cx="5079873" cy="1492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9" b="0" i="0">
                <a:solidFill>
                  <a:srgbClr val="CCCCCC"/>
                </a:solidFill>
                <a:latin typeface="Arial"/>
                <a:ea typeface="Arial"/>
                <a:cs typeface="Arial"/>
              </a:rPr>
              <a:t>2026.06</a:t>
            </a:r>
          </a:p>
        </p:txBody>
      </p:sp>
      <p:sp>
        <p:nvSpPr>
          <p:cNvPr id="47" name="card4_position"/>
          <p:cNvSpPr txBox="1"/>
          <p:nvPr/>
        </p:nvSpPr>
        <p:spPr>
          <a:xfrm>
            <a:off x="4190895" y="1650999"/>
            <a:ext cx="5143371" cy="18097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9" b="0" i="0">
                <a:solidFill>
                  <a:srgbClr val="00FFFF"/>
                </a:solidFill>
                <a:latin typeface="Microsoft YaHei"/>
                <a:ea typeface="Microsoft YaHei"/>
                <a:cs typeface="Microsoft YaHei"/>
              </a:rPr>
              <a:t>定位: 架构协同化</a:t>
            </a:r>
          </a:p>
        </p:txBody>
      </p:sp>
      <p:sp>
        <p:nvSpPr>
          <p:cNvPr id="48" name="card4_highlight_label"/>
          <p:cNvSpPr txBox="1"/>
          <p:nvPr/>
        </p:nvSpPr>
        <p:spPr>
          <a:xfrm>
            <a:off x="4508387" y="2413000"/>
            <a:ext cx="4698882" cy="25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99" b="0" i="0">
                <a:solidFill>
                  <a:srgbClr val="FFA500"/>
                </a:solidFill>
                <a:latin typeface="Microsoft YaHei"/>
                <a:ea typeface="Microsoft YaHei"/>
                <a:cs typeface="Microsoft YaHei"/>
              </a:rPr>
              <a:t>亮点</a:t>
            </a:r>
          </a:p>
        </p:txBody>
      </p:sp>
      <p:sp>
        <p:nvSpPr>
          <p:cNvPr id="49" name="card4_highlight"/>
          <p:cNvSpPr txBox="1"/>
          <p:nvPr/>
        </p:nvSpPr>
        <p:spPr>
          <a:xfrm>
            <a:off x="4190895" y="2603499"/>
            <a:ext cx="5270368" cy="3174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上线 MoE 架构微调模型，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实现专家协同、任务分流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和多业务域协同，按需调用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专业能力。</a:t>
            </a:r>
          </a:p>
        </p:txBody>
      </p:sp>
      <p:sp>
        <p:nvSpPr>
          <p:cNvPr id="50" name="card5_title"/>
          <p:cNvSpPr txBox="1"/>
          <p:nvPr/>
        </p:nvSpPr>
        <p:spPr>
          <a:xfrm>
            <a:off x="5524361" y="1365250"/>
            <a:ext cx="6032349" cy="1523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大瓦特 2.2</a:t>
            </a:r>
          </a:p>
        </p:txBody>
      </p:sp>
      <p:sp>
        <p:nvSpPr>
          <p:cNvPr id="51" name="card5_date"/>
          <p:cNvSpPr txBox="1"/>
          <p:nvPr/>
        </p:nvSpPr>
        <p:spPr>
          <a:xfrm>
            <a:off x="6095847" y="1397000"/>
            <a:ext cx="6413339" cy="1492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9" b="0" i="0">
                <a:solidFill>
                  <a:srgbClr val="CCCCCC"/>
                </a:solidFill>
                <a:latin typeface="Arial"/>
                <a:ea typeface="Arial"/>
                <a:cs typeface="Arial"/>
              </a:rPr>
              <a:t>2026.08</a:t>
            </a:r>
          </a:p>
        </p:txBody>
      </p:sp>
      <p:sp>
        <p:nvSpPr>
          <p:cNvPr id="52" name="card5_position"/>
          <p:cNvSpPr txBox="1"/>
          <p:nvPr/>
        </p:nvSpPr>
        <p:spPr>
          <a:xfrm>
            <a:off x="5524361" y="1650999"/>
            <a:ext cx="6476838" cy="18097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9" b="0" i="0">
                <a:solidFill>
                  <a:srgbClr val="00FFFF"/>
                </a:solidFill>
                <a:latin typeface="Microsoft YaHei"/>
                <a:ea typeface="Microsoft YaHei"/>
                <a:cs typeface="Microsoft YaHei"/>
              </a:rPr>
              <a:t>定位: 推理原生化</a:t>
            </a:r>
          </a:p>
        </p:txBody>
      </p:sp>
      <p:sp>
        <p:nvSpPr>
          <p:cNvPr id="53" name="card5_highlight_label"/>
          <p:cNvSpPr txBox="1"/>
          <p:nvPr/>
        </p:nvSpPr>
        <p:spPr>
          <a:xfrm>
            <a:off x="5841853" y="2413000"/>
            <a:ext cx="6032349" cy="25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99" b="0" i="0">
                <a:solidFill>
                  <a:srgbClr val="FFA500"/>
                </a:solidFill>
                <a:latin typeface="Microsoft YaHei"/>
                <a:ea typeface="Microsoft YaHei"/>
                <a:cs typeface="Microsoft YaHei"/>
              </a:rPr>
              <a:t>亮点</a:t>
            </a:r>
          </a:p>
        </p:txBody>
      </p:sp>
      <p:sp>
        <p:nvSpPr>
          <p:cNvPr id="54" name="card5_highlight"/>
          <p:cNvSpPr txBox="1"/>
          <p:nvPr/>
        </p:nvSpPr>
        <p:spPr>
          <a:xfrm>
            <a:off x="5524361" y="2603499"/>
            <a:ext cx="6603834" cy="3174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引入强化学习与慢思考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机制，增强逻辑推理、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知识增强和工具调用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能力。</a:t>
            </a:r>
          </a:p>
        </p:txBody>
      </p:sp>
      <p:sp>
        <p:nvSpPr>
          <p:cNvPr id="55" name="card6_title"/>
          <p:cNvSpPr txBox="1"/>
          <p:nvPr/>
        </p:nvSpPr>
        <p:spPr>
          <a:xfrm>
            <a:off x="6857828" y="1365250"/>
            <a:ext cx="7365815" cy="1523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大瓦特 3.0</a:t>
            </a:r>
          </a:p>
        </p:txBody>
      </p:sp>
      <p:sp>
        <p:nvSpPr>
          <p:cNvPr id="56" name="card6_date"/>
          <p:cNvSpPr txBox="1"/>
          <p:nvPr/>
        </p:nvSpPr>
        <p:spPr>
          <a:xfrm>
            <a:off x="7429314" y="1397000"/>
            <a:ext cx="7746806" cy="1492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9" b="0" i="0">
                <a:solidFill>
                  <a:srgbClr val="CCCCCC"/>
                </a:solidFill>
                <a:latin typeface="Arial"/>
                <a:ea typeface="Arial"/>
                <a:cs typeface="Arial"/>
              </a:rPr>
              <a:t>2026.01</a:t>
            </a:r>
          </a:p>
        </p:txBody>
      </p:sp>
      <p:sp>
        <p:nvSpPr>
          <p:cNvPr id="57" name="card6_position"/>
          <p:cNvSpPr txBox="1"/>
          <p:nvPr/>
        </p:nvSpPr>
        <p:spPr>
          <a:xfrm>
            <a:off x="6857828" y="1650999"/>
            <a:ext cx="7810304" cy="18097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9" b="0" i="0">
                <a:solidFill>
                  <a:srgbClr val="00FFFF"/>
                </a:solidFill>
                <a:latin typeface="Microsoft YaHei"/>
                <a:ea typeface="Microsoft YaHei"/>
                <a:cs typeface="Microsoft YaHei"/>
              </a:rPr>
              <a:t>定位: 工业图纸化</a:t>
            </a:r>
          </a:p>
        </p:txBody>
      </p:sp>
      <p:sp>
        <p:nvSpPr>
          <p:cNvPr id="58" name="card6_highlight_label"/>
          <p:cNvSpPr txBox="1"/>
          <p:nvPr/>
        </p:nvSpPr>
        <p:spPr>
          <a:xfrm>
            <a:off x="7175320" y="2413000"/>
            <a:ext cx="7365815" cy="25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99" b="0" i="0">
                <a:solidFill>
                  <a:srgbClr val="FFA500"/>
                </a:solidFill>
                <a:latin typeface="Microsoft YaHei"/>
                <a:ea typeface="Microsoft YaHei"/>
                <a:cs typeface="Microsoft YaHei"/>
              </a:rPr>
              <a:t>亮点</a:t>
            </a:r>
          </a:p>
        </p:txBody>
      </p:sp>
      <p:sp>
        <p:nvSpPr>
          <p:cNvPr id="59" name="card6_highlight"/>
          <p:cNvSpPr txBox="1"/>
          <p:nvPr/>
        </p:nvSpPr>
        <p:spPr>
          <a:xfrm>
            <a:off x="6857828" y="2603499"/>
            <a:ext cx="7937301" cy="3174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行业首发电力多模态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工业图纸模型，具备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图纸解析、规则校核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和辅助设计能力。</a:t>
            </a:r>
          </a:p>
        </p:txBody>
      </p:sp>
      <p:sp>
        <p:nvSpPr>
          <p:cNvPr id="60" name="card7_title"/>
          <p:cNvSpPr txBox="1"/>
          <p:nvPr/>
        </p:nvSpPr>
        <p:spPr>
          <a:xfrm>
            <a:off x="8191295" y="1365250"/>
            <a:ext cx="8699282" cy="1523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大瓦特 3.1</a:t>
            </a:r>
          </a:p>
        </p:txBody>
      </p:sp>
      <p:sp>
        <p:nvSpPr>
          <p:cNvPr id="61" name="card7_date"/>
          <p:cNvSpPr txBox="1"/>
          <p:nvPr/>
        </p:nvSpPr>
        <p:spPr>
          <a:xfrm>
            <a:off x="8762780" y="1397000"/>
            <a:ext cx="9080272" cy="1492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9" b="0" i="0">
                <a:solidFill>
                  <a:srgbClr val="CCCCCC"/>
                </a:solidFill>
                <a:latin typeface="Arial"/>
                <a:ea typeface="Arial"/>
                <a:cs typeface="Arial"/>
              </a:rPr>
              <a:t>2027.04</a:t>
            </a:r>
          </a:p>
        </p:txBody>
      </p:sp>
      <p:sp>
        <p:nvSpPr>
          <p:cNvPr id="62" name="card7_position"/>
          <p:cNvSpPr txBox="1"/>
          <p:nvPr/>
        </p:nvSpPr>
        <p:spPr>
          <a:xfrm>
            <a:off x="8191295" y="1650999"/>
            <a:ext cx="9143771" cy="18097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9" b="0" i="0">
                <a:solidFill>
                  <a:srgbClr val="00FFFF"/>
                </a:solidFill>
                <a:latin typeface="Microsoft YaHei"/>
                <a:ea typeface="Microsoft YaHei"/>
                <a:cs typeface="Microsoft YaHei"/>
              </a:rPr>
              <a:t>定位: 拓扑认知化</a:t>
            </a:r>
          </a:p>
        </p:txBody>
      </p:sp>
      <p:sp>
        <p:nvSpPr>
          <p:cNvPr id="63" name="card7_highlight_label"/>
          <p:cNvSpPr txBox="1"/>
          <p:nvPr/>
        </p:nvSpPr>
        <p:spPr>
          <a:xfrm>
            <a:off x="8508787" y="2413000"/>
            <a:ext cx="8699282" cy="25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99" b="0" i="0">
                <a:solidFill>
                  <a:srgbClr val="FFA500"/>
                </a:solidFill>
                <a:latin typeface="Microsoft YaHei"/>
                <a:ea typeface="Microsoft YaHei"/>
                <a:cs typeface="Microsoft YaHei"/>
              </a:rPr>
              <a:t>亮点</a:t>
            </a:r>
          </a:p>
        </p:txBody>
      </p:sp>
      <p:sp>
        <p:nvSpPr>
          <p:cNvPr id="64" name="card7_highlight"/>
          <p:cNvSpPr txBox="1"/>
          <p:nvPr/>
        </p:nvSpPr>
        <p:spPr>
          <a:xfrm>
            <a:off x="8191295" y="2603499"/>
            <a:ext cx="9270768" cy="3174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融合多源数据，构建“图像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—设备—空间—拓扑”联合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推理能力，形成电力行业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结构化认知壁垒。</a:t>
            </a:r>
          </a:p>
        </p:txBody>
      </p:sp>
      <p:sp>
        <p:nvSpPr>
          <p:cNvPr id="65" name="card8_title"/>
          <p:cNvSpPr txBox="1"/>
          <p:nvPr/>
        </p:nvSpPr>
        <p:spPr>
          <a:xfrm>
            <a:off x="9524761" y="1365250"/>
            <a:ext cx="10032749" cy="1523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大瓦特 4.0</a:t>
            </a:r>
          </a:p>
        </p:txBody>
      </p:sp>
      <p:sp>
        <p:nvSpPr>
          <p:cNvPr id="66" name="card8_date"/>
          <p:cNvSpPr txBox="1"/>
          <p:nvPr/>
        </p:nvSpPr>
        <p:spPr>
          <a:xfrm>
            <a:off x="10096247" y="1397000"/>
            <a:ext cx="10413739" cy="1492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9" b="0" i="0">
                <a:solidFill>
                  <a:srgbClr val="CCCCCC"/>
                </a:solidFill>
                <a:latin typeface="Arial"/>
                <a:ea typeface="Arial"/>
                <a:cs typeface="Arial"/>
              </a:rPr>
              <a:t>2027.12</a:t>
            </a:r>
          </a:p>
        </p:txBody>
      </p:sp>
      <p:sp>
        <p:nvSpPr>
          <p:cNvPr id="67" name="card8_position"/>
          <p:cNvSpPr txBox="1"/>
          <p:nvPr/>
        </p:nvSpPr>
        <p:spPr>
          <a:xfrm>
            <a:off x="9524761" y="1650999"/>
            <a:ext cx="10477238" cy="18097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9" b="0" i="0">
                <a:solidFill>
                  <a:srgbClr val="00FFFF"/>
                </a:solidFill>
                <a:latin typeface="Microsoft YaHei"/>
                <a:ea typeface="Microsoft YaHei"/>
                <a:cs typeface="Microsoft YaHei"/>
              </a:rPr>
              <a:t>定位: 世界模型化</a:t>
            </a:r>
          </a:p>
        </p:txBody>
      </p:sp>
      <p:sp>
        <p:nvSpPr>
          <p:cNvPr id="68" name="card8_highlight_label"/>
          <p:cNvSpPr txBox="1"/>
          <p:nvPr/>
        </p:nvSpPr>
        <p:spPr>
          <a:xfrm>
            <a:off x="9842253" y="2413000"/>
            <a:ext cx="10032749" cy="25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99" b="0" i="0">
                <a:solidFill>
                  <a:srgbClr val="FFA500"/>
                </a:solidFill>
                <a:latin typeface="Microsoft YaHei"/>
                <a:ea typeface="Microsoft YaHei"/>
                <a:cs typeface="Microsoft YaHei"/>
              </a:rPr>
              <a:t>亮点</a:t>
            </a:r>
          </a:p>
        </p:txBody>
      </p:sp>
      <p:sp>
        <p:nvSpPr>
          <p:cNvPr id="69" name="card8_highlight"/>
          <p:cNvSpPr txBox="1"/>
          <p:nvPr/>
        </p:nvSpPr>
        <p:spPr>
          <a:xfrm>
            <a:off x="9524761" y="2603499"/>
            <a:ext cx="10604234" cy="3174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发布电力多模态世界模型，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实现物理仿真与智能推演、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从理解现场迈向推演现场、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辅助决策。</a:t>
            </a:r>
          </a:p>
        </p:txBody>
      </p:sp>
      <p:sp>
        <p:nvSpPr>
          <p:cNvPr id="70" name="service_label"/>
          <p:cNvSpPr txBox="1"/>
          <p:nvPr/>
        </p:nvSpPr>
        <p:spPr>
          <a:xfrm>
            <a:off x="5587860" y="3238500"/>
            <a:ext cx="6603834" cy="3429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统一服务</a:t>
            </a:r>
          </a:p>
        </p:txBody>
      </p:sp>
      <p:sp>
        <p:nvSpPr>
          <p:cNvPr id="71" name="engine_label"/>
          <p:cNvSpPr txBox="1"/>
          <p:nvPr/>
        </p:nvSpPr>
        <p:spPr>
          <a:xfrm>
            <a:off x="4762380" y="3556000"/>
            <a:ext cx="7429314" cy="3809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电力专业多模态能力引擎</a:t>
            </a:r>
          </a:p>
        </p:txBody>
      </p:sp>
      <p:sp>
        <p:nvSpPr>
          <p:cNvPr id="72" name="business_base_title"/>
          <p:cNvSpPr txBox="1"/>
          <p:nvPr/>
        </p:nvSpPr>
        <p:spPr>
          <a:xfrm>
            <a:off x="3809904" y="3809999"/>
            <a:ext cx="4762380" cy="400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统一业务底座</a:t>
            </a:r>
          </a:p>
        </p:txBody>
      </p:sp>
      <p:sp>
        <p:nvSpPr>
          <p:cNvPr id="73" name="business_base_desc"/>
          <p:cNvSpPr txBox="1"/>
          <p:nvPr/>
        </p:nvSpPr>
        <p:spPr>
          <a:xfrm>
            <a:off x="3809904" y="4000500"/>
            <a:ext cx="4762380" cy="4127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99" b="0" i="0">
                <a:solidFill>
                  <a:srgbClr val="CCCCCC"/>
                </a:solidFill>
                <a:latin typeface="Microsoft YaHei"/>
                <a:ea typeface="Microsoft YaHei"/>
                <a:cs typeface="Microsoft YaHei"/>
              </a:rPr>
              <a:t>业务驱动·场景普惠</a:t>
            </a:r>
          </a:p>
        </p:txBody>
      </p:sp>
      <p:sp>
        <p:nvSpPr>
          <p:cNvPr id="74" name="data_base_title"/>
          <p:cNvSpPr txBox="1"/>
          <p:nvPr/>
        </p:nvSpPr>
        <p:spPr>
          <a:xfrm>
            <a:off x="5397365" y="3809999"/>
            <a:ext cx="6349841" cy="400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统一数据底座</a:t>
            </a:r>
          </a:p>
        </p:txBody>
      </p:sp>
      <p:sp>
        <p:nvSpPr>
          <p:cNvPr id="75" name="data_base_desc"/>
          <p:cNvSpPr txBox="1"/>
          <p:nvPr/>
        </p:nvSpPr>
        <p:spPr>
          <a:xfrm>
            <a:off x="5397365" y="4000500"/>
            <a:ext cx="6349841" cy="4127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99" b="0" i="0">
                <a:solidFill>
                  <a:srgbClr val="CCCCCC"/>
                </a:solidFill>
                <a:latin typeface="Microsoft YaHei"/>
                <a:ea typeface="Microsoft YaHei"/>
                <a:cs typeface="Microsoft YaHei"/>
              </a:rPr>
              <a:t>数据融合·知识增强</a:t>
            </a:r>
          </a:p>
        </p:txBody>
      </p:sp>
      <p:sp>
        <p:nvSpPr>
          <p:cNvPr id="76" name="tech_base_title"/>
          <p:cNvSpPr txBox="1"/>
          <p:nvPr/>
        </p:nvSpPr>
        <p:spPr>
          <a:xfrm>
            <a:off x="6984825" y="3809999"/>
            <a:ext cx="7937301" cy="400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统一技术底座</a:t>
            </a:r>
          </a:p>
        </p:txBody>
      </p:sp>
      <p:sp>
        <p:nvSpPr>
          <p:cNvPr id="77" name="tech_base_desc"/>
          <p:cNvSpPr txBox="1"/>
          <p:nvPr/>
        </p:nvSpPr>
        <p:spPr>
          <a:xfrm>
            <a:off x="6984825" y="4000500"/>
            <a:ext cx="7937301" cy="4127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99" b="0" i="0">
                <a:solidFill>
                  <a:srgbClr val="CCCCCC"/>
                </a:solidFill>
                <a:latin typeface="Microsoft YaHei"/>
                <a:ea typeface="Microsoft YaHei"/>
                <a:cs typeface="Microsoft YaHei"/>
              </a:rPr>
              <a:t>算法领先·工程可靠</a:t>
            </a:r>
          </a:p>
        </p:txBody>
      </p:sp>
      <p:sp>
        <p:nvSpPr>
          <p:cNvPr id="78" name="data_fusion_label"/>
          <p:cNvSpPr txBox="1"/>
          <p:nvPr/>
        </p:nvSpPr>
        <p:spPr>
          <a:xfrm>
            <a:off x="4762380" y="4318000"/>
            <a:ext cx="7429314" cy="450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全域数据融合与知识沉淀</a:t>
            </a:r>
          </a:p>
        </p:txBody>
      </p:sp>
      <p:sp>
        <p:nvSpPr>
          <p:cNvPr id="79" name="domain_production"/>
          <p:cNvSpPr txBox="1"/>
          <p:nvPr/>
        </p:nvSpPr>
        <p:spPr>
          <a:xfrm>
            <a:off x="4127396" y="4635499"/>
            <a:ext cx="4762380" cy="476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99" b="0" i="0">
                <a:solidFill>
                  <a:srgbClr val="CCCCCC"/>
                </a:solidFill>
                <a:latin typeface="Microsoft YaHei"/>
                <a:ea typeface="Microsoft YaHei"/>
                <a:cs typeface="Microsoft YaHei"/>
              </a:rPr>
              <a:t>电网生产域</a:t>
            </a:r>
          </a:p>
        </p:txBody>
      </p:sp>
      <p:sp>
        <p:nvSpPr>
          <p:cNvPr id="80" name="domain_asset"/>
          <p:cNvSpPr txBox="1"/>
          <p:nvPr/>
        </p:nvSpPr>
        <p:spPr>
          <a:xfrm>
            <a:off x="4952876" y="4635499"/>
            <a:ext cx="5587860" cy="476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99" b="0" i="0">
                <a:solidFill>
                  <a:srgbClr val="CCCCCC"/>
                </a:solidFill>
                <a:latin typeface="Microsoft YaHei"/>
                <a:ea typeface="Microsoft YaHei"/>
                <a:cs typeface="Microsoft YaHei"/>
              </a:rPr>
              <a:t>设备资产域</a:t>
            </a:r>
          </a:p>
        </p:txBody>
      </p:sp>
      <p:sp>
        <p:nvSpPr>
          <p:cNvPr id="81" name="domain_service"/>
          <p:cNvSpPr txBox="1"/>
          <p:nvPr/>
        </p:nvSpPr>
        <p:spPr>
          <a:xfrm>
            <a:off x="5778355" y="4635499"/>
            <a:ext cx="6413339" cy="476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99" b="0" i="0">
                <a:solidFill>
                  <a:srgbClr val="CCCCCC"/>
                </a:solidFill>
                <a:latin typeface="Microsoft YaHei"/>
                <a:ea typeface="Microsoft YaHei"/>
                <a:cs typeface="Microsoft YaHei"/>
              </a:rPr>
              <a:t>营销服务域</a:t>
            </a:r>
          </a:p>
        </p:txBody>
      </p:sp>
      <p:sp>
        <p:nvSpPr>
          <p:cNvPr id="82" name="domain_security"/>
          <p:cNvSpPr txBox="1"/>
          <p:nvPr/>
        </p:nvSpPr>
        <p:spPr>
          <a:xfrm>
            <a:off x="6603834" y="4635499"/>
            <a:ext cx="7238819" cy="476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99" b="0" i="0">
                <a:solidFill>
                  <a:srgbClr val="CCCCCC"/>
                </a:solidFill>
                <a:latin typeface="Microsoft YaHei"/>
                <a:ea typeface="Microsoft YaHei"/>
                <a:cs typeface="Microsoft YaHei"/>
              </a:rPr>
              <a:t>安全管理域</a:t>
            </a:r>
          </a:p>
        </p:txBody>
      </p:sp>
      <p:sp>
        <p:nvSpPr>
          <p:cNvPr id="83" name="domain_external"/>
          <p:cNvSpPr txBox="1"/>
          <p:nvPr/>
        </p:nvSpPr>
        <p:spPr>
          <a:xfrm>
            <a:off x="7429314" y="4635499"/>
            <a:ext cx="8064298" cy="476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99" b="0" i="0">
                <a:solidFill>
                  <a:srgbClr val="CCCCCC"/>
                </a:solidFill>
                <a:latin typeface="Microsoft YaHei"/>
                <a:ea typeface="Microsoft YaHei"/>
                <a:cs typeface="Microsoft YaHei"/>
              </a:rPr>
              <a:t>外部环境域</a:t>
            </a:r>
          </a:p>
        </p:txBody>
      </p:sp>
      <p:sp>
        <p:nvSpPr>
          <p:cNvPr id="84" name="eco_business_title"/>
          <p:cNvSpPr txBox="1"/>
          <p:nvPr/>
        </p:nvSpPr>
        <p:spPr>
          <a:xfrm>
            <a:off x="507987" y="3556000"/>
            <a:ext cx="1015974" cy="3746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业务生态</a:t>
            </a:r>
          </a:p>
        </p:txBody>
      </p:sp>
      <p:sp>
        <p:nvSpPr>
          <p:cNvPr id="85" name="eco_business_desc"/>
          <p:cNvSpPr txBox="1"/>
          <p:nvPr/>
        </p:nvSpPr>
        <p:spPr>
          <a:xfrm>
            <a:off x="507987" y="3746500"/>
            <a:ext cx="1269968" cy="3873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99" b="0" i="0">
                <a:solidFill>
                  <a:srgbClr val="CCCCCC"/>
                </a:solidFill>
                <a:latin typeface="Microsoft YaHei"/>
                <a:ea typeface="Microsoft YaHei"/>
                <a:cs typeface="Microsoft YaHei"/>
              </a:rPr>
              <a:t>多业务域协同赋能</a:t>
            </a:r>
          </a:p>
        </p:txBody>
      </p:sp>
      <p:sp>
        <p:nvSpPr>
          <p:cNvPr id="86" name="eco_model_title"/>
          <p:cNvSpPr txBox="1"/>
          <p:nvPr/>
        </p:nvSpPr>
        <p:spPr>
          <a:xfrm>
            <a:off x="507987" y="4190999"/>
            <a:ext cx="1015974" cy="4381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模型生态</a:t>
            </a:r>
          </a:p>
        </p:txBody>
      </p:sp>
      <p:sp>
        <p:nvSpPr>
          <p:cNvPr id="87" name="eco_model_desc"/>
          <p:cNvSpPr txBox="1"/>
          <p:nvPr/>
        </p:nvSpPr>
        <p:spPr>
          <a:xfrm>
            <a:off x="507987" y="4381499"/>
            <a:ext cx="1396965" cy="450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99" b="0" i="0">
                <a:solidFill>
                  <a:srgbClr val="CCCCCC"/>
                </a:solidFill>
                <a:latin typeface="Microsoft YaHei"/>
                <a:ea typeface="Microsoft YaHei"/>
                <a:cs typeface="Microsoft YaHei"/>
              </a:rPr>
              <a:t>多模态模型协同演进</a:t>
            </a:r>
          </a:p>
        </p:txBody>
      </p:sp>
      <p:sp>
        <p:nvSpPr>
          <p:cNvPr id="88" name="eco_knowledge_title"/>
          <p:cNvSpPr txBox="1"/>
          <p:nvPr/>
        </p:nvSpPr>
        <p:spPr>
          <a:xfrm>
            <a:off x="11175720" y="3556000"/>
            <a:ext cx="11683707" cy="3746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知识生态</a:t>
            </a:r>
          </a:p>
        </p:txBody>
      </p:sp>
      <p:sp>
        <p:nvSpPr>
          <p:cNvPr id="89" name="eco_knowledge_desc"/>
          <p:cNvSpPr txBox="1"/>
          <p:nvPr/>
        </p:nvSpPr>
        <p:spPr>
          <a:xfrm>
            <a:off x="11175720" y="3746500"/>
            <a:ext cx="11937701" cy="3873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99" b="0" i="0">
                <a:solidFill>
                  <a:srgbClr val="CCCCCC"/>
                </a:solidFill>
                <a:latin typeface="Microsoft YaHei"/>
                <a:ea typeface="Microsoft YaHei"/>
                <a:cs typeface="Microsoft YaHei"/>
              </a:rPr>
              <a:t>电力专业知识体系</a:t>
            </a:r>
          </a:p>
        </p:txBody>
      </p:sp>
      <p:sp>
        <p:nvSpPr>
          <p:cNvPr id="90" name="eco_tool_title"/>
          <p:cNvSpPr txBox="1"/>
          <p:nvPr/>
        </p:nvSpPr>
        <p:spPr>
          <a:xfrm>
            <a:off x="11175720" y="4190999"/>
            <a:ext cx="11683707" cy="4381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工具生态</a:t>
            </a:r>
          </a:p>
        </p:txBody>
      </p:sp>
      <p:sp>
        <p:nvSpPr>
          <p:cNvPr id="91" name="eco_tool_desc"/>
          <p:cNvSpPr txBox="1"/>
          <p:nvPr/>
        </p:nvSpPr>
        <p:spPr>
          <a:xfrm>
            <a:off x="11175720" y="4381499"/>
            <a:ext cx="11937701" cy="450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99" b="0" i="0">
                <a:solidFill>
                  <a:srgbClr val="CCCCCC"/>
                </a:solidFill>
                <a:latin typeface="Microsoft YaHei"/>
                <a:ea typeface="Microsoft YaHei"/>
                <a:cs typeface="Microsoft YaHei"/>
              </a:rPr>
              <a:t>工具链与应用集成</a:t>
            </a:r>
          </a:p>
        </p:txBody>
      </p:sp>
      <p:sp>
        <p:nvSpPr>
          <p:cNvPr id="92" name="evolution_path_title"/>
          <p:cNvSpPr txBox="1"/>
          <p:nvPr/>
        </p:nvSpPr>
        <p:spPr>
          <a:xfrm>
            <a:off x="190495" y="5080000"/>
            <a:ext cx="761980" cy="546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99" b="1" i="0">
                <a:solidFill>
                  <a:srgbClr val="FFA500"/>
                </a:solidFill>
                <a:latin typeface="Microsoft YaHei"/>
                <a:ea typeface="Microsoft YaHei"/>
                <a:cs typeface="Microsoft YaHei"/>
              </a:rPr>
              <a:t>演进路径</a:t>
            </a:r>
          </a:p>
        </p:txBody>
      </p:sp>
      <p:sp>
        <p:nvSpPr>
          <p:cNvPr id="93" name="path1_title"/>
          <p:cNvSpPr txBox="1"/>
          <p:nvPr/>
        </p:nvSpPr>
        <p:spPr>
          <a:xfrm>
            <a:off x="952476" y="5715000"/>
            <a:ext cx="1587460" cy="584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服务化入口</a:t>
            </a:r>
          </a:p>
        </p:txBody>
      </p:sp>
      <p:sp>
        <p:nvSpPr>
          <p:cNvPr id="94" name="path1_desc"/>
          <p:cNvSpPr txBox="1"/>
          <p:nvPr/>
        </p:nvSpPr>
        <p:spPr>
          <a:xfrm>
            <a:off x="952476" y="5842000"/>
            <a:ext cx="1587460" cy="5969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99" b="0" i="0">
                <a:solidFill>
                  <a:srgbClr val="CCCCCC"/>
                </a:solidFill>
                <a:latin typeface="Microsoft YaHei"/>
                <a:ea typeface="Microsoft YaHei"/>
                <a:cs typeface="Microsoft YaHei"/>
              </a:rPr>
              <a:t>打通能力入口</a:t>
            </a:r>
          </a:p>
        </p:txBody>
      </p:sp>
      <p:sp>
        <p:nvSpPr>
          <p:cNvPr id="95" name="path2_title"/>
          <p:cNvSpPr txBox="1"/>
          <p:nvPr/>
        </p:nvSpPr>
        <p:spPr>
          <a:xfrm>
            <a:off x="2222444" y="5715000"/>
            <a:ext cx="2857428" cy="584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规模化跃升</a:t>
            </a:r>
          </a:p>
        </p:txBody>
      </p:sp>
      <p:sp>
        <p:nvSpPr>
          <p:cNvPr id="96" name="path2_desc"/>
          <p:cNvSpPr txBox="1"/>
          <p:nvPr/>
        </p:nvSpPr>
        <p:spPr>
          <a:xfrm>
            <a:off x="2222444" y="5842000"/>
            <a:ext cx="2857428" cy="5969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99" b="0" i="0">
                <a:solidFill>
                  <a:srgbClr val="CCCCCC"/>
                </a:solidFill>
                <a:latin typeface="Microsoft YaHei"/>
                <a:ea typeface="Microsoft YaHei"/>
                <a:cs typeface="Microsoft YaHei"/>
              </a:rPr>
              <a:t>提升模型规模</a:t>
            </a:r>
          </a:p>
        </p:txBody>
      </p:sp>
      <p:sp>
        <p:nvSpPr>
          <p:cNvPr id="97" name="path3_title"/>
          <p:cNvSpPr txBox="1"/>
          <p:nvPr/>
        </p:nvSpPr>
        <p:spPr>
          <a:xfrm>
            <a:off x="3492412" y="5715000"/>
            <a:ext cx="4127396" cy="584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行业专业化</a:t>
            </a:r>
          </a:p>
        </p:txBody>
      </p:sp>
      <p:sp>
        <p:nvSpPr>
          <p:cNvPr id="98" name="path3_desc"/>
          <p:cNvSpPr txBox="1"/>
          <p:nvPr/>
        </p:nvSpPr>
        <p:spPr>
          <a:xfrm>
            <a:off x="3492412" y="5842000"/>
            <a:ext cx="4127396" cy="5969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99" b="0" i="0">
                <a:solidFill>
                  <a:srgbClr val="CCCCCC"/>
                </a:solidFill>
                <a:latin typeface="Microsoft YaHei"/>
                <a:ea typeface="Microsoft YaHei"/>
                <a:cs typeface="Microsoft YaHei"/>
              </a:rPr>
              <a:t>深耕电力场景</a:t>
            </a:r>
          </a:p>
        </p:txBody>
      </p:sp>
      <p:sp>
        <p:nvSpPr>
          <p:cNvPr id="99" name="path4_title"/>
          <p:cNvSpPr txBox="1"/>
          <p:nvPr/>
        </p:nvSpPr>
        <p:spPr>
          <a:xfrm>
            <a:off x="4762380" y="5715000"/>
            <a:ext cx="5397365" cy="584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架构协同化</a:t>
            </a:r>
          </a:p>
        </p:txBody>
      </p:sp>
      <p:sp>
        <p:nvSpPr>
          <p:cNvPr id="100" name="path4_desc"/>
          <p:cNvSpPr txBox="1"/>
          <p:nvPr/>
        </p:nvSpPr>
        <p:spPr>
          <a:xfrm>
            <a:off x="4762380" y="5842000"/>
            <a:ext cx="5397365" cy="5969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99" b="0" i="0">
                <a:solidFill>
                  <a:srgbClr val="CCCCCC"/>
                </a:solidFill>
                <a:latin typeface="Microsoft YaHei"/>
                <a:ea typeface="Microsoft YaHei"/>
                <a:cs typeface="Microsoft YaHei"/>
              </a:rPr>
              <a:t>专家协同智能</a:t>
            </a:r>
          </a:p>
        </p:txBody>
      </p:sp>
      <p:sp>
        <p:nvSpPr>
          <p:cNvPr id="101" name="path5_title"/>
          <p:cNvSpPr txBox="1"/>
          <p:nvPr/>
        </p:nvSpPr>
        <p:spPr>
          <a:xfrm>
            <a:off x="6032349" y="5715000"/>
            <a:ext cx="6667333" cy="584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推理原生化</a:t>
            </a:r>
          </a:p>
        </p:txBody>
      </p:sp>
      <p:sp>
        <p:nvSpPr>
          <p:cNvPr id="102" name="path5_desc"/>
          <p:cNvSpPr txBox="1"/>
          <p:nvPr/>
        </p:nvSpPr>
        <p:spPr>
          <a:xfrm>
            <a:off x="6032349" y="5842000"/>
            <a:ext cx="6667333" cy="5969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99" b="0" i="0">
                <a:solidFill>
                  <a:srgbClr val="CCCCCC"/>
                </a:solidFill>
                <a:latin typeface="Microsoft YaHei"/>
                <a:ea typeface="Microsoft YaHei"/>
                <a:cs typeface="Microsoft YaHei"/>
              </a:rPr>
              <a:t>强化推理能力</a:t>
            </a:r>
          </a:p>
        </p:txBody>
      </p:sp>
      <p:sp>
        <p:nvSpPr>
          <p:cNvPr id="103" name="path6_title"/>
          <p:cNvSpPr txBox="1"/>
          <p:nvPr/>
        </p:nvSpPr>
        <p:spPr>
          <a:xfrm>
            <a:off x="7302317" y="5715000"/>
            <a:ext cx="7937301" cy="584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工业图纸化</a:t>
            </a:r>
          </a:p>
        </p:txBody>
      </p:sp>
      <p:sp>
        <p:nvSpPr>
          <p:cNvPr id="104" name="path6_desc"/>
          <p:cNvSpPr txBox="1"/>
          <p:nvPr/>
        </p:nvSpPr>
        <p:spPr>
          <a:xfrm>
            <a:off x="7302317" y="5842000"/>
            <a:ext cx="7937301" cy="5969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99" b="0" i="0">
                <a:solidFill>
                  <a:srgbClr val="CCCCCC"/>
                </a:solidFill>
                <a:latin typeface="Microsoft YaHei"/>
                <a:ea typeface="Microsoft YaHei"/>
                <a:cs typeface="Microsoft YaHei"/>
              </a:rPr>
              <a:t>理解工程图纸</a:t>
            </a:r>
          </a:p>
        </p:txBody>
      </p:sp>
      <p:sp>
        <p:nvSpPr>
          <p:cNvPr id="105" name="path7_title"/>
          <p:cNvSpPr txBox="1"/>
          <p:nvPr/>
        </p:nvSpPr>
        <p:spPr>
          <a:xfrm>
            <a:off x="8572285" y="5715000"/>
            <a:ext cx="9207269" cy="584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拓扑认知化</a:t>
            </a:r>
          </a:p>
        </p:txBody>
      </p:sp>
      <p:sp>
        <p:nvSpPr>
          <p:cNvPr id="106" name="path7_desc"/>
          <p:cNvSpPr txBox="1"/>
          <p:nvPr/>
        </p:nvSpPr>
        <p:spPr>
          <a:xfrm>
            <a:off x="8572285" y="5842000"/>
            <a:ext cx="9207269" cy="5969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99" b="0" i="0">
                <a:solidFill>
                  <a:srgbClr val="CCCCCC"/>
                </a:solidFill>
                <a:latin typeface="Microsoft YaHei"/>
                <a:ea typeface="Microsoft YaHei"/>
                <a:cs typeface="Microsoft YaHei"/>
              </a:rPr>
              <a:t>推理电网结构</a:t>
            </a:r>
          </a:p>
        </p:txBody>
      </p:sp>
      <p:sp>
        <p:nvSpPr>
          <p:cNvPr id="107" name="path8_title"/>
          <p:cNvSpPr txBox="1"/>
          <p:nvPr/>
        </p:nvSpPr>
        <p:spPr>
          <a:xfrm>
            <a:off x="9842253" y="5715000"/>
            <a:ext cx="10477238" cy="584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世界模型化</a:t>
            </a:r>
          </a:p>
        </p:txBody>
      </p:sp>
      <p:sp>
        <p:nvSpPr>
          <p:cNvPr id="108" name="path8_desc"/>
          <p:cNvSpPr txBox="1"/>
          <p:nvPr/>
        </p:nvSpPr>
        <p:spPr>
          <a:xfrm>
            <a:off x="9842253" y="5842000"/>
            <a:ext cx="10477238" cy="5969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99" b="0" i="0">
                <a:solidFill>
                  <a:srgbClr val="CCCCCC"/>
                </a:solidFill>
                <a:latin typeface="Microsoft YaHei"/>
                <a:ea typeface="Microsoft YaHei"/>
                <a:cs typeface="Microsoft YaHei"/>
              </a:rPr>
              <a:t>仿真推演决策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Image2PPT Deck</dc:title>
  <dc:subject>Generated by bggg-creator-image2ppt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