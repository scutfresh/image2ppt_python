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952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9521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l 1 Header"/>
          <p:cNvSpPr/>
          <p:nvPr/>
        </p:nvSpPr>
        <p:spPr>
          <a:xfrm>
            <a:off x="203874" y="1427121"/>
            <a:ext cx="3771678" cy="509686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 2 Header"/>
          <p:cNvSpPr/>
          <p:nvPr/>
        </p:nvSpPr>
        <p:spPr>
          <a:xfrm>
            <a:off x="4077490" y="1427121"/>
            <a:ext cx="3771678" cy="509686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l 3 Header"/>
          <p:cNvSpPr/>
          <p:nvPr/>
        </p:nvSpPr>
        <p:spPr>
          <a:xfrm>
            <a:off x="7951105" y="1427121"/>
            <a:ext cx="3771678" cy="509686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Left Header"/>
          <p:cNvSpPr/>
          <p:nvPr/>
        </p:nvSpPr>
        <p:spPr>
          <a:xfrm>
            <a:off x="1529058" y="6116235"/>
            <a:ext cx="2038745" cy="305811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 Right Header"/>
          <p:cNvSpPr/>
          <p:nvPr/>
        </p:nvSpPr>
        <p:spPr>
          <a:xfrm>
            <a:off x="8154980" y="6116235"/>
            <a:ext cx="2038745" cy="305811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l_1_centra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2" y="2038745"/>
            <a:ext cx="2548431" cy="3058117"/>
          </a:xfrm>
          <a:prstGeom prst="rect">
            <a:avLst/>
          </a:prstGeom>
        </p:spPr>
      </p:pic>
      <p:pic>
        <p:nvPicPr>
          <p:cNvPr id="9" name="Picture 8" descr="col_2_input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427" y="2242619"/>
            <a:ext cx="3465866" cy="611623"/>
          </a:xfrm>
          <a:prstGeom prst="rect">
            <a:avLst/>
          </a:prstGeom>
        </p:spPr>
      </p:pic>
      <p:pic>
        <p:nvPicPr>
          <p:cNvPr id="10" name="Picture 9" descr="col_2_model_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427" y="3160054"/>
            <a:ext cx="3465866" cy="611623"/>
          </a:xfrm>
          <a:prstGeom prst="rect">
            <a:avLst/>
          </a:prstGeom>
        </p:spPr>
      </p:pic>
      <p:pic>
        <p:nvPicPr>
          <p:cNvPr id="11" name="Picture 10" descr="col_2_output_s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427" y="4179427"/>
            <a:ext cx="3465866" cy="611623"/>
          </a:xfrm>
          <a:prstGeom prst="rect">
            <a:avLst/>
          </a:prstGeom>
        </p:spPr>
      </p:pic>
      <p:pic>
        <p:nvPicPr>
          <p:cNvPr id="12" name="Picture 11" descr="col_2_bottom_b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427" y="4892988"/>
            <a:ext cx="3465866" cy="407749"/>
          </a:xfrm>
          <a:prstGeom prst="rect">
            <a:avLst/>
          </a:prstGeom>
        </p:spPr>
      </p:pic>
      <p:pic>
        <p:nvPicPr>
          <p:cNvPr id="13" name="Picture 12" descr="col_2_robot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9427" y="5402674"/>
            <a:ext cx="407749" cy="407749"/>
          </a:xfrm>
          <a:prstGeom prst="rect">
            <a:avLst/>
          </a:prstGeom>
        </p:spPr>
      </p:pic>
      <p:pic>
        <p:nvPicPr>
          <p:cNvPr id="14" name="Picture 13" descr="col_3_top_r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1105" y="1936807"/>
            <a:ext cx="3669741" cy="611623"/>
          </a:xfrm>
          <a:prstGeom prst="rect">
            <a:avLst/>
          </a:prstGeom>
        </p:spPr>
      </p:pic>
      <p:pic>
        <p:nvPicPr>
          <p:cNvPr id="15" name="Picture 14" descr="col_3_rag_cy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105" y="3058117"/>
            <a:ext cx="3669741" cy="1223247"/>
          </a:xfrm>
          <a:prstGeom prst="rect">
            <a:avLst/>
          </a:prstGeom>
        </p:spPr>
      </p:pic>
      <p:pic>
        <p:nvPicPr>
          <p:cNvPr id="16" name="Picture 15" descr="col_3_bottom_outp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1105" y="4892988"/>
            <a:ext cx="3669741" cy="815498"/>
          </a:xfrm>
          <a:prstGeom prst="rect">
            <a:avLst/>
          </a:prstGeom>
        </p:spPr>
      </p:pic>
      <p:pic>
        <p:nvPicPr>
          <p:cNvPr id="17" name="Picture 16" descr="footer_left_fl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74" y="6320109"/>
            <a:ext cx="5606548" cy="611623"/>
          </a:xfrm>
          <a:prstGeom prst="rect">
            <a:avLst/>
          </a:prstGeom>
        </p:spPr>
      </p:pic>
      <p:pic>
        <p:nvPicPr>
          <p:cNvPr id="18" name="Picture 17" descr="footer_right_valu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4980" y="6320109"/>
            <a:ext cx="3669741" cy="611623"/>
          </a:xfrm>
          <a:prstGeom prst="rect">
            <a:avLst/>
          </a:prstGeom>
        </p:spPr>
      </p:pic>
      <p:sp>
        <p:nvSpPr>
          <p:cNvPr id="19" name="titles"/>
          <p:cNvSpPr txBox="1"/>
          <p:nvPr/>
        </p:nvSpPr>
        <p:spPr>
          <a:xfrm>
            <a:off x="1019372" y="203874"/>
            <a:ext cx="10152950" cy="611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68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从深度对齐到安全可控：构建电力专属大模型价值观与工程护栏</a:t>
            </a:r>
          </a:p>
        </p:txBody>
      </p:sp>
      <p:sp>
        <p:nvSpPr>
          <p:cNvPr id="20" name="titles"/>
          <p:cNvSpPr txBox="1"/>
          <p:nvPr/>
        </p:nvSpPr>
        <p:spPr>
          <a:xfrm>
            <a:off x="3567803" y="866466"/>
            <a:ext cx="5056087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通过强化学习、安全护栏与知识增强，确保模型专业、可靠、可控</a:t>
            </a:r>
          </a:p>
        </p:txBody>
      </p:sp>
      <p:sp>
        <p:nvSpPr>
          <p:cNvPr id="21" name="titles"/>
          <p:cNvSpPr txBox="1"/>
          <p:nvPr/>
        </p:nvSpPr>
        <p:spPr>
          <a:xfrm>
            <a:off x="203874" y="1427121"/>
            <a:ext cx="3771678" cy="509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行业意图对齐 (RLHF / DPO)</a:t>
            </a:r>
          </a:p>
        </p:txBody>
      </p:sp>
      <p:sp>
        <p:nvSpPr>
          <p:cNvPr id="22" name="titles"/>
          <p:cNvSpPr txBox="1"/>
          <p:nvPr/>
        </p:nvSpPr>
        <p:spPr>
          <a:xfrm>
            <a:off x="4077490" y="1427121"/>
            <a:ext cx="3771678" cy="509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原生安全护栏 (Guardrails)</a:t>
            </a:r>
          </a:p>
        </p:txBody>
      </p:sp>
      <p:sp>
        <p:nvSpPr>
          <p:cNvPr id="23" name="titles"/>
          <p:cNvSpPr txBox="1"/>
          <p:nvPr/>
        </p:nvSpPr>
        <p:spPr>
          <a:xfrm>
            <a:off x="7951105" y="1427121"/>
            <a:ext cx="3771678" cy="509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知识增强与工程闭环 (RAG &amp; Harness)</a:t>
            </a:r>
          </a:p>
        </p:txBody>
      </p:sp>
      <p:sp>
        <p:nvSpPr>
          <p:cNvPr id="24" name="titles"/>
          <p:cNvSpPr txBox="1"/>
          <p:nvPr/>
        </p:nvSpPr>
        <p:spPr>
          <a:xfrm>
            <a:off x="2038745" y="6116235"/>
            <a:ext cx="2038745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持续学习与安全闭环</a:t>
            </a:r>
          </a:p>
        </p:txBody>
      </p:sp>
      <p:sp>
        <p:nvSpPr>
          <p:cNvPr id="25" name="titles"/>
          <p:cNvSpPr txBox="1"/>
          <p:nvPr/>
        </p:nvSpPr>
        <p:spPr>
          <a:xfrm>
            <a:off x="8664666" y="6116235"/>
            <a:ext cx="2038745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工程化闭环价值</a:t>
            </a:r>
          </a:p>
        </p:txBody>
      </p:sp>
      <p:sp>
        <p:nvSpPr>
          <p:cNvPr id="26" name="body_text"/>
          <p:cNvSpPr txBox="1"/>
          <p:nvPr/>
        </p:nvSpPr>
        <p:spPr>
          <a:xfrm>
            <a:off x="305811" y="2242619"/>
            <a:ext cx="1019372" cy="1529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业务专家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安全专家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运行专家</a:t>
            </a:r>
          </a:p>
        </p:txBody>
      </p:sp>
      <p:sp>
        <p:nvSpPr>
          <p:cNvPr id="27" name="body_text"/>
          <p:cNvSpPr txBox="1"/>
          <p:nvPr/>
        </p:nvSpPr>
        <p:spPr>
          <a:xfrm>
            <a:off x="1834870" y="1834870"/>
            <a:ext cx="1019372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专家偏好反馈</a:t>
            </a:r>
          </a:p>
        </p:txBody>
      </p:sp>
      <p:sp>
        <p:nvSpPr>
          <p:cNvPr id="28" name="body_text"/>
          <p:cNvSpPr txBox="1"/>
          <p:nvPr/>
        </p:nvSpPr>
        <p:spPr>
          <a:xfrm>
            <a:off x="1223247" y="3567803"/>
            <a:ext cx="81549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安全规则内化</a:t>
            </a:r>
          </a:p>
        </p:txBody>
      </p:sp>
      <p:sp>
        <p:nvSpPr>
          <p:cNvPr id="29" name="body_text"/>
          <p:cNvSpPr txBox="1"/>
          <p:nvPr/>
        </p:nvSpPr>
        <p:spPr>
          <a:xfrm>
            <a:off x="1834870" y="3261992"/>
            <a:ext cx="1019372" cy="611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SFT基础能力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(多模态)</a:t>
            </a:r>
          </a:p>
        </p:txBody>
      </p:sp>
      <p:sp>
        <p:nvSpPr>
          <p:cNvPr id="30" name="body_text"/>
          <p:cNvSpPr txBox="1"/>
          <p:nvPr/>
        </p:nvSpPr>
        <p:spPr>
          <a:xfrm>
            <a:off x="2854243" y="3567803"/>
            <a:ext cx="815498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奖励模型/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偏好优化</a:t>
            </a:r>
          </a:p>
        </p:txBody>
      </p:sp>
      <p:sp>
        <p:nvSpPr>
          <p:cNvPr id="31" name="body_text"/>
          <p:cNvSpPr txBox="1"/>
          <p:nvPr/>
        </p:nvSpPr>
        <p:spPr>
          <a:xfrm>
            <a:off x="1834870" y="4892988"/>
            <a:ext cx="1019372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现场经验对齐</a:t>
            </a:r>
          </a:p>
        </p:txBody>
      </p:sp>
      <p:sp>
        <p:nvSpPr>
          <p:cNvPr id="32" name="body_text"/>
          <p:cNvSpPr txBox="1"/>
          <p:nvPr/>
        </p:nvSpPr>
        <p:spPr>
          <a:xfrm>
            <a:off x="305811" y="5096862"/>
            <a:ext cx="3567803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 图像 图纸 时序 结构化</a:t>
            </a:r>
          </a:p>
        </p:txBody>
      </p:sp>
      <p:sp>
        <p:nvSpPr>
          <p:cNvPr id="33" name="body_text"/>
          <p:cNvSpPr txBox="1"/>
          <p:nvPr/>
        </p:nvSpPr>
        <p:spPr>
          <a:xfrm>
            <a:off x="305811" y="5504611"/>
            <a:ext cx="356780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让模型不仅答得对，更看得准、答得稳、答得像专家</a:t>
            </a:r>
          </a:p>
        </p:txBody>
      </p:sp>
      <p:sp>
        <p:nvSpPr>
          <p:cNvPr id="34" name="body_text"/>
          <p:cNvSpPr txBox="1"/>
          <p:nvPr/>
        </p:nvSpPr>
        <p:spPr>
          <a:xfrm>
            <a:off x="4587176" y="2038745"/>
            <a:ext cx="2548431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输入端 (多模态过滤)</a:t>
            </a:r>
          </a:p>
        </p:txBody>
      </p:sp>
      <p:sp>
        <p:nvSpPr>
          <p:cNvPr id="35" name="body_text"/>
          <p:cNvSpPr txBox="1"/>
          <p:nvPr/>
        </p:nvSpPr>
        <p:spPr>
          <a:xfrm>
            <a:off x="4281364" y="2344556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文本过滤 图像过滤 图纸过滤 时序过滤 结构化过滤</a:t>
            </a:r>
          </a:p>
        </p:txBody>
      </p:sp>
      <p:sp>
        <p:nvSpPr>
          <p:cNvPr id="36" name="body_text"/>
          <p:cNvSpPr txBox="1"/>
          <p:nvPr/>
        </p:nvSpPr>
        <p:spPr>
          <a:xfrm>
            <a:off x="4587176" y="3058117"/>
            <a:ext cx="2548431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模型层 (安全约束)</a:t>
            </a:r>
          </a:p>
        </p:txBody>
      </p:sp>
      <p:sp>
        <p:nvSpPr>
          <p:cNvPr id="37" name="body_text"/>
          <p:cNvSpPr txBox="1"/>
          <p:nvPr/>
        </p:nvSpPr>
        <p:spPr>
          <a:xfrm>
            <a:off x="4281364" y="3363929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安全策略 规则约束 风险识别 敏感检测 合规校验</a:t>
            </a:r>
          </a:p>
        </p:txBody>
      </p:sp>
      <p:sp>
        <p:nvSpPr>
          <p:cNvPr id="38" name="body_text"/>
          <p:cNvSpPr txBox="1"/>
          <p:nvPr/>
        </p:nvSpPr>
        <p:spPr>
          <a:xfrm>
            <a:off x="4587176" y="4077490"/>
            <a:ext cx="2548431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输出端 (内容校验)</a:t>
            </a:r>
          </a:p>
        </p:txBody>
      </p:sp>
      <p:sp>
        <p:nvSpPr>
          <p:cNvPr id="39" name="body_text"/>
          <p:cNvSpPr txBox="1"/>
          <p:nvPr/>
        </p:nvSpPr>
        <p:spPr>
          <a:xfrm>
            <a:off x="4281364" y="4383301"/>
            <a:ext cx="3058117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事实校验 统一拒答 合规调色 保密脱敏 完整性校验</a:t>
            </a:r>
          </a:p>
        </p:txBody>
      </p:sp>
      <p:sp>
        <p:nvSpPr>
          <p:cNvPr id="40" name="body_text"/>
          <p:cNvSpPr txBox="1"/>
          <p:nvPr/>
        </p:nvSpPr>
        <p:spPr>
          <a:xfrm>
            <a:off x="4587176" y="4994925"/>
            <a:ext cx="2548431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4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宁可不言，绝不乱答</a:t>
            </a:r>
          </a:p>
        </p:txBody>
      </p:sp>
      <p:sp>
        <p:nvSpPr>
          <p:cNvPr id="41" name="body_text"/>
          <p:cNvSpPr txBox="1"/>
          <p:nvPr/>
        </p:nvSpPr>
        <p:spPr>
          <a:xfrm>
            <a:off x="5606548" y="5402674"/>
            <a:ext cx="2038745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当请求涉及安全风险或不确定时，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建议按规程处置并提供依据。</a:t>
            </a:r>
          </a:p>
        </p:txBody>
      </p:sp>
      <p:sp>
        <p:nvSpPr>
          <p:cNvPr id="42" name="body_text"/>
          <p:cNvSpPr txBox="1"/>
          <p:nvPr/>
        </p:nvSpPr>
        <p:spPr>
          <a:xfrm>
            <a:off x="8053042" y="2038745"/>
            <a:ext cx="3567803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规整制度库 设备参数库 图谱知识库 历史案例库</a:t>
            </a:r>
          </a:p>
        </p:txBody>
      </p:sp>
      <p:sp>
        <p:nvSpPr>
          <p:cNvPr id="43" name="body_text"/>
          <p:cNvSpPr txBox="1"/>
          <p:nvPr/>
        </p:nvSpPr>
        <p:spPr>
          <a:xfrm>
            <a:off x="8154980" y="3567803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44" name="body_text"/>
          <p:cNvSpPr txBox="1"/>
          <p:nvPr/>
        </p:nvSpPr>
        <p:spPr>
          <a:xfrm>
            <a:off x="9480164" y="3363929"/>
            <a:ext cx="815498" cy="509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检索增强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45" name="body_text"/>
          <p:cNvSpPr txBox="1"/>
          <p:nvPr/>
        </p:nvSpPr>
        <p:spPr>
          <a:xfrm>
            <a:off x="10703411" y="3567803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证据回溯</a:t>
            </a:r>
          </a:p>
        </p:txBody>
      </p:sp>
      <p:sp>
        <p:nvSpPr>
          <p:cNvPr id="46" name="body_text"/>
          <p:cNvSpPr txBox="1"/>
          <p:nvPr/>
        </p:nvSpPr>
        <p:spPr>
          <a:xfrm>
            <a:off x="9480164" y="4077490"/>
            <a:ext cx="81549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动态更新</a:t>
            </a:r>
          </a:p>
        </p:txBody>
      </p:sp>
      <p:sp>
        <p:nvSpPr>
          <p:cNvPr id="47" name="body_text"/>
          <p:cNvSpPr txBox="1"/>
          <p:nvPr/>
        </p:nvSpPr>
        <p:spPr>
          <a:xfrm>
            <a:off x="8664666" y="4892988"/>
            <a:ext cx="1529058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安全可信输出</a:t>
            </a:r>
          </a:p>
        </p:txBody>
      </p:sp>
      <p:sp>
        <p:nvSpPr>
          <p:cNvPr id="48" name="body_text"/>
          <p:cNvSpPr txBox="1"/>
          <p:nvPr/>
        </p:nvSpPr>
        <p:spPr>
          <a:xfrm>
            <a:off x="8154980" y="5300737"/>
            <a:ext cx="2548431" cy="305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有据可查 实时更新 辅助决策</a:t>
            </a:r>
          </a:p>
        </p:txBody>
      </p:sp>
      <p:sp>
        <p:nvSpPr>
          <p:cNvPr id="49" name="body_text"/>
          <p:cNvSpPr txBox="1"/>
          <p:nvPr/>
        </p:nvSpPr>
        <p:spPr>
          <a:xfrm>
            <a:off x="509686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</p:txBody>
      </p:sp>
      <p:sp>
        <p:nvSpPr>
          <p:cNvPr id="50" name="body_text"/>
          <p:cNvSpPr txBox="1"/>
          <p:nvPr/>
        </p:nvSpPr>
        <p:spPr>
          <a:xfrm>
            <a:off x="1529058" y="6422046"/>
            <a:ext cx="815498" cy="40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样本沉淀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2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(文本/图像/图纸/时序等)</a:t>
            </a:r>
          </a:p>
        </p:txBody>
      </p:sp>
      <p:sp>
        <p:nvSpPr>
          <p:cNvPr id="51" name="body_text"/>
          <p:cNvSpPr txBox="1"/>
          <p:nvPr/>
        </p:nvSpPr>
        <p:spPr>
          <a:xfrm>
            <a:off x="2854243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策略学习</a:t>
            </a:r>
          </a:p>
        </p:txBody>
      </p:sp>
      <p:sp>
        <p:nvSpPr>
          <p:cNvPr id="52" name="body_text"/>
          <p:cNvSpPr txBox="1"/>
          <p:nvPr/>
        </p:nvSpPr>
        <p:spPr>
          <a:xfrm>
            <a:off x="3873615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</p:txBody>
      </p:sp>
      <p:sp>
        <p:nvSpPr>
          <p:cNvPr id="53" name="body_text"/>
          <p:cNvSpPr txBox="1"/>
          <p:nvPr/>
        </p:nvSpPr>
        <p:spPr>
          <a:xfrm>
            <a:off x="4892988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知识回注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8358854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价值观对齐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9174352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风险可控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9989850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知识可溯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10805348" y="6523984"/>
            <a:ext cx="611623" cy="20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3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持续演进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