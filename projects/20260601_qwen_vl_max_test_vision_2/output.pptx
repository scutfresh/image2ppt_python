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image" Target="../media/image12.png"/><Relationship Id="rId14" Type="http://schemas.openxmlformats.org/officeDocument/2006/relationships/image" Target="../media/image13.png"/><Relationship Id="rId15" Type="http://schemas.openxmlformats.org/officeDocument/2006/relationships/image" Target="../media/image14.png"/><Relationship Id="rId16" Type="http://schemas.openxmlformats.org/officeDocument/2006/relationships/image" Target="../media/image15.png"/><Relationship Id="rId17" Type="http://schemas.openxmlformats.org/officeDocument/2006/relationships/image" Target="../media/image16.png"/><Relationship Id="rId18" Type="http://schemas.openxmlformats.org/officeDocument/2006/relationships/image" Target="../media/image17.png"/><Relationship Id="rId19" Type="http://schemas.openxmlformats.org/officeDocument/2006/relationships/image" Target="../media/image18.png"/><Relationship Id="rId20" Type="http://schemas.openxmlformats.org/officeDocument/2006/relationships/image" Target="../media/image19.png"/><Relationship Id="rId21" Type="http://schemas.openxmlformats.org/officeDocument/2006/relationships/image" Target="../media/image20.png"/><Relationship Id="rId22" Type="http://schemas.openxmlformats.org/officeDocument/2006/relationships/image" Target="../media/image21.png"/><Relationship Id="rId23" Type="http://schemas.openxmlformats.org/officeDocument/2006/relationships/image" Target="../media/image22.png"/><Relationship Id="rId24" Type="http://schemas.openxmlformats.org/officeDocument/2006/relationships/image" Target="../media/image23.png"/><Relationship Id="rId25" Type="http://schemas.openxmlformats.org/officeDocument/2006/relationships/image" Target="../media/image24.png"/><Relationship Id="rId26" Type="http://schemas.openxmlformats.org/officeDocument/2006/relationships/image" Target="../media/image2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ckground_patter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top_right_glob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91295" y="95249"/>
            <a:ext cx="1079473" cy="857250"/>
          </a:xfrm>
          <a:prstGeom prst="rect">
            <a:avLst/>
          </a:prstGeom>
        </p:spPr>
      </p:pic>
      <p:pic>
        <p:nvPicPr>
          <p:cNvPr id="4" name="Picture 3" descr="bottom_left_buildin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31949" y="3429000"/>
            <a:ext cx="634984" cy="412749"/>
          </a:xfrm>
          <a:prstGeom prst="rect">
            <a:avLst/>
          </a:prstGeom>
        </p:spPr>
      </p:pic>
      <p:pic>
        <p:nvPicPr>
          <p:cNvPr id="5" name="Picture 4" descr="bottom_right_factor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67333" y="3238500"/>
            <a:ext cx="761980" cy="603250"/>
          </a:xfrm>
          <a:prstGeom prst="rect">
            <a:avLst/>
          </a:prstGeom>
        </p:spPr>
      </p:pic>
      <p:pic>
        <p:nvPicPr>
          <p:cNvPr id="6" name="Picture 5" descr="central_engin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49441" y="2730500"/>
            <a:ext cx="4952876" cy="1301749"/>
          </a:xfrm>
          <a:prstGeom prst="rect">
            <a:avLst/>
          </a:prstGeom>
        </p:spPr>
      </p:pic>
      <p:cxnSp>
        <p:nvCxnSpPr>
          <p:cNvPr id="7" name="timeline_arrows"/>
          <p:cNvCxnSpPr/>
          <p:nvPr/>
        </p:nvCxnSpPr>
        <p:spPr>
          <a:xfrm>
            <a:off x="634984" y="889000"/>
            <a:ext cx="8572285" cy="254000"/>
          </a:xfrm>
          <a:prstGeom prst="line">
            <a:avLst/>
          </a:prstGeom>
          <a:ln w="12699">
            <a:solidFill>
              <a:srgbClr val="00B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highlight_line"/>
          <p:cNvCxnSpPr/>
          <p:nvPr/>
        </p:nvCxnSpPr>
        <p:spPr>
          <a:xfrm>
            <a:off x="2349441" y="539750"/>
            <a:ext cx="7492812" cy="158750"/>
          </a:xfrm>
          <a:prstGeom prst="line">
            <a:avLst/>
          </a:prstGeom>
          <a:ln w="12699">
            <a:solidFill>
              <a:srgbClr val="FFD7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arrow_path"/>
          <p:cNvCxnSpPr/>
          <p:nvPr/>
        </p:nvCxnSpPr>
        <p:spPr>
          <a:xfrm>
            <a:off x="761980" y="4286250"/>
            <a:ext cx="8508788" cy="349249"/>
          </a:xfrm>
          <a:prstGeom prst="line">
            <a:avLst/>
          </a:prstGeom>
          <a:ln w="12699">
            <a:solidFill>
              <a:srgbClr val="00B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Rect_1"/>
          <p:cNvSpPr/>
          <p:nvPr/>
        </p:nvSpPr>
        <p:spPr>
          <a:xfrm>
            <a:off x="158746" y="1079500"/>
            <a:ext cx="1174720" cy="1650999"/>
          </a:xfrm>
          <a:prstGeom prst="roundRect">
            <a:avLst/>
          </a:prstGeom>
          <a:solidFill>
            <a:srgbClr val="0A1F44"/>
          </a:solidFill>
          <a:ln w="12699">
            <a:solidFill>
              <a:srgbClr val="00B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Rect_2"/>
          <p:cNvSpPr/>
          <p:nvPr/>
        </p:nvSpPr>
        <p:spPr>
          <a:xfrm>
            <a:off x="1428714" y="1079500"/>
            <a:ext cx="1079473" cy="1650999"/>
          </a:xfrm>
          <a:prstGeom prst="roundRect">
            <a:avLst/>
          </a:prstGeom>
          <a:solidFill>
            <a:srgbClr val="0A1F44"/>
          </a:solidFill>
          <a:ln w="12699">
            <a:solidFill>
              <a:srgbClr val="00B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Rect_3"/>
          <p:cNvSpPr/>
          <p:nvPr/>
        </p:nvSpPr>
        <p:spPr>
          <a:xfrm>
            <a:off x="2571685" y="1079500"/>
            <a:ext cx="1079473" cy="1650999"/>
          </a:xfrm>
          <a:prstGeom prst="roundRect">
            <a:avLst/>
          </a:prstGeom>
          <a:solidFill>
            <a:srgbClr val="0A1F44"/>
          </a:solidFill>
          <a:ln w="12699">
            <a:solidFill>
              <a:srgbClr val="00B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Rect_4"/>
          <p:cNvSpPr/>
          <p:nvPr/>
        </p:nvSpPr>
        <p:spPr>
          <a:xfrm>
            <a:off x="3714657" y="1079500"/>
            <a:ext cx="1079473" cy="1650999"/>
          </a:xfrm>
          <a:prstGeom prst="roundRect">
            <a:avLst/>
          </a:prstGeom>
          <a:solidFill>
            <a:srgbClr val="0A1F44"/>
          </a:solidFill>
          <a:ln w="12699">
            <a:solidFill>
              <a:srgbClr val="00B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Rect_5"/>
          <p:cNvSpPr/>
          <p:nvPr/>
        </p:nvSpPr>
        <p:spPr>
          <a:xfrm>
            <a:off x="4857628" y="1079500"/>
            <a:ext cx="1079473" cy="1650999"/>
          </a:xfrm>
          <a:prstGeom prst="roundRect">
            <a:avLst/>
          </a:prstGeom>
          <a:solidFill>
            <a:srgbClr val="0A1F44"/>
          </a:solidFill>
          <a:ln w="12699">
            <a:solidFill>
              <a:srgbClr val="00B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Rect_6"/>
          <p:cNvSpPr/>
          <p:nvPr/>
        </p:nvSpPr>
        <p:spPr>
          <a:xfrm>
            <a:off x="6000599" y="1079500"/>
            <a:ext cx="1079473" cy="1650999"/>
          </a:xfrm>
          <a:prstGeom prst="roundRect">
            <a:avLst/>
          </a:prstGeom>
          <a:solidFill>
            <a:srgbClr val="0A1F44"/>
          </a:solidFill>
          <a:ln w="12699">
            <a:solidFill>
              <a:srgbClr val="00B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Rect_7"/>
          <p:cNvSpPr/>
          <p:nvPr/>
        </p:nvSpPr>
        <p:spPr>
          <a:xfrm>
            <a:off x="7143571" y="1079500"/>
            <a:ext cx="1079473" cy="1650999"/>
          </a:xfrm>
          <a:prstGeom prst="roundRect">
            <a:avLst/>
          </a:prstGeom>
          <a:solidFill>
            <a:srgbClr val="0A1F44"/>
          </a:solidFill>
          <a:ln w="12699">
            <a:solidFill>
              <a:srgbClr val="00B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Rect_8"/>
          <p:cNvSpPr/>
          <p:nvPr/>
        </p:nvSpPr>
        <p:spPr>
          <a:xfrm>
            <a:off x="8286542" y="1079500"/>
            <a:ext cx="1079473" cy="1650999"/>
          </a:xfrm>
          <a:prstGeom prst="roundRect">
            <a:avLst/>
          </a:prstGeom>
          <a:solidFill>
            <a:srgbClr val="0A1F44"/>
          </a:solidFill>
          <a:ln w="12699">
            <a:solidFill>
              <a:srgbClr val="00B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Rect_9"/>
          <p:cNvSpPr/>
          <p:nvPr/>
        </p:nvSpPr>
        <p:spPr>
          <a:xfrm>
            <a:off x="222244" y="2889249"/>
            <a:ext cx="1079473" cy="412749"/>
          </a:xfrm>
          <a:prstGeom prst="roundRect">
            <a:avLst/>
          </a:prstGeom>
          <a:solidFill>
            <a:srgbClr val="0A1F44"/>
          </a:solidFill>
          <a:ln w="12699">
            <a:solidFill>
              <a:srgbClr val="00B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Rect_10"/>
          <p:cNvSpPr/>
          <p:nvPr/>
        </p:nvSpPr>
        <p:spPr>
          <a:xfrm>
            <a:off x="222244" y="3429000"/>
            <a:ext cx="1079473" cy="412749"/>
          </a:xfrm>
          <a:prstGeom prst="roundRect">
            <a:avLst/>
          </a:prstGeom>
          <a:solidFill>
            <a:srgbClr val="0A1F44"/>
          </a:solidFill>
          <a:ln w="12699">
            <a:solidFill>
              <a:srgbClr val="00B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Rect_11"/>
          <p:cNvSpPr/>
          <p:nvPr/>
        </p:nvSpPr>
        <p:spPr>
          <a:xfrm>
            <a:off x="8191295" y="2889249"/>
            <a:ext cx="1079473" cy="412749"/>
          </a:xfrm>
          <a:prstGeom prst="roundRect">
            <a:avLst/>
          </a:prstGeom>
          <a:solidFill>
            <a:srgbClr val="0A1F44"/>
          </a:solidFill>
          <a:ln w="12699">
            <a:solidFill>
              <a:srgbClr val="00B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Rect_12"/>
          <p:cNvSpPr/>
          <p:nvPr/>
        </p:nvSpPr>
        <p:spPr>
          <a:xfrm>
            <a:off x="8191295" y="3429000"/>
            <a:ext cx="1079473" cy="412749"/>
          </a:xfrm>
          <a:prstGeom prst="roundRect">
            <a:avLst/>
          </a:prstGeom>
          <a:solidFill>
            <a:srgbClr val="0A1F44"/>
          </a:solidFill>
          <a:ln w="12699">
            <a:solidFill>
              <a:srgbClr val="00B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ellipse_1"/>
          <p:cNvSpPr/>
          <p:nvPr/>
        </p:nvSpPr>
        <p:spPr>
          <a:xfrm>
            <a:off x="698482" y="857250"/>
            <a:ext cx="190495" cy="190499"/>
          </a:xfrm>
          <a:prstGeom prst="ellipse">
            <a:avLst/>
          </a:prstGeom>
          <a:solidFill>
            <a:srgbClr val="FFFFFF"/>
          </a:solidFill>
          <a:ln w="12699">
            <a:solidFill>
              <a:srgbClr val="00B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ellipse_2"/>
          <p:cNvSpPr/>
          <p:nvPr/>
        </p:nvSpPr>
        <p:spPr>
          <a:xfrm>
            <a:off x="1841453" y="857250"/>
            <a:ext cx="190495" cy="190499"/>
          </a:xfrm>
          <a:prstGeom prst="ellipse">
            <a:avLst/>
          </a:prstGeom>
          <a:solidFill>
            <a:srgbClr val="FFFFFF"/>
          </a:solidFill>
          <a:ln w="12699">
            <a:solidFill>
              <a:srgbClr val="00B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ellipse_3"/>
          <p:cNvSpPr/>
          <p:nvPr/>
        </p:nvSpPr>
        <p:spPr>
          <a:xfrm>
            <a:off x="2984425" y="857250"/>
            <a:ext cx="190495" cy="190499"/>
          </a:xfrm>
          <a:prstGeom prst="ellipse">
            <a:avLst/>
          </a:prstGeom>
          <a:solidFill>
            <a:srgbClr val="FFFFFF"/>
          </a:solidFill>
          <a:ln w="12699">
            <a:solidFill>
              <a:srgbClr val="00B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ellipse_4"/>
          <p:cNvSpPr/>
          <p:nvPr/>
        </p:nvSpPr>
        <p:spPr>
          <a:xfrm>
            <a:off x="4127396" y="857250"/>
            <a:ext cx="190495" cy="190499"/>
          </a:xfrm>
          <a:prstGeom prst="ellipse">
            <a:avLst/>
          </a:prstGeom>
          <a:solidFill>
            <a:srgbClr val="FFFFFF"/>
          </a:solidFill>
          <a:ln w="12699">
            <a:solidFill>
              <a:srgbClr val="00B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ellipse_5"/>
          <p:cNvSpPr/>
          <p:nvPr/>
        </p:nvSpPr>
        <p:spPr>
          <a:xfrm>
            <a:off x="5270368" y="857250"/>
            <a:ext cx="190495" cy="190499"/>
          </a:xfrm>
          <a:prstGeom prst="ellipse">
            <a:avLst/>
          </a:prstGeom>
          <a:solidFill>
            <a:srgbClr val="FFFFFF"/>
          </a:solidFill>
          <a:ln w="12699">
            <a:solidFill>
              <a:srgbClr val="00B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ellipse_6"/>
          <p:cNvSpPr/>
          <p:nvPr/>
        </p:nvSpPr>
        <p:spPr>
          <a:xfrm>
            <a:off x="6413339" y="857250"/>
            <a:ext cx="190495" cy="190499"/>
          </a:xfrm>
          <a:prstGeom prst="ellipse">
            <a:avLst/>
          </a:prstGeom>
          <a:solidFill>
            <a:srgbClr val="FFFFFF"/>
          </a:solidFill>
          <a:ln w="12699">
            <a:solidFill>
              <a:srgbClr val="00B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ellipse_7"/>
          <p:cNvSpPr/>
          <p:nvPr/>
        </p:nvSpPr>
        <p:spPr>
          <a:xfrm>
            <a:off x="7556311" y="857250"/>
            <a:ext cx="190495" cy="190499"/>
          </a:xfrm>
          <a:prstGeom prst="ellipse">
            <a:avLst/>
          </a:prstGeom>
          <a:solidFill>
            <a:srgbClr val="FFFFFF"/>
          </a:solidFill>
          <a:ln w="12699">
            <a:solidFill>
              <a:srgbClr val="00B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ellipse_8"/>
          <p:cNvSpPr/>
          <p:nvPr/>
        </p:nvSpPr>
        <p:spPr>
          <a:xfrm>
            <a:off x="8699282" y="857250"/>
            <a:ext cx="190495" cy="190499"/>
          </a:xfrm>
          <a:prstGeom prst="ellipse">
            <a:avLst/>
          </a:prstGeom>
          <a:solidFill>
            <a:srgbClr val="FFFFFF"/>
          </a:solidFill>
          <a:ln w="12699">
            <a:solidFill>
              <a:srgbClr val="00B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" name="line_1"/>
          <p:cNvCxnSpPr/>
          <p:nvPr/>
        </p:nvCxnSpPr>
        <p:spPr>
          <a:xfrm>
            <a:off x="888977" y="952499"/>
            <a:ext cx="8191295" cy="0"/>
          </a:xfrm>
          <a:prstGeom prst="line">
            <a:avLst/>
          </a:prstGeom>
          <a:ln w="12699">
            <a:solidFill>
              <a:srgbClr val="00B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1" name="Picture 30" descr="icon_power_plug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2244" y="1619250"/>
            <a:ext cx="349241" cy="349250"/>
          </a:xfrm>
          <a:prstGeom prst="rect">
            <a:avLst/>
          </a:prstGeom>
        </p:spPr>
      </p:pic>
      <p:pic>
        <p:nvPicPr>
          <p:cNvPr id="32" name="Picture 31" descr="icon_stack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92212" y="1619250"/>
            <a:ext cx="349241" cy="349250"/>
          </a:xfrm>
          <a:prstGeom prst="rect">
            <a:avLst/>
          </a:prstGeom>
        </p:spPr>
      </p:pic>
      <p:pic>
        <p:nvPicPr>
          <p:cNvPr id="33" name="Picture 32" descr="icon_factory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635184" y="1619250"/>
            <a:ext cx="349241" cy="349250"/>
          </a:xfrm>
          <a:prstGeom prst="rect">
            <a:avLst/>
          </a:prstGeom>
        </p:spPr>
      </p:pic>
      <p:pic>
        <p:nvPicPr>
          <p:cNvPr id="34" name="Picture 33" descr="icon_network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778155" y="1619250"/>
            <a:ext cx="349241" cy="349250"/>
          </a:xfrm>
          <a:prstGeom prst="rect">
            <a:avLst/>
          </a:prstGeom>
        </p:spPr>
      </p:pic>
      <p:pic>
        <p:nvPicPr>
          <p:cNvPr id="35" name="Picture 34" descr="icon_brain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921126" y="1619250"/>
            <a:ext cx="349241" cy="349250"/>
          </a:xfrm>
          <a:prstGeom prst="rect">
            <a:avLst/>
          </a:prstGeom>
        </p:spPr>
      </p:pic>
      <p:pic>
        <p:nvPicPr>
          <p:cNvPr id="36" name="Picture 35" descr="icon_blueprint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064098" y="1619250"/>
            <a:ext cx="349241" cy="349250"/>
          </a:xfrm>
          <a:prstGeom prst="rect">
            <a:avLst/>
          </a:prstGeom>
        </p:spPr>
      </p:pic>
      <p:pic>
        <p:nvPicPr>
          <p:cNvPr id="37" name="Picture 36" descr="icon_graph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207069" y="1619250"/>
            <a:ext cx="349241" cy="349250"/>
          </a:xfrm>
          <a:prstGeom prst="rect">
            <a:avLst/>
          </a:prstGeom>
        </p:spPr>
      </p:pic>
      <p:pic>
        <p:nvPicPr>
          <p:cNvPr id="38" name="Picture 37" descr="icon_earth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350041" y="1619250"/>
            <a:ext cx="349241" cy="349250"/>
          </a:xfrm>
          <a:prstGeom prst="rect">
            <a:avLst/>
          </a:prstGeom>
        </p:spPr>
      </p:pic>
      <p:pic>
        <p:nvPicPr>
          <p:cNvPr id="39" name="Picture 38" descr="icon_peopl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85742" y="2952750"/>
            <a:ext cx="285742" cy="285750"/>
          </a:xfrm>
          <a:prstGeom prst="rect">
            <a:avLst/>
          </a:prstGeom>
        </p:spPr>
      </p:pic>
      <p:pic>
        <p:nvPicPr>
          <p:cNvPr id="40" name="Picture 39" descr="icon_cub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85742" y="3492500"/>
            <a:ext cx="285742" cy="285750"/>
          </a:xfrm>
          <a:prstGeom prst="rect">
            <a:avLst/>
          </a:prstGeom>
        </p:spPr>
      </p:pic>
      <p:pic>
        <p:nvPicPr>
          <p:cNvPr id="41" name="Picture 40" descr="icon_document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286542" y="2952750"/>
            <a:ext cx="285742" cy="285750"/>
          </a:xfrm>
          <a:prstGeom prst="rect">
            <a:avLst/>
          </a:prstGeom>
        </p:spPr>
      </p:pic>
      <p:pic>
        <p:nvPicPr>
          <p:cNvPr id="42" name="Picture 41" descr="icon_wrench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286542" y="3492500"/>
            <a:ext cx="285742" cy="285750"/>
          </a:xfrm>
          <a:prstGeom prst="rect">
            <a:avLst/>
          </a:prstGeom>
        </p:spPr>
      </p:pic>
      <p:pic>
        <p:nvPicPr>
          <p:cNvPr id="43" name="Picture 42" descr="icon_phone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047723" y="4286250"/>
            <a:ext cx="253993" cy="317500"/>
          </a:xfrm>
          <a:prstGeom prst="rect">
            <a:avLst/>
          </a:prstGeom>
        </p:spPr>
      </p:pic>
      <p:pic>
        <p:nvPicPr>
          <p:cNvPr id="44" name="Picture 43" descr="icon_chart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936701" y="4286250"/>
            <a:ext cx="380990" cy="317500"/>
          </a:xfrm>
          <a:prstGeom prst="rect">
            <a:avLst/>
          </a:prstGeom>
        </p:spPr>
      </p:pic>
      <p:pic>
        <p:nvPicPr>
          <p:cNvPr id="45" name="Picture 44" descr="icon_power_tower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2825679" y="4286250"/>
            <a:ext cx="380990" cy="317500"/>
          </a:xfrm>
          <a:prstGeom prst="rect">
            <a:avLst/>
          </a:prstGeom>
        </p:spPr>
      </p:pic>
      <p:pic>
        <p:nvPicPr>
          <p:cNvPr id="46" name="Picture 45" descr="icon_people_group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3968650" y="4286250"/>
            <a:ext cx="380990" cy="317500"/>
          </a:xfrm>
          <a:prstGeom prst="rect">
            <a:avLst/>
          </a:prstGeom>
        </p:spPr>
      </p:pic>
      <p:pic>
        <p:nvPicPr>
          <p:cNvPr id="47" name="Picture 46" descr="icon_brain_2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4857628" y="4286250"/>
            <a:ext cx="380990" cy="317500"/>
          </a:xfrm>
          <a:prstGeom prst="rect">
            <a:avLst/>
          </a:prstGeom>
        </p:spPr>
      </p:pic>
      <p:pic>
        <p:nvPicPr>
          <p:cNvPr id="48" name="Picture 47" descr="icon_equation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6000599" y="4286250"/>
            <a:ext cx="380990" cy="317500"/>
          </a:xfrm>
          <a:prstGeom prst="rect">
            <a:avLst/>
          </a:prstGeom>
        </p:spPr>
      </p:pic>
      <p:pic>
        <p:nvPicPr>
          <p:cNvPr id="49" name="Picture 48" descr="icon_network_2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7016574" y="4286250"/>
            <a:ext cx="380990" cy="317500"/>
          </a:xfrm>
          <a:prstGeom prst="rect">
            <a:avLst/>
          </a:prstGeom>
        </p:spPr>
      </p:pic>
      <p:pic>
        <p:nvPicPr>
          <p:cNvPr id="50" name="Picture 49" descr="icon_earth_2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8032549" y="4286250"/>
            <a:ext cx="380990" cy="317500"/>
          </a:xfrm>
          <a:prstGeom prst="rect">
            <a:avLst/>
          </a:prstGeom>
        </p:spPr>
      </p:pic>
      <p:sp>
        <p:nvSpPr>
          <p:cNvPr id="51" name="title_1"/>
          <p:cNvSpPr txBox="1"/>
          <p:nvPr/>
        </p:nvSpPr>
        <p:spPr>
          <a:xfrm>
            <a:off x="2698682" y="101600"/>
            <a:ext cx="6699082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799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"大模型"演进路线图</a:t>
            </a:r>
          </a:p>
        </p:txBody>
      </p:sp>
      <p:sp>
        <p:nvSpPr>
          <p:cNvPr id="52" name="title_2"/>
          <p:cNvSpPr txBox="1"/>
          <p:nvPr/>
        </p:nvSpPr>
        <p:spPr>
          <a:xfrm>
            <a:off x="3936901" y="539750"/>
            <a:ext cx="5429114" cy="146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99" b="1" i="0">
                <a:solidFill>
                  <a:srgbClr val="FFD700"/>
                </a:solidFill>
                <a:latin typeface="Microsoft YaHei"/>
                <a:ea typeface="Microsoft YaHei"/>
                <a:cs typeface="Microsoft YaHei"/>
              </a:rPr>
              <a:t>路径标与核心要点</a:t>
            </a:r>
          </a:p>
        </p:txBody>
      </p:sp>
      <p:sp>
        <p:nvSpPr>
          <p:cNvPr id="53" name="title_3"/>
          <p:cNvSpPr txBox="1"/>
          <p:nvPr/>
        </p:nvSpPr>
        <p:spPr>
          <a:xfrm>
            <a:off x="3809904" y="730250"/>
            <a:ext cx="5556111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99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从多模态服务化推进向电力世界模型</a:t>
            </a:r>
          </a:p>
        </p:txBody>
      </p:sp>
      <p:sp>
        <p:nvSpPr>
          <p:cNvPr id="54" name="body_text_1"/>
          <p:cNvSpPr txBox="1"/>
          <p:nvPr/>
        </p:nvSpPr>
        <p:spPr>
          <a:xfrm>
            <a:off x="190495" y="1111250"/>
            <a:ext cx="1142971" cy="349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99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大模型 1.0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99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定位：多模态服务化</a:t>
            </a:r>
          </a:p>
        </p:txBody>
      </p:sp>
      <p:sp>
        <p:nvSpPr>
          <p:cNvPr id="55" name="body_text_2"/>
          <p:cNvSpPr txBox="1"/>
          <p:nvPr/>
        </p:nvSpPr>
        <p:spPr>
          <a:xfrm>
            <a:off x="190495" y="2000250"/>
            <a:ext cx="1142971" cy="635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99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建成南网首个，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99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电力多模态能力入口，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99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成功适配国产算力，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99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实现全自主安全可控。</a:t>
            </a:r>
          </a:p>
        </p:txBody>
      </p:sp>
      <p:sp>
        <p:nvSpPr>
          <p:cNvPr id="56" name="body_text_3"/>
          <p:cNvSpPr txBox="1"/>
          <p:nvPr/>
        </p:nvSpPr>
        <p:spPr>
          <a:xfrm>
            <a:off x="1460463" y="1111250"/>
            <a:ext cx="1142971" cy="349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99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大模型 1.1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99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定位：能力规模化</a:t>
            </a:r>
          </a:p>
        </p:txBody>
      </p:sp>
      <p:sp>
        <p:nvSpPr>
          <p:cNvPr id="57" name="body_text_4"/>
          <p:cNvSpPr txBox="1"/>
          <p:nvPr/>
        </p:nvSpPr>
        <p:spPr>
          <a:xfrm>
            <a:off x="1460463" y="2000250"/>
            <a:ext cx="1142971" cy="635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99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底座全面迭代升级，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99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正式备案千亿级参数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99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规模模型能力。</a:t>
            </a:r>
          </a:p>
        </p:txBody>
      </p:sp>
      <p:sp>
        <p:nvSpPr>
          <p:cNvPr id="58" name="body_text_5"/>
          <p:cNvSpPr txBox="1"/>
          <p:nvPr/>
        </p:nvSpPr>
        <p:spPr>
          <a:xfrm>
            <a:off x="2603434" y="1111250"/>
            <a:ext cx="1142971" cy="349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99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大模型 2.0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99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定位：行业专业化</a:t>
            </a:r>
          </a:p>
        </p:txBody>
      </p:sp>
      <p:sp>
        <p:nvSpPr>
          <p:cNvPr id="59" name="body_text_6"/>
          <p:cNvSpPr txBox="1"/>
          <p:nvPr/>
        </p:nvSpPr>
        <p:spPr>
          <a:xfrm>
            <a:off x="2603434" y="2000250"/>
            <a:ext cx="1142971" cy="635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99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完成72B行业微调模型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99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全面升级，强化电力专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99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业能力，高效流转典型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99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业务场景。</a:t>
            </a:r>
          </a:p>
        </p:txBody>
      </p:sp>
      <p:sp>
        <p:nvSpPr>
          <p:cNvPr id="60" name="body_text_7"/>
          <p:cNvSpPr txBox="1"/>
          <p:nvPr/>
        </p:nvSpPr>
        <p:spPr>
          <a:xfrm>
            <a:off x="3746406" y="1111250"/>
            <a:ext cx="1142971" cy="349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99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大模型 2.1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99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定位：架构协同化</a:t>
            </a:r>
          </a:p>
        </p:txBody>
      </p:sp>
      <p:sp>
        <p:nvSpPr>
          <p:cNvPr id="61" name="body_text_8"/>
          <p:cNvSpPr txBox="1"/>
          <p:nvPr/>
        </p:nvSpPr>
        <p:spPr>
          <a:xfrm>
            <a:off x="3746406" y="2000250"/>
            <a:ext cx="1142971" cy="635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99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上线 MoE 架构微调模型，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99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实现专家协同、任务分流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99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和多业务域协同，按需调用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99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专业能力。</a:t>
            </a:r>
          </a:p>
        </p:txBody>
      </p:sp>
      <p:sp>
        <p:nvSpPr>
          <p:cNvPr id="62" name="body_text_9"/>
          <p:cNvSpPr txBox="1"/>
          <p:nvPr/>
        </p:nvSpPr>
        <p:spPr>
          <a:xfrm>
            <a:off x="4889377" y="1111250"/>
            <a:ext cx="1142971" cy="349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99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大模型 2.2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99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定位：推理原生化</a:t>
            </a:r>
          </a:p>
        </p:txBody>
      </p:sp>
      <p:sp>
        <p:nvSpPr>
          <p:cNvPr id="63" name="body_text_10"/>
          <p:cNvSpPr txBox="1"/>
          <p:nvPr/>
        </p:nvSpPr>
        <p:spPr>
          <a:xfrm>
            <a:off x="4889377" y="2000250"/>
            <a:ext cx="1142971" cy="635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99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引入强化学习与慢思考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99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机制，增强逻辑推理、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99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知识增强和工具调用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99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能力。</a:t>
            </a:r>
          </a:p>
        </p:txBody>
      </p:sp>
      <p:sp>
        <p:nvSpPr>
          <p:cNvPr id="64" name="body_text_11"/>
          <p:cNvSpPr txBox="1"/>
          <p:nvPr/>
        </p:nvSpPr>
        <p:spPr>
          <a:xfrm>
            <a:off x="6032349" y="1111250"/>
            <a:ext cx="1142971" cy="349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99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大模型 3.0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99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定位：工业图纸化</a:t>
            </a:r>
          </a:p>
        </p:txBody>
      </p:sp>
      <p:sp>
        <p:nvSpPr>
          <p:cNvPr id="65" name="body_text_12"/>
          <p:cNvSpPr txBox="1"/>
          <p:nvPr/>
        </p:nvSpPr>
        <p:spPr>
          <a:xfrm>
            <a:off x="6032349" y="2000250"/>
            <a:ext cx="1142971" cy="635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99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行业首发电力多模态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99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工业图纸模型，具备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99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图纸解析、规则校核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99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和辅助设计能力。</a:t>
            </a:r>
          </a:p>
        </p:txBody>
      </p:sp>
      <p:sp>
        <p:nvSpPr>
          <p:cNvPr id="66" name="body_text_13"/>
          <p:cNvSpPr txBox="1"/>
          <p:nvPr/>
        </p:nvSpPr>
        <p:spPr>
          <a:xfrm>
            <a:off x="7175320" y="1111250"/>
            <a:ext cx="1142971" cy="349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99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大模型 3.1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99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定位：推演认知化</a:t>
            </a:r>
          </a:p>
        </p:txBody>
      </p:sp>
      <p:sp>
        <p:nvSpPr>
          <p:cNvPr id="67" name="body_text_14"/>
          <p:cNvSpPr txBox="1"/>
          <p:nvPr/>
        </p:nvSpPr>
        <p:spPr>
          <a:xfrm>
            <a:off x="7175320" y="2000250"/>
            <a:ext cx="1142971" cy="635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99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融合多源数据，构建“图像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99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一设备一空间一推演”联合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99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推理能力，形成电力行业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99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结构化认知基座。</a:t>
            </a:r>
          </a:p>
        </p:txBody>
      </p:sp>
      <p:sp>
        <p:nvSpPr>
          <p:cNvPr id="68" name="body_text_15"/>
          <p:cNvSpPr txBox="1"/>
          <p:nvPr/>
        </p:nvSpPr>
        <p:spPr>
          <a:xfrm>
            <a:off x="8318292" y="1111250"/>
            <a:ext cx="1142971" cy="349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99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大模型 4.0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99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定位：世界模型化</a:t>
            </a:r>
          </a:p>
        </p:txBody>
      </p:sp>
      <p:sp>
        <p:nvSpPr>
          <p:cNvPr id="69" name="body_text_16"/>
          <p:cNvSpPr txBox="1"/>
          <p:nvPr/>
        </p:nvSpPr>
        <p:spPr>
          <a:xfrm>
            <a:off x="8318292" y="2000250"/>
            <a:ext cx="1142971" cy="635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99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发布电力多模态世界模型，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99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实现物理仿真与智能推演，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99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从理解现场迈向推演现场、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99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辅助决策。</a:t>
            </a:r>
          </a:p>
        </p:txBody>
      </p:sp>
      <p:sp>
        <p:nvSpPr>
          <p:cNvPr id="70" name="body_text_17"/>
          <p:cNvSpPr txBox="1"/>
          <p:nvPr/>
        </p:nvSpPr>
        <p:spPr>
          <a:xfrm>
            <a:off x="4508387" y="2730500"/>
            <a:ext cx="825479" cy="158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99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统一服务</a:t>
            </a:r>
          </a:p>
        </p:txBody>
      </p:sp>
      <p:sp>
        <p:nvSpPr>
          <p:cNvPr id="71" name="body_text_18"/>
          <p:cNvSpPr txBox="1"/>
          <p:nvPr/>
        </p:nvSpPr>
        <p:spPr>
          <a:xfrm>
            <a:off x="3809904" y="2921000"/>
            <a:ext cx="2222444" cy="222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99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电力专业多模态能力引擎</a:t>
            </a:r>
          </a:p>
        </p:txBody>
      </p:sp>
      <p:sp>
        <p:nvSpPr>
          <p:cNvPr id="72" name="body_text_19"/>
          <p:cNvSpPr txBox="1"/>
          <p:nvPr/>
        </p:nvSpPr>
        <p:spPr>
          <a:xfrm>
            <a:off x="2698682" y="3143250"/>
            <a:ext cx="952476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99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统一业务底座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99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业务驱动·场景普适</a:t>
            </a:r>
          </a:p>
        </p:txBody>
      </p:sp>
      <p:sp>
        <p:nvSpPr>
          <p:cNvPr id="73" name="body_text_20"/>
          <p:cNvSpPr txBox="1"/>
          <p:nvPr/>
        </p:nvSpPr>
        <p:spPr>
          <a:xfrm>
            <a:off x="4159146" y="3174999"/>
            <a:ext cx="952476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99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统一数据底座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99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数据融合·知识增强</a:t>
            </a:r>
          </a:p>
        </p:txBody>
      </p:sp>
      <p:sp>
        <p:nvSpPr>
          <p:cNvPr id="74" name="body_text_21"/>
          <p:cNvSpPr txBox="1"/>
          <p:nvPr/>
        </p:nvSpPr>
        <p:spPr>
          <a:xfrm>
            <a:off x="5937101" y="3143250"/>
            <a:ext cx="952476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99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统一技术底座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99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算法领先·工程可靠</a:t>
            </a:r>
          </a:p>
        </p:txBody>
      </p:sp>
      <p:sp>
        <p:nvSpPr>
          <p:cNvPr id="75" name="body_text_22"/>
          <p:cNvSpPr txBox="1"/>
          <p:nvPr/>
        </p:nvSpPr>
        <p:spPr>
          <a:xfrm>
            <a:off x="4063898" y="3683000"/>
            <a:ext cx="1523961" cy="158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99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全域能源数据融合与知识沉淀</a:t>
            </a:r>
          </a:p>
        </p:txBody>
      </p:sp>
      <p:sp>
        <p:nvSpPr>
          <p:cNvPr id="76" name="body_text_23"/>
          <p:cNvSpPr txBox="1"/>
          <p:nvPr/>
        </p:nvSpPr>
        <p:spPr>
          <a:xfrm>
            <a:off x="2793930" y="3905249"/>
            <a:ext cx="507987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99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电网生产域</a:t>
            </a:r>
          </a:p>
        </p:txBody>
      </p:sp>
      <p:sp>
        <p:nvSpPr>
          <p:cNvPr id="77" name="body_text_24"/>
          <p:cNvSpPr txBox="1"/>
          <p:nvPr/>
        </p:nvSpPr>
        <p:spPr>
          <a:xfrm>
            <a:off x="3555911" y="3905249"/>
            <a:ext cx="507987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99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设备资产域</a:t>
            </a:r>
          </a:p>
        </p:txBody>
      </p:sp>
      <p:sp>
        <p:nvSpPr>
          <p:cNvPr id="78" name="body_text_25"/>
          <p:cNvSpPr txBox="1"/>
          <p:nvPr/>
        </p:nvSpPr>
        <p:spPr>
          <a:xfrm>
            <a:off x="4444888" y="3905249"/>
            <a:ext cx="507987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99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营销服务域</a:t>
            </a:r>
          </a:p>
        </p:txBody>
      </p:sp>
      <p:sp>
        <p:nvSpPr>
          <p:cNvPr id="79" name="body_text_26"/>
          <p:cNvSpPr txBox="1"/>
          <p:nvPr/>
        </p:nvSpPr>
        <p:spPr>
          <a:xfrm>
            <a:off x="5333866" y="3905249"/>
            <a:ext cx="507987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99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安全管理域</a:t>
            </a:r>
          </a:p>
        </p:txBody>
      </p:sp>
      <p:sp>
        <p:nvSpPr>
          <p:cNvPr id="80" name="body_text_27"/>
          <p:cNvSpPr txBox="1"/>
          <p:nvPr/>
        </p:nvSpPr>
        <p:spPr>
          <a:xfrm>
            <a:off x="6222844" y="3905249"/>
            <a:ext cx="507987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99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外部环境域</a:t>
            </a:r>
          </a:p>
        </p:txBody>
      </p:sp>
      <p:sp>
        <p:nvSpPr>
          <p:cNvPr id="81" name="body_text_28"/>
          <p:cNvSpPr txBox="1"/>
          <p:nvPr/>
        </p:nvSpPr>
        <p:spPr>
          <a:xfrm>
            <a:off x="222244" y="2889249"/>
            <a:ext cx="1079473" cy="41274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99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业务生态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99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多业务域协同赋能</a:t>
            </a:r>
          </a:p>
        </p:txBody>
      </p:sp>
      <p:sp>
        <p:nvSpPr>
          <p:cNvPr id="82" name="body_text_29"/>
          <p:cNvSpPr txBox="1"/>
          <p:nvPr/>
        </p:nvSpPr>
        <p:spPr>
          <a:xfrm>
            <a:off x="222244" y="3429000"/>
            <a:ext cx="1079473" cy="41274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99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模型生态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99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多模态模型协同演进</a:t>
            </a:r>
          </a:p>
        </p:txBody>
      </p:sp>
      <p:sp>
        <p:nvSpPr>
          <p:cNvPr id="83" name="body_text_30"/>
          <p:cNvSpPr txBox="1"/>
          <p:nvPr/>
        </p:nvSpPr>
        <p:spPr>
          <a:xfrm>
            <a:off x="8191295" y="2889249"/>
            <a:ext cx="1079473" cy="41274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99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知识生态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99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电力专业知识体系</a:t>
            </a:r>
          </a:p>
        </p:txBody>
      </p:sp>
      <p:sp>
        <p:nvSpPr>
          <p:cNvPr id="84" name="body_text_31"/>
          <p:cNvSpPr txBox="1"/>
          <p:nvPr/>
        </p:nvSpPr>
        <p:spPr>
          <a:xfrm>
            <a:off x="8191295" y="3429000"/>
            <a:ext cx="1079473" cy="41274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99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工具生态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99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工具链与应用集成</a:t>
            </a:r>
          </a:p>
        </p:txBody>
      </p:sp>
      <p:sp>
        <p:nvSpPr>
          <p:cNvPr id="85" name="body_text_32"/>
          <p:cNvSpPr txBox="1"/>
          <p:nvPr/>
        </p:nvSpPr>
        <p:spPr>
          <a:xfrm>
            <a:off x="190495" y="4159249"/>
            <a:ext cx="507987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99" b="1" i="0">
                <a:solidFill>
                  <a:srgbClr val="FFD700"/>
                </a:solidFill>
                <a:latin typeface="Microsoft YaHei"/>
                <a:ea typeface="Microsoft YaHei"/>
                <a:cs typeface="Microsoft YaHei"/>
              </a:rPr>
              <a:t>演进路径</a:t>
            </a:r>
          </a:p>
        </p:txBody>
      </p:sp>
      <p:sp>
        <p:nvSpPr>
          <p:cNvPr id="86" name="body_text_33"/>
          <p:cNvSpPr txBox="1"/>
          <p:nvPr/>
        </p:nvSpPr>
        <p:spPr>
          <a:xfrm>
            <a:off x="761980" y="4762500"/>
            <a:ext cx="634984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99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服务化入口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99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打通能力入口</a:t>
            </a:r>
          </a:p>
        </p:txBody>
      </p:sp>
      <p:sp>
        <p:nvSpPr>
          <p:cNvPr id="87" name="body_text_34"/>
          <p:cNvSpPr txBox="1"/>
          <p:nvPr/>
        </p:nvSpPr>
        <p:spPr>
          <a:xfrm>
            <a:off x="1777955" y="4762500"/>
            <a:ext cx="634984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99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规模化跃升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99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提升模型规模</a:t>
            </a:r>
          </a:p>
        </p:txBody>
      </p:sp>
      <p:sp>
        <p:nvSpPr>
          <p:cNvPr id="88" name="body_text_35"/>
          <p:cNvSpPr txBox="1"/>
          <p:nvPr/>
        </p:nvSpPr>
        <p:spPr>
          <a:xfrm>
            <a:off x="2793930" y="4762500"/>
            <a:ext cx="634984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99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行业专业化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99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深耕电力场景</a:t>
            </a:r>
          </a:p>
        </p:txBody>
      </p:sp>
      <p:sp>
        <p:nvSpPr>
          <p:cNvPr id="89" name="body_text_36"/>
          <p:cNvSpPr txBox="1"/>
          <p:nvPr/>
        </p:nvSpPr>
        <p:spPr>
          <a:xfrm>
            <a:off x="3809904" y="4762500"/>
            <a:ext cx="634984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99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架构协同化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99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专家协同智能</a:t>
            </a:r>
          </a:p>
        </p:txBody>
      </p:sp>
      <p:sp>
        <p:nvSpPr>
          <p:cNvPr id="90" name="body_text_37"/>
          <p:cNvSpPr txBox="1"/>
          <p:nvPr/>
        </p:nvSpPr>
        <p:spPr>
          <a:xfrm>
            <a:off x="4825879" y="4762500"/>
            <a:ext cx="634984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99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推理原生化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99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强化推理能力</a:t>
            </a:r>
          </a:p>
        </p:txBody>
      </p:sp>
      <p:sp>
        <p:nvSpPr>
          <p:cNvPr id="91" name="body_text_38"/>
          <p:cNvSpPr txBox="1"/>
          <p:nvPr/>
        </p:nvSpPr>
        <p:spPr>
          <a:xfrm>
            <a:off x="5841853" y="4762500"/>
            <a:ext cx="634984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99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工业图纸化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99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理解工程图纸</a:t>
            </a:r>
          </a:p>
        </p:txBody>
      </p:sp>
      <p:sp>
        <p:nvSpPr>
          <p:cNvPr id="92" name="body_text_39"/>
          <p:cNvSpPr txBox="1"/>
          <p:nvPr/>
        </p:nvSpPr>
        <p:spPr>
          <a:xfrm>
            <a:off x="6857828" y="4762500"/>
            <a:ext cx="634984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99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推演认知化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99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推演电网结构</a:t>
            </a:r>
          </a:p>
        </p:txBody>
      </p:sp>
      <p:sp>
        <p:nvSpPr>
          <p:cNvPr id="93" name="body_text_40"/>
          <p:cNvSpPr txBox="1"/>
          <p:nvPr/>
        </p:nvSpPr>
        <p:spPr>
          <a:xfrm>
            <a:off x="7873803" y="4762500"/>
            <a:ext cx="634984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99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世界模型化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99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仿真推演决策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Image2PPT Deck</dc:title>
  <dc:subject>Generated by bggg-creator-image2ppt</dc:subject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